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7" r:id="rId2"/>
    <p:sldId id="302" r:id="rId3"/>
    <p:sldId id="298" r:id="rId4"/>
    <p:sldId id="305" r:id="rId5"/>
    <p:sldId id="303" r:id="rId6"/>
    <p:sldId id="304" r:id="rId7"/>
    <p:sldId id="307" r:id="rId8"/>
    <p:sldId id="308" r:id="rId9"/>
    <p:sldId id="279" r:id="rId10"/>
  </p:sldIdLst>
  <p:sldSz cx="9144000" cy="6858000" type="screen4x3"/>
  <p:notesSz cx="6743700" cy="98758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1568120-5AFB-4925-A6D5-35A8CD43262D}">
          <p14:sldIdLst>
            <p14:sldId id="257"/>
            <p14:sldId id="302"/>
            <p14:sldId id="298"/>
            <p14:sldId id="305"/>
            <p14:sldId id="303"/>
            <p14:sldId id="304"/>
            <p14:sldId id="307"/>
            <p14:sldId id="308"/>
            <p14:sldId id="27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9824" autoAdjust="0"/>
  </p:normalViewPr>
  <p:slideViewPr>
    <p:cSldViewPr>
      <p:cViewPr>
        <p:scale>
          <a:sx n="75" d="100"/>
          <a:sy n="75" d="100"/>
        </p:scale>
        <p:origin x="-1488" y="-2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2270" cy="4937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9869" y="0"/>
            <a:ext cx="2922270" cy="4937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743E9-7DAD-4959-A6E6-C6154B3A2EE7}" type="datetimeFigureOut">
              <a:rPr lang="en-US" smtClean="0"/>
              <a:t>29/07/16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75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4370" y="4691023"/>
            <a:ext cx="5394960" cy="444412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80332"/>
            <a:ext cx="2922270" cy="4937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9869" y="9380332"/>
            <a:ext cx="2922270" cy="4937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CDD11-3F68-45B1-96AE-62F72389E4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82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"/>
          <p:cNvGrpSpPr>
            <a:grpSpLocks/>
          </p:cNvGrpSpPr>
          <p:nvPr userDrawn="1"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1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3" name="Group 5"/>
            <p:cNvGrpSpPr>
              <a:grpSpLocks/>
            </p:cNvGrpSpPr>
            <p:nvPr/>
          </p:nvGrpSpPr>
          <p:grpSpPr bwMode="auto">
            <a:xfrm>
              <a:off x="361" y="1065"/>
              <a:ext cx="1445" cy="1596"/>
              <a:chOff x="361" y="1065"/>
              <a:chExt cx="1445" cy="1596"/>
            </a:xfrm>
          </p:grpSpPr>
          <p:sp>
            <p:nvSpPr>
              <p:cNvPr id="24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5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7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8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9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1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2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sp>
        <p:nvSpPr>
          <p:cNvPr id="3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48550681"/>
      </p:ext>
    </p:extLst>
  </p:cSld>
  <p:clrMapOvr>
    <a:masterClrMapping/>
  </p:clrMapOvr>
  <p:transition xmlns:p14="http://schemas.microsoft.com/office/powerpoint/2010/main" advClick="0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5"/>
          <p:cNvSpPr>
            <a:spLocks noGrp="1" noChangeArrowheads="1"/>
          </p:cNvSpPr>
          <p:nvPr>
            <p:ph idx="1"/>
          </p:nvPr>
        </p:nvSpPr>
        <p:spPr bwMode="auto">
          <a:xfrm>
            <a:off x="457200" y="1524001"/>
            <a:ext cx="8229600" cy="4537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sz="1600"/>
            </a:lvl1pPr>
            <a:lvl2pPr marL="457200" indent="-457200">
              <a:spcBef>
                <a:spcPts val="0"/>
              </a:spcBef>
              <a:buClr>
                <a:schemeClr val="bg2"/>
              </a:buClr>
              <a:buSzPct val="120000"/>
              <a:buFont typeface="Wingdings" pitchFamily="2" charset="2"/>
              <a:buChar char="§"/>
              <a:defRPr sz="1600"/>
            </a:lvl2pPr>
            <a:lvl3pPr marL="914400" indent="-457200">
              <a:spcBef>
                <a:spcPts val="0"/>
              </a:spcBef>
              <a:buSzPct val="100000"/>
              <a:buFont typeface="Wingdings" pitchFamily="2" charset="2"/>
              <a:buChar char="Ø"/>
              <a:defRPr sz="1600"/>
            </a:lvl3pPr>
            <a:lvl4pPr marL="1371600" indent="-457200">
              <a:spcBef>
                <a:spcPts val="0"/>
              </a:spcBef>
              <a:buClr>
                <a:schemeClr val="bg2"/>
              </a:buClr>
              <a:buSzPct val="100000"/>
              <a:buFont typeface="Arial" pitchFamily="34" charset="0"/>
              <a:buChar char="•"/>
              <a:defRPr sz="1600"/>
            </a:lvl4pPr>
            <a:lvl5pPr marL="1828800" indent="-457200">
              <a:spcBef>
                <a:spcPts val="0"/>
              </a:spcBef>
              <a:buSzPct val="120000"/>
              <a:buFont typeface="Times New Roman" pitchFamily="18" charset="0"/>
              <a:buChar char="–"/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0"/>
          </p:nvPr>
        </p:nvSpPr>
        <p:spPr>
          <a:xfrm>
            <a:off x="460513" y="472247"/>
            <a:ext cx="8239539" cy="896938"/>
          </a:xfrm>
        </p:spPr>
        <p:txBody>
          <a:bodyPr anchor="ctr"/>
          <a:lstStyle>
            <a:lvl1pPr marL="0" indent="0">
              <a:buNone/>
              <a:tabLst>
                <a:tab pos="6864350" algn="l"/>
              </a:tabLst>
              <a:defRPr sz="28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Rectangle 1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076700" y="6477000"/>
            <a:ext cx="990600" cy="228600"/>
          </a:xfrm>
          <a:prstGeom prst="rect">
            <a:avLst/>
          </a:prstGeom>
        </p:spPr>
        <p:txBody>
          <a:bodyPr/>
          <a:lstStyle>
            <a:lvl1pPr algn="ctr" eaLnBrk="1" hangingPunct="1">
              <a:defRPr sz="1200">
                <a:latin typeface="Times New Roman" pitchFamily="18" charset="0"/>
                <a:cs typeface="Times New Roman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5585B48-4F8C-4A8F-85C2-1B29B08C996B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066810"/>
      </p:ext>
    </p:extLst>
  </p:cSld>
  <p:clrMapOvr>
    <a:masterClrMapping/>
  </p:clrMapOvr>
  <p:transition xmlns:p14="http://schemas.microsoft.com/office/powerpoint/2010/main" advClick="0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IN" sz="2800" b="1" kern="1200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Arial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itle 1"/>
          <p:cNvSpPr txBox="1">
            <a:spLocks/>
          </p:cNvSpPr>
          <p:nvPr userDrawn="1"/>
        </p:nvSpPr>
        <p:spPr>
          <a:xfrm>
            <a:off x="457200" y="457200"/>
            <a:ext cx="8229600" cy="917575"/>
          </a:xfrm>
          <a:prstGeom prst="rect">
            <a:avLst/>
          </a:prstGeom>
        </p:spPr>
        <p:txBody>
          <a:bodyPr anchor="ctr"/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I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+mj-ea"/>
                <a:cs typeface="Arial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dirty="0" smtClean="0">
                <a:solidFill>
                  <a:srgbClr val="00007D"/>
                </a:solidFill>
              </a:rPr>
              <a:t>Click to edit Master title style</a:t>
            </a:r>
            <a:endParaRPr lang="en-US" dirty="0">
              <a:solidFill>
                <a:srgbClr val="0000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500411"/>
      </p:ext>
    </p:extLst>
  </p:cSld>
  <p:clrMapOvr>
    <a:masterClrMapping/>
  </p:clrMapOvr>
  <p:transition xmlns:p14="http://schemas.microsoft.com/office/powerpoint/2010/main" advClick="0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5"/>
          <p:cNvSpPr>
            <a:spLocks noGrp="1" noChangeArrowheads="1"/>
          </p:cNvSpPr>
          <p:nvPr>
            <p:ph idx="10"/>
          </p:nvPr>
        </p:nvSpPr>
        <p:spPr bwMode="auto">
          <a:xfrm>
            <a:off x="457200" y="1524001"/>
            <a:ext cx="4038600" cy="4537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" name="Rectangle 15"/>
          <p:cNvSpPr>
            <a:spLocks noGrp="1" noChangeArrowheads="1"/>
          </p:cNvSpPr>
          <p:nvPr>
            <p:ph idx="11"/>
          </p:nvPr>
        </p:nvSpPr>
        <p:spPr bwMode="auto">
          <a:xfrm>
            <a:off x="4648200" y="1524001"/>
            <a:ext cx="4038600" cy="4537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2"/>
          </p:nvPr>
        </p:nvSpPr>
        <p:spPr>
          <a:xfrm>
            <a:off x="452231" y="474662"/>
            <a:ext cx="8239539" cy="896937"/>
          </a:xfrm>
        </p:spPr>
        <p:txBody>
          <a:bodyPr anchor="ctr"/>
          <a:lstStyle>
            <a:lvl1pPr marL="0" indent="0">
              <a:buNone/>
              <a:defRPr sz="28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3"/>
          </p:nvPr>
        </p:nvSpPr>
        <p:spPr>
          <a:xfrm>
            <a:off x="4076700" y="6477000"/>
            <a:ext cx="990600" cy="228600"/>
          </a:xfrm>
          <a:prstGeom prst="rect">
            <a:avLst/>
          </a:prstGeom>
        </p:spPr>
        <p:txBody>
          <a:bodyPr/>
          <a:lstStyle>
            <a:lvl1pPr algn="ctr" eaLnBrk="1" hangingPunct="1">
              <a:defRPr sz="1200">
                <a:latin typeface="Times New Roman" pitchFamily="18" charset="0"/>
                <a:cs typeface="Times New Roman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5585B48-4F8C-4A8F-85C2-1B29B08C996B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657730"/>
      </p:ext>
    </p:extLst>
  </p:cSld>
  <p:clrMapOvr>
    <a:masterClrMapping/>
  </p:clrMapOvr>
  <p:transition xmlns:p14="http://schemas.microsoft.com/office/powerpoint/2010/main" advClick="0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Rectangle 15"/>
          <p:cNvSpPr>
            <a:spLocks noGrp="1" noChangeArrowheads="1"/>
          </p:cNvSpPr>
          <p:nvPr>
            <p:ph idx="11"/>
          </p:nvPr>
        </p:nvSpPr>
        <p:spPr bwMode="auto">
          <a:xfrm>
            <a:off x="3581400" y="474663"/>
            <a:ext cx="5105400" cy="558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2"/>
          </p:nvPr>
        </p:nvSpPr>
        <p:spPr>
          <a:xfrm>
            <a:off x="452231" y="474662"/>
            <a:ext cx="3052969" cy="89693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9" name="Rectangle 18"/>
          <p:cNvSpPr>
            <a:spLocks noGrp="1" noChangeArrowheads="1"/>
          </p:cNvSpPr>
          <p:nvPr>
            <p:ph type="sldNum" sz="quarter" idx="13"/>
          </p:nvPr>
        </p:nvSpPr>
        <p:spPr>
          <a:xfrm>
            <a:off x="4076700" y="6477000"/>
            <a:ext cx="990600" cy="228600"/>
          </a:xfrm>
          <a:prstGeom prst="rect">
            <a:avLst/>
          </a:prstGeom>
        </p:spPr>
        <p:txBody>
          <a:bodyPr/>
          <a:lstStyle>
            <a:lvl1pPr algn="ctr" eaLnBrk="1" hangingPunct="1">
              <a:defRPr sz="1200">
                <a:latin typeface="Times New Roman" pitchFamily="18" charset="0"/>
                <a:cs typeface="Times New Roman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5585B48-4F8C-4A8F-85C2-1B29B08C996B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156346"/>
      </p:ext>
    </p:extLst>
  </p:cSld>
  <p:clrMapOvr>
    <a:masterClrMapping/>
  </p:clrMapOvr>
  <p:transition xmlns:p14="http://schemas.microsoft.com/office/powerpoint/2010/main" advClick="0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076700" y="6477000"/>
            <a:ext cx="990600" cy="228600"/>
          </a:xfrm>
          <a:prstGeom prst="rect">
            <a:avLst/>
          </a:prstGeom>
        </p:spPr>
        <p:txBody>
          <a:bodyPr/>
          <a:lstStyle>
            <a:lvl1pPr algn="ctr" eaLnBrk="1" hangingPunct="1">
              <a:defRPr sz="1200">
                <a:latin typeface="Times New Roman" pitchFamily="18" charset="0"/>
                <a:cs typeface="Times New Roman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5585B48-4F8C-4A8F-85C2-1B29B08C996B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112993"/>
      </p:ext>
    </p:extLst>
  </p:cSld>
  <p:clrMapOvr>
    <a:masterClrMapping/>
  </p:clrMapOvr>
  <p:transition xmlns:p14="http://schemas.microsoft.com/office/powerpoint/2010/main" advClick="0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Text Placeholder 2"/>
          <p:cNvSpPr>
            <a:spLocks noGrp="1"/>
          </p:cNvSpPr>
          <p:nvPr>
            <p:ph type="body" idx="12"/>
          </p:nvPr>
        </p:nvSpPr>
        <p:spPr>
          <a:xfrm>
            <a:off x="452231" y="474662"/>
            <a:ext cx="8239539" cy="896937"/>
          </a:xfrm>
        </p:spPr>
        <p:txBody>
          <a:bodyPr anchor="ctr"/>
          <a:lstStyle>
            <a:lvl1pPr marL="0" indent="0">
              <a:buNone/>
              <a:defRPr sz="28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Rectangle 1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076700" y="6477000"/>
            <a:ext cx="990600" cy="228600"/>
          </a:xfrm>
          <a:prstGeom prst="rect">
            <a:avLst/>
          </a:prstGeom>
        </p:spPr>
        <p:txBody>
          <a:bodyPr/>
          <a:lstStyle>
            <a:lvl1pPr algn="ctr" eaLnBrk="1" hangingPunct="1">
              <a:defRPr sz="1200">
                <a:latin typeface="Times New Roman" pitchFamily="18" charset="0"/>
                <a:cs typeface="Times New Roman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5585B48-4F8C-4A8F-85C2-1B29B08C996B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908423"/>
      </p:ext>
    </p:extLst>
  </p:cSld>
  <p:clrMapOvr>
    <a:masterClrMapping/>
  </p:clrMapOvr>
  <p:transition xmlns:p14="http://schemas.microsoft.com/office/powerpoint/2010/main" advClick="0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858000" cy="5410200"/>
          </a:xfrm>
        </p:spPr>
        <p:txBody>
          <a:bodyPr vert="eaVert"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4" name="Text Placeholder 2"/>
          <p:cNvSpPr>
            <a:spLocks noGrp="1"/>
          </p:cNvSpPr>
          <p:nvPr>
            <p:ph type="body" idx="12"/>
          </p:nvPr>
        </p:nvSpPr>
        <p:spPr>
          <a:xfrm rot="5400000">
            <a:off x="4118561" y="4128501"/>
            <a:ext cx="8239539" cy="896937"/>
          </a:xfrm>
        </p:spPr>
        <p:txBody>
          <a:bodyPr anchor="ctr"/>
          <a:lstStyle>
            <a:lvl1pPr marL="0" indent="0">
              <a:buNone/>
              <a:defRPr sz="28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Rectangle 1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076700" y="6477000"/>
            <a:ext cx="990600" cy="228600"/>
          </a:xfrm>
          <a:prstGeom prst="rect">
            <a:avLst/>
          </a:prstGeom>
        </p:spPr>
        <p:txBody>
          <a:bodyPr/>
          <a:lstStyle>
            <a:lvl1pPr algn="ctr" eaLnBrk="1" hangingPunct="1">
              <a:defRPr sz="1200">
                <a:latin typeface="Times New Roman" pitchFamily="18" charset="0"/>
                <a:cs typeface="Times New Roman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5585B48-4F8C-4A8F-85C2-1B29B08C996B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486368"/>
      </p:ext>
    </p:extLst>
  </p:cSld>
  <p:clrMapOvr>
    <a:masterClrMapping/>
  </p:clrMapOvr>
  <p:transition xmlns:p14="http://schemas.microsoft.com/office/powerpoint/2010/main" advClick="0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en-IN" noProof="0" dirty="0" smtClean="0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076700" y="6477000"/>
            <a:ext cx="990600" cy="228600"/>
          </a:xfrm>
          <a:prstGeom prst="rect">
            <a:avLst/>
          </a:prstGeom>
        </p:spPr>
        <p:txBody>
          <a:bodyPr/>
          <a:lstStyle>
            <a:lvl1pPr algn="ctr" eaLnBrk="1" hangingPunct="1">
              <a:defRPr sz="1200">
                <a:latin typeface="Times New Roman" pitchFamily="18" charset="0"/>
                <a:cs typeface="Times New Roman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5585B48-4F8C-4A8F-85C2-1B29B08C996B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65080"/>
      </p:ext>
    </p:extLst>
  </p:cSld>
  <p:clrMapOvr>
    <a:masterClrMapping/>
  </p:clrMapOvr>
  <p:transition xmlns:p14="http://schemas.microsoft.com/office/powerpoint/2010/main" advClick="0"/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666699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666699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9999CC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666699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9999CC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9999CC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2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24001"/>
            <a:ext cx="8229600" cy="4537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pic>
        <p:nvPicPr>
          <p:cNvPr id="1029" name="Picture 18" descr="AZB54X"/>
          <p:cNvPicPr>
            <a:picLocks noChangeAspect="1" noChangeArrowheads="1"/>
          </p:cNvPicPr>
          <p:nvPr userDrawn="1"/>
        </p:nvPicPr>
        <p:blipFill>
          <a:blip r:embed="rId11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6061075"/>
            <a:ext cx="1143000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7218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ransition xmlns:p14="http://schemas.microsoft.com/office/powerpoint/2010/main" advClick="0"/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457200" indent="-457200" algn="l" rtl="0" eaLnBrk="0" fontAlgn="base" hangingPunct="0">
        <a:spcBef>
          <a:spcPts val="600"/>
        </a:spcBef>
        <a:spcAft>
          <a:spcPts val="600"/>
        </a:spcAft>
        <a:buClr>
          <a:schemeClr val="bg2"/>
        </a:buClr>
        <a:buSzPct val="75000"/>
        <a:buFont typeface="Wingdings" pitchFamily="2" charset="2"/>
        <a:buChar char="n"/>
        <a:defRPr sz="24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914400" indent="-457200" algn="l" rtl="0" eaLnBrk="0" fontAlgn="base" hangingPunct="0">
        <a:spcBef>
          <a:spcPts val="600"/>
        </a:spcBef>
        <a:spcAft>
          <a:spcPts val="600"/>
        </a:spcAft>
        <a:buClr>
          <a:schemeClr val="accent2"/>
        </a:buClr>
        <a:buSzPct val="80000"/>
        <a:buFont typeface="Wingdings" pitchFamily="2" charset="2"/>
        <a:buChar char="¨"/>
        <a:defRPr sz="2000">
          <a:solidFill>
            <a:schemeClr val="tx1"/>
          </a:solidFill>
          <a:latin typeface="Times New Roman" pitchFamily="18" charset="0"/>
          <a:cs typeface="Times New Roman" pitchFamily="18" charset="0"/>
        </a:defRPr>
      </a:lvl2pPr>
      <a:lvl3pPr marL="1371600" indent="-457200" algn="l" rtl="0" eaLnBrk="0" fontAlgn="base" hangingPunct="0">
        <a:spcBef>
          <a:spcPts val="600"/>
        </a:spcBef>
        <a:spcAft>
          <a:spcPts val="600"/>
        </a:spcAft>
        <a:buClr>
          <a:schemeClr val="bg2"/>
        </a:buClr>
        <a:buSzPct val="65000"/>
        <a:buFont typeface="Wingdings" pitchFamily="2" charset="2"/>
        <a:buChar char="n"/>
        <a:defRPr sz="1800">
          <a:solidFill>
            <a:schemeClr val="tx1"/>
          </a:solidFill>
          <a:latin typeface="Times New Roman" pitchFamily="18" charset="0"/>
          <a:cs typeface="Times New Roman" pitchFamily="18" charset="0"/>
        </a:defRPr>
      </a:lvl3pPr>
      <a:lvl4pPr marL="1828800" indent="-457200" algn="l" rtl="0" eaLnBrk="0" fontAlgn="base" hangingPunct="0">
        <a:spcBef>
          <a:spcPts val="600"/>
        </a:spcBef>
        <a:spcAft>
          <a:spcPts val="600"/>
        </a:spcAft>
        <a:buClr>
          <a:schemeClr val="accent2"/>
        </a:buClr>
        <a:buSzPct val="70000"/>
        <a:buFont typeface="Wingdings" pitchFamily="2" charset="2"/>
        <a:buChar char="¨"/>
        <a:defRPr sz="1600">
          <a:solidFill>
            <a:schemeClr val="tx1"/>
          </a:solidFill>
          <a:latin typeface="Times New Roman" pitchFamily="18" charset="0"/>
          <a:cs typeface="Times New Roman" pitchFamily="18" charset="0"/>
        </a:defRPr>
      </a:lvl4pPr>
      <a:lvl5pPr marL="2286000" indent="-457200" algn="l" rtl="0" eaLnBrk="0" fontAlgn="base" hangingPunct="0">
        <a:spcBef>
          <a:spcPts val="600"/>
        </a:spcBef>
        <a:spcAft>
          <a:spcPts val="600"/>
        </a:spcAft>
        <a:buClr>
          <a:schemeClr val="bg2"/>
        </a:buClr>
        <a:buFont typeface="Wingdings" pitchFamily="2" charset="2"/>
        <a:buChar char="§"/>
        <a:defRPr sz="1600">
          <a:solidFill>
            <a:schemeClr val="tx1"/>
          </a:solidFill>
          <a:latin typeface="Times New Roman" pitchFamily="18" charset="0"/>
          <a:cs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676400"/>
            <a:ext cx="9090546" cy="2590800"/>
          </a:xfrm>
          <a:noFill/>
        </p:spPr>
        <p:txBody>
          <a:bodyPr/>
          <a:lstStyle/>
          <a:p>
            <a:pPr algn="ctr" eaLnBrk="1" hangingPunct="1"/>
            <a:r>
              <a:rPr lang="en-US" sz="2000" dirty="0" smtClean="0">
                <a:latin typeface="Cambria" pitchFamily="18" charset="0"/>
              </a:rPr>
              <a:t>Institutiona</a:t>
            </a:r>
            <a:r>
              <a:rPr lang="en-US" sz="2000" dirty="0">
                <a:latin typeface="Cambria" pitchFamily="18" charset="0"/>
              </a:rPr>
              <a:t>l</a:t>
            </a:r>
            <a:r>
              <a:rPr lang="en-US" sz="2000" dirty="0" smtClean="0">
                <a:latin typeface="Cambria" pitchFamily="18" charset="0"/>
              </a:rPr>
              <a:t> Infrastructure in the IBC</a:t>
            </a:r>
            <a:r>
              <a:rPr lang="en-US" sz="2000" dirty="0" smtClean="0">
                <a:latin typeface="Cambria" pitchFamily="18" charset="0"/>
              </a:rPr>
              <a:t/>
            </a:r>
            <a:br>
              <a:rPr lang="en-US" sz="2000" dirty="0" smtClean="0">
                <a:latin typeface="Cambria" pitchFamily="18" charset="0"/>
              </a:rPr>
            </a:br>
            <a:r>
              <a:rPr lang="en-US" sz="2000" dirty="0" smtClean="0">
                <a:latin typeface="Cambria" pitchFamily="18" charset="0"/>
              </a:rPr>
              <a:t/>
            </a:r>
            <a:br>
              <a:rPr lang="en-US" sz="2000" dirty="0" smtClean="0">
                <a:latin typeface="Cambria" pitchFamily="18" charset="0"/>
              </a:rPr>
            </a:br>
            <a:endParaRPr lang="en-US" sz="2000" b="1" dirty="0" smtClean="0">
              <a:latin typeface="Cambria" pitchFamily="18" charset="0"/>
            </a:endParaRP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4724400"/>
            <a:ext cx="8229600" cy="1341438"/>
          </a:xfrm>
          <a:noFill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r" eaLnBrk="1" hangingPunct="1">
              <a:lnSpc>
                <a:spcPct val="80000"/>
              </a:lnSpc>
              <a:defRPr/>
            </a:pPr>
            <a:endParaRPr lang="en-US" sz="2000" dirty="0" smtClean="0">
              <a:solidFill>
                <a:schemeClr val="bg2"/>
              </a:solidFill>
            </a:endParaRPr>
          </a:p>
          <a:p>
            <a:pPr algn="ctr" eaLnBrk="1" hangingPunct="1">
              <a:lnSpc>
                <a:spcPct val="80000"/>
              </a:lnSpc>
              <a:defRPr/>
            </a:pPr>
            <a:endParaRPr lang="en-US" sz="2400" b="1" dirty="0" smtClean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mbria" pitchFamily="18" charset="0"/>
            </a:endParaRPr>
          </a:p>
        </p:txBody>
      </p:sp>
      <p:pic>
        <p:nvPicPr>
          <p:cNvPr id="4" name="Picture 18" descr="AZB54X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5174196"/>
            <a:ext cx="1828800" cy="1092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6429289"/>
      </p:ext>
    </p:extLst>
  </p:cSld>
  <p:clrMapOvr>
    <a:masterClrMapping/>
  </p:clrMapOvr>
  <p:transition xmlns:p14="http://schemas.microsoft.com/office/powerpoint/2010/main" advClick="0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066800"/>
            <a:ext cx="8305800" cy="5257800"/>
          </a:xfrm>
        </p:spPr>
        <p:txBody>
          <a:bodyPr/>
          <a:lstStyle/>
          <a:p>
            <a:pPr algn="just"/>
            <a:r>
              <a:rPr lang="en-US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Fresh </a:t>
            </a: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Start </a:t>
            </a:r>
            <a:r>
              <a:rPr lang="en-US" sz="2400" dirty="0"/>
              <a:t>is a process by which individuals with debts lower than a specified amount (arrived at using NSSO and Planning Commission data) will have their debts written off, and be given </a:t>
            </a:r>
            <a:r>
              <a:rPr lang="en-US" sz="2400" dirty="0" err="1"/>
              <a:t>a“fresh</a:t>
            </a:r>
            <a:r>
              <a:rPr lang="en-US" sz="2400" dirty="0"/>
              <a:t> start”. </a:t>
            </a:r>
          </a:p>
          <a:p>
            <a:pPr algn="just"/>
            <a:endParaRPr lang="en-US" sz="2400" dirty="0" smtClean="0">
              <a:solidFill>
                <a:srgbClr val="3333B3"/>
              </a:solidFill>
            </a:endParaRPr>
          </a:p>
          <a:p>
            <a:r>
              <a:rPr lang="en-US" sz="2400" dirty="0">
                <a:solidFill>
                  <a:srgbClr val="1818FF"/>
                </a:solidFill>
              </a:rPr>
              <a:t>Insolvency Resolution Process (IRP) </a:t>
            </a:r>
            <a:r>
              <a:rPr lang="en-US" sz="2400" dirty="0"/>
              <a:t>will involve a process of negotiation between debtors and creditors, outside the court through the </a:t>
            </a:r>
            <a:r>
              <a:rPr lang="en-US" sz="2400" dirty="0" smtClean="0"/>
              <a:t>Resolution </a:t>
            </a:r>
            <a:r>
              <a:rPr lang="en-US" sz="2400" dirty="0"/>
              <a:t>Professional (RP), leading up to a repayment plan. Discharge will be possible only </a:t>
            </a:r>
            <a:r>
              <a:rPr lang="en-US" sz="2400" dirty="0" smtClean="0"/>
              <a:t>as</a:t>
            </a:r>
          </a:p>
          <a:p>
            <a:r>
              <a:rPr lang="en-US" sz="2400" dirty="0" smtClean="0">
                <a:solidFill>
                  <a:srgbClr val="1818FF"/>
                </a:solidFill>
              </a:rPr>
              <a:t>Bankruptcy </a:t>
            </a:r>
            <a:r>
              <a:rPr lang="en-US" sz="2400" dirty="0">
                <a:solidFill>
                  <a:srgbClr val="1818FF"/>
                </a:solidFill>
              </a:rPr>
              <a:t>procedure (BP)</a:t>
            </a:r>
            <a:r>
              <a:rPr lang="en-US" sz="2400" dirty="0"/>
              <a:t> is a process led by the Adjudication Authority, once the IRP has failed. Discharge in the form of </a:t>
            </a:r>
            <a:r>
              <a:rPr lang="en-US" sz="2400" dirty="0" smtClean="0"/>
              <a:t>“</a:t>
            </a:r>
            <a:r>
              <a:rPr lang="en-US" sz="2400" dirty="0"/>
              <a:t>discharge-from-bankruptcy 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5585B48-4F8C-4A8F-85C2-1B29B08C996B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81000" y="381000"/>
            <a:ext cx="8382000" cy="762000"/>
          </a:xfrm>
          <a:prstGeom prst="rect">
            <a:avLst/>
          </a:prstGeom>
        </p:spPr>
        <p:txBody>
          <a:bodyPr/>
          <a:lstStyle/>
          <a:p>
            <a:pPr algn="just"/>
            <a:r>
              <a:rPr lang="en-US" sz="2800" dirty="0" smtClean="0"/>
              <a:t>The Processes proposed in IBC for individuals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45714411"/>
      </p:ext>
    </p:extLst>
  </p:cSld>
  <p:clrMapOvr>
    <a:masterClrMapping/>
  </p:clrMapOvr>
  <p:transition xmlns:p14="http://schemas.microsoft.com/office/powerpoint/2010/main"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295400"/>
            <a:ext cx="8305800" cy="52578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 private competitive industry of Information Utilities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 private competitive industry of Insolvency Professionals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/>
              <a:t>Efficient </a:t>
            </a:r>
            <a:r>
              <a:rPr lang="en-US" sz="2000" b="1" dirty="0"/>
              <a:t>and well functioning tribunals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/>
              <a:t>An independent and well-governed </a:t>
            </a:r>
            <a:r>
              <a:rPr lang="en-US" sz="2000" b="1" dirty="0"/>
              <a:t>regulator</a:t>
            </a:r>
            <a:endParaRPr lang="en-US" sz="2000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5585B48-4F8C-4A8F-85C2-1B29B08C996B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81000" y="381000"/>
            <a:ext cx="8382000" cy="762000"/>
          </a:xfrm>
          <a:prstGeom prst="rect">
            <a:avLst/>
          </a:prstGeom>
        </p:spPr>
        <p:txBody>
          <a:bodyPr/>
          <a:lstStyle/>
          <a:p>
            <a:pPr algn="just"/>
            <a:r>
              <a:rPr lang="en-US" sz="2800" dirty="0" smtClean="0"/>
              <a:t>Institutional infrastructure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32280649"/>
      </p:ext>
    </p:extLst>
  </p:cSld>
  <p:clrMapOvr>
    <a:masterClrMapping/>
  </p:clrMapOvr>
  <p:transition xmlns:p14="http://schemas.microsoft.com/office/powerpoint/2010/main"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219200"/>
            <a:ext cx="8229600" cy="4537074"/>
          </a:xfrm>
        </p:spPr>
        <p:txBody>
          <a:bodyPr/>
          <a:lstStyle/>
          <a:p>
            <a:pPr marL="782637" lvl="3" indent="-342900">
              <a:tabLst>
                <a:tab pos="1084263" algn="l"/>
              </a:tabLst>
            </a:pPr>
            <a:r>
              <a:rPr lang="en-US" sz="2000" b="1" dirty="0" smtClean="0"/>
              <a:t>Other Committees views on credit information</a:t>
            </a:r>
          </a:p>
          <a:p>
            <a:pPr marL="1239837" lvl="4" indent="-342900">
              <a:tabLst>
                <a:tab pos="1084263" algn="l"/>
              </a:tabLst>
            </a:pPr>
            <a:r>
              <a:rPr lang="en-US" sz="2000" b="1" dirty="0" err="1" smtClean="0"/>
              <a:t>Nachiket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Mor</a:t>
            </a:r>
            <a:endParaRPr lang="en-US" sz="2000" b="1" dirty="0" smtClean="0"/>
          </a:p>
          <a:p>
            <a:pPr marL="782637" lvl="3" indent="-342900">
              <a:tabLst>
                <a:tab pos="1084263" algn="l"/>
              </a:tabLst>
            </a:pPr>
            <a:r>
              <a:rPr lang="en-US" sz="2000" b="1" dirty="0" smtClean="0"/>
              <a:t>The vision:</a:t>
            </a:r>
          </a:p>
          <a:p>
            <a:pPr marL="1239837" lvl="4" indent="-342900">
              <a:buFont typeface="Arial"/>
              <a:buChar char="•"/>
              <a:tabLst>
                <a:tab pos="1084263" algn="l"/>
              </a:tabLst>
            </a:pPr>
            <a:r>
              <a:rPr lang="en-US" sz="2000" b="1" dirty="0" err="1" smtClean="0"/>
              <a:t>Ubiquitious</a:t>
            </a:r>
            <a:endParaRPr lang="en-US" sz="2000" b="1" dirty="0" smtClean="0"/>
          </a:p>
          <a:p>
            <a:pPr marL="1239837" lvl="4" indent="-342900">
              <a:buFont typeface="Arial"/>
              <a:buChar char="•"/>
              <a:tabLst>
                <a:tab pos="1084263" algn="l"/>
              </a:tabLst>
            </a:pPr>
            <a:r>
              <a:rPr lang="en-US" sz="2000" b="1" dirty="0" smtClean="0"/>
              <a:t>Interoperable</a:t>
            </a:r>
          </a:p>
          <a:p>
            <a:pPr marL="1239837" lvl="4" indent="-342900">
              <a:buFont typeface="Arial"/>
              <a:buChar char="•"/>
              <a:tabLst>
                <a:tab pos="1084263" algn="l"/>
              </a:tabLst>
            </a:pPr>
            <a:r>
              <a:rPr lang="en-US" sz="2000" b="1" dirty="0" smtClean="0"/>
              <a:t>Definitive</a:t>
            </a:r>
          </a:p>
          <a:p>
            <a:pPr marL="1239837" lvl="4" indent="-342900">
              <a:buFont typeface="Arial"/>
              <a:buChar char="•"/>
              <a:tabLst>
                <a:tab pos="1084263" algn="l"/>
              </a:tabLst>
            </a:pPr>
            <a:r>
              <a:rPr lang="en-US" sz="2000" b="1" dirty="0" smtClean="0"/>
              <a:t>Low cost</a:t>
            </a:r>
          </a:p>
          <a:p>
            <a:pPr marL="355600" lvl="4" indent="0">
              <a:buFont typeface="Arial"/>
              <a:buChar char="•"/>
              <a:tabLst>
                <a:tab pos="1084263" algn="l"/>
              </a:tabLst>
            </a:pPr>
            <a:r>
              <a:rPr lang="en-US" sz="2000" b="1" dirty="0" smtClean="0"/>
              <a:t> Provisions in the IBC more limited</a:t>
            </a:r>
          </a:p>
          <a:p>
            <a:pPr marL="355600" lvl="4" indent="0">
              <a:buFont typeface="Arial"/>
              <a:buChar char="•"/>
              <a:tabLst>
                <a:tab pos="1084263" algn="l"/>
              </a:tabLst>
            </a:pPr>
            <a:r>
              <a:rPr lang="en-US" sz="2000" b="1" dirty="0" smtClean="0"/>
              <a:t>Impact beyond bankruptcy</a:t>
            </a:r>
          </a:p>
          <a:p>
            <a:pPr marL="355600" lvl="4" indent="0">
              <a:buFont typeface="Arial"/>
              <a:buChar char="•"/>
              <a:tabLst>
                <a:tab pos="1084263" algn="l"/>
              </a:tabLst>
            </a:pPr>
            <a:r>
              <a:rPr lang="en-US" sz="2000" b="1" dirty="0" smtClean="0"/>
              <a:t>Challenges in implementation:</a:t>
            </a:r>
          </a:p>
          <a:p>
            <a:pPr marL="1041400" lvl="5" indent="0">
              <a:buFont typeface="Arial"/>
              <a:buChar char="•"/>
              <a:tabLst>
                <a:tab pos="1084263" algn="l"/>
              </a:tabLst>
            </a:pPr>
            <a:r>
              <a:rPr lang="en-US" dirty="0">
                <a:latin typeface="Times New Roman"/>
                <a:cs typeface="Times New Roman"/>
              </a:rPr>
              <a:t>Non cash transactions</a:t>
            </a:r>
          </a:p>
          <a:p>
            <a:pPr marL="1041400" lvl="5" indent="0">
              <a:buFont typeface="Arial"/>
              <a:buChar char="•"/>
              <a:tabLst>
                <a:tab pos="1084263" algn="l"/>
              </a:tabLst>
            </a:pPr>
            <a:r>
              <a:rPr lang="en-US" dirty="0">
                <a:latin typeface="Times New Roman"/>
                <a:cs typeface="Times New Roman"/>
              </a:rPr>
              <a:t> Leakages / fraud </a:t>
            </a:r>
          </a:p>
          <a:p>
            <a:pPr marL="1041400" lvl="5" indent="0">
              <a:buFont typeface="Arial"/>
              <a:buChar char="•"/>
              <a:tabLst>
                <a:tab pos="1084263" algn="l"/>
              </a:tabLst>
            </a:pPr>
            <a:r>
              <a:rPr lang="en-US" dirty="0">
                <a:latin typeface="Times New Roman"/>
                <a:cs typeface="Times New Roman"/>
              </a:rPr>
              <a:t> Cost</a:t>
            </a:r>
          </a:p>
          <a:p>
            <a:pPr marL="1041400" lvl="5" indent="0">
              <a:buFont typeface="Arial"/>
              <a:buChar char="•"/>
              <a:tabLst>
                <a:tab pos="1084263" algn="l"/>
              </a:tabLst>
            </a:pPr>
            <a:endParaRPr lang="en-US" sz="2400" b="1" dirty="0" smtClean="0"/>
          </a:p>
          <a:p>
            <a:pPr marL="1041400" lvl="5" indent="0">
              <a:buFont typeface="Arial"/>
              <a:buChar char="•"/>
              <a:tabLst>
                <a:tab pos="1084263" algn="l"/>
              </a:tabLst>
            </a:pPr>
            <a:endParaRPr lang="en-US" sz="2400" b="1" dirty="0" smtClean="0"/>
          </a:p>
          <a:p>
            <a:pPr marL="355600" lvl="4" indent="0">
              <a:buFont typeface="Arial"/>
              <a:buChar char="•"/>
              <a:tabLst>
                <a:tab pos="1084263" algn="l"/>
              </a:tabLst>
            </a:pPr>
            <a:endParaRPr lang="en-US" sz="2000" dirty="0" smtClean="0"/>
          </a:p>
          <a:p>
            <a:pPr marL="355600" lvl="4" indent="0">
              <a:buNone/>
              <a:tabLst>
                <a:tab pos="1084263" algn="l"/>
              </a:tabLst>
            </a:pPr>
            <a:endParaRPr lang="en-US" sz="2000" dirty="0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Information Utilities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5585B48-4F8C-4A8F-85C2-1B29B08C996B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789750"/>
      </p:ext>
    </p:extLst>
  </p:cSld>
  <p:clrMapOvr>
    <a:masterClrMapping/>
  </p:clrMapOvr>
  <p:transition xmlns:p14="http://schemas.microsoft.com/office/powerpoint/2010/main" advClick="0"/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2000" b="1" dirty="0" smtClean="0"/>
              <a:t>Significant reliance on the IP in all three processes:</a:t>
            </a:r>
          </a:p>
          <a:p>
            <a:pPr marL="742950" lvl="1" indent="-285750">
              <a:buFont typeface="Arial"/>
              <a:buChar char="•"/>
            </a:pPr>
            <a:r>
              <a:rPr lang="en-US" sz="2000" b="1" dirty="0" smtClean="0"/>
              <a:t>Adjudicating </a:t>
            </a:r>
            <a:r>
              <a:rPr lang="en-US" sz="2000" b="1" dirty="0" err="1" smtClean="0"/>
              <a:t>authourity</a:t>
            </a:r>
            <a:r>
              <a:rPr lang="en-US" sz="2000" b="1" dirty="0" smtClean="0"/>
              <a:t> relies on IP’s report for eligibility for fresh start</a:t>
            </a:r>
          </a:p>
          <a:p>
            <a:pPr marL="742950" lvl="1" indent="-285750">
              <a:buFont typeface="Arial"/>
              <a:buChar char="•"/>
            </a:pPr>
            <a:r>
              <a:rPr lang="en-US" sz="2000" b="1" dirty="0" smtClean="0"/>
              <a:t>In IRP:</a:t>
            </a:r>
          </a:p>
          <a:p>
            <a:pPr marL="1200150" lvl="2" indent="-285750">
              <a:buFont typeface="Arial"/>
              <a:buChar char="•"/>
            </a:pPr>
            <a:r>
              <a:rPr lang="en-US" sz="2000" b="1" dirty="0" smtClean="0"/>
              <a:t>Drives the formulation of the repayment plan by the debtor</a:t>
            </a:r>
          </a:p>
          <a:p>
            <a:pPr marL="1200150" lvl="2" indent="-285750">
              <a:buFont typeface="Arial"/>
              <a:buChar char="•"/>
            </a:pPr>
            <a:r>
              <a:rPr lang="en-US" sz="2000" b="1" dirty="0" smtClean="0"/>
              <a:t>Submits report to Adjudicating </a:t>
            </a:r>
            <a:r>
              <a:rPr lang="en-US" sz="2000" b="1" dirty="0" err="1" smtClean="0"/>
              <a:t>authourity</a:t>
            </a:r>
            <a:endParaRPr lang="en-US" sz="2000" b="1" dirty="0" smtClean="0"/>
          </a:p>
          <a:p>
            <a:pPr marL="1200150" lvl="2" indent="-285750">
              <a:buFont typeface="Arial"/>
              <a:buChar char="•"/>
            </a:pPr>
            <a:r>
              <a:rPr lang="en-US" sz="2000" b="1" dirty="0" smtClean="0"/>
              <a:t>Calls meetings of creditors</a:t>
            </a:r>
          </a:p>
          <a:p>
            <a:pPr marL="1200150" lvl="2" indent="-285750">
              <a:buFont typeface="Arial"/>
              <a:buChar char="•"/>
            </a:pPr>
            <a:r>
              <a:rPr lang="en-US" sz="2000" b="1" dirty="0" smtClean="0"/>
              <a:t>Monitors the implementation f the repayment plan</a:t>
            </a:r>
            <a:endParaRPr lang="en-US" sz="2000" b="1" dirty="0"/>
          </a:p>
          <a:p>
            <a:pPr marL="711200" lvl="2" indent="-169863">
              <a:buFont typeface="Arial"/>
              <a:buChar char="•"/>
              <a:tabLst>
                <a:tab pos="1084263" algn="l"/>
              </a:tabLst>
            </a:pPr>
            <a:r>
              <a:rPr lang="en-US" sz="2000" b="1" dirty="0" smtClean="0"/>
              <a:t>In Bankruptcy:</a:t>
            </a:r>
          </a:p>
          <a:p>
            <a:pPr marL="1168400" lvl="3" indent="-169863">
              <a:buFont typeface="Arial"/>
              <a:buChar char="•"/>
              <a:tabLst>
                <a:tab pos="1084263" algn="l"/>
              </a:tabLst>
            </a:pPr>
            <a:r>
              <a:rPr lang="en-US" sz="2000" b="1" dirty="0" smtClean="0"/>
              <a:t>Trustee administers the estate</a:t>
            </a:r>
          </a:p>
          <a:p>
            <a:pPr marL="1168400" lvl="3" indent="-169863">
              <a:buFont typeface="Arial"/>
              <a:buChar char="•"/>
              <a:tabLst>
                <a:tab pos="1084263" algn="l"/>
              </a:tabLst>
            </a:pPr>
            <a:r>
              <a:rPr lang="en-US" sz="2000" b="1" dirty="0" smtClean="0"/>
              <a:t>Recommends discharge to the Adjudicating </a:t>
            </a:r>
            <a:r>
              <a:rPr lang="en-US" sz="2000" b="1" dirty="0" err="1" smtClean="0"/>
              <a:t>authourity</a:t>
            </a:r>
            <a:endParaRPr lang="en-US" sz="2000" b="1" dirty="0" smtClean="0"/>
          </a:p>
          <a:p>
            <a:pPr marL="1168400" lvl="3" indent="-728663">
              <a:buFont typeface="Arial"/>
              <a:buChar char="•"/>
              <a:tabLst>
                <a:tab pos="1084263" algn="l"/>
              </a:tabLst>
            </a:pPr>
            <a:endParaRPr lang="en-US" sz="2000" dirty="0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Insolvency Professionals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5585B48-4F8C-4A8F-85C2-1B29B08C996B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0557982"/>
      </p:ext>
    </p:extLst>
  </p:cSld>
  <p:clrMapOvr>
    <a:masterClrMapping/>
  </p:clrMapOvr>
  <p:transition xmlns:p14="http://schemas.microsoft.com/office/powerpoint/2010/main" advClick="0"/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27037" lvl="3" indent="-342900">
              <a:tabLst>
                <a:tab pos="1084263" algn="l"/>
              </a:tabLst>
            </a:pPr>
            <a:r>
              <a:rPr lang="en-US" sz="2000" b="1" dirty="0" smtClean="0"/>
              <a:t>Who will IPs be?</a:t>
            </a:r>
          </a:p>
          <a:p>
            <a:pPr marL="782637" lvl="3" indent="-342900">
              <a:tabLst>
                <a:tab pos="1084263" algn="l"/>
              </a:tabLst>
            </a:pPr>
            <a:r>
              <a:rPr lang="en-US" sz="2000" b="1" dirty="0" smtClean="0"/>
              <a:t>Loan agents? </a:t>
            </a:r>
          </a:p>
          <a:p>
            <a:pPr marL="782637" lvl="3" indent="-342900">
              <a:tabLst>
                <a:tab pos="1084263" algn="l"/>
              </a:tabLst>
            </a:pPr>
            <a:r>
              <a:rPr lang="en-US" sz="2000" b="1" dirty="0" smtClean="0"/>
              <a:t>Bank employees? </a:t>
            </a:r>
          </a:p>
          <a:p>
            <a:pPr marL="782637" lvl="3" indent="-342900">
              <a:tabLst>
                <a:tab pos="1084263" algn="l"/>
              </a:tabLst>
            </a:pPr>
            <a:r>
              <a:rPr lang="en-US" sz="2000" b="1" dirty="0" smtClean="0"/>
              <a:t>Local </a:t>
            </a:r>
            <a:r>
              <a:rPr lang="en-US" sz="2000" b="1" dirty="0" err="1" smtClean="0"/>
              <a:t>adminsitration</a:t>
            </a:r>
            <a:r>
              <a:rPr lang="en-US" sz="2000" b="1" dirty="0" smtClean="0"/>
              <a:t>?</a:t>
            </a:r>
          </a:p>
          <a:p>
            <a:pPr marL="438150" lvl="3" indent="-354013">
              <a:tabLst>
                <a:tab pos="1084263" algn="l"/>
              </a:tabLst>
            </a:pPr>
            <a:endParaRPr lang="en-US" sz="2000" b="1" dirty="0" smtClean="0"/>
          </a:p>
          <a:p>
            <a:pPr marL="438150" lvl="3" indent="-354013">
              <a:tabLst>
                <a:tab pos="1084263" algn="l"/>
              </a:tabLst>
            </a:pPr>
            <a:r>
              <a:rPr lang="en-US" sz="2000" b="1" dirty="0" smtClean="0"/>
              <a:t> Will involvement of local law enforcement be required?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b="0" dirty="0" smtClean="0">
                <a:solidFill>
                  <a:schemeClr val="tx1"/>
                </a:solidFill>
              </a:rPr>
              <a:t>The challenges in implementation</a:t>
            </a:r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5585B48-4F8C-4A8F-85C2-1B29B08C996B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098310"/>
      </p:ext>
    </p:extLst>
  </p:cSld>
  <p:clrMapOvr>
    <a:masterClrMapping/>
  </p:clrMapOvr>
  <p:transition xmlns:p14="http://schemas.microsoft.com/office/powerpoint/2010/main" advClick="0"/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82637" lvl="3" indent="-342900">
              <a:tabLst>
                <a:tab pos="1084263" algn="l"/>
              </a:tabLst>
            </a:pPr>
            <a:r>
              <a:rPr lang="en-US" sz="2000" b="1" dirty="0" smtClean="0"/>
              <a:t>Debt Recovery Tribunals</a:t>
            </a:r>
          </a:p>
          <a:p>
            <a:pPr marL="1239837" lvl="4" indent="-342900">
              <a:tabLst>
                <a:tab pos="1084263" algn="l"/>
              </a:tabLst>
            </a:pPr>
            <a:r>
              <a:rPr lang="en-US" sz="2000" b="1" dirty="0" smtClean="0"/>
              <a:t>Geographic reach</a:t>
            </a:r>
          </a:p>
          <a:p>
            <a:pPr marL="1239837" lvl="4" indent="-342900">
              <a:tabLst>
                <a:tab pos="1084263" algn="l"/>
              </a:tabLst>
            </a:pPr>
            <a:r>
              <a:rPr lang="en-US" sz="2000" b="1" dirty="0" smtClean="0"/>
              <a:t>Augment number and resources</a:t>
            </a:r>
          </a:p>
          <a:p>
            <a:pPr marL="342900" lvl="4" indent="-342900">
              <a:buFont typeface="Arial"/>
              <a:buChar char="•"/>
              <a:tabLst>
                <a:tab pos="1084263" algn="l"/>
              </a:tabLst>
            </a:pPr>
            <a:endParaRPr lang="en-US" sz="2000" b="1" dirty="0" smtClean="0"/>
          </a:p>
          <a:p>
            <a:pPr marL="782637" lvl="3" indent="-342900">
              <a:tabLst>
                <a:tab pos="1084263" algn="l"/>
              </a:tabLst>
            </a:pPr>
            <a:r>
              <a:rPr lang="en-US" sz="2000" b="1" dirty="0" smtClean="0"/>
              <a:t>Current resources abysmal</a:t>
            </a:r>
          </a:p>
          <a:p>
            <a:pPr marL="782637" lvl="3" indent="-342900">
              <a:tabLst>
                <a:tab pos="1084263" algn="l"/>
              </a:tabLst>
            </a:pPr>
            <a:r>
              <a:rPr lang="en-US" sz="2000" b="1" dirty="0" smtClean="0"/>
              <a:t>The vision:</a:t>
            </a:r>
          </a:p>
          <a:p>
            <a:pPr marL="1239837" lvl="4" indent="-342900">
              <a:tabLst>
                <a:tab pos="1084263" algn="l"/>
              </a:tabLst>
            </a:pPr>
            <a:r>
              <a:rPr lang="en-US" sz="2000" b="1" dirty="0" smtClean="0"/>
              <a:t>FSTS</a:t>
            </a:r>
          </a:p>
          <a:p>
            <a:pPr marL="1239837" lvl="4" indent="-342900">
              <a:tabLst>
                <a:tab pos="1084263" algn="l"/>
              </a:tabLst>
            </a:pPr>
            <a:r>
              <a:rPr lang="en-US" sz="2000" b="1" dirty="0" smtClean="0"/>
              <a:t>Harness role of technology</a:t>
            </a:r>
          </a:p>
          <a:p>
            <a:pPr marL="1239837" lvl="4" indent="-342900">
              <a:tabLst>
                <a:tab pos="1084263" algn="l"/>
              </a:tabLst>
            </a:pPr>
            <a:endParaRPr lang="en-US" sz="2000" dirty="0" smtClean="0"/>
          </a:p>
          <a:p>
            <a:pPr marL="896937" lvl="4" indent="0">
              <a:buNone/>
              <a:tabLst>
                <a:tab pos="1084263" algn="l"/>
              </a:tabLst>
            </a:pPr>
            <a:r>
              <a:rPr lang="en-US" sz="2000" dirty="0"/>
              <a:t>	</a:t>
            </a:r>
            <a:endParaRPr lang="en-US" sz="2000" dirty="0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Adjudicating Authority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5585B48-4F8C-4A8F-85C2-1B29B08C996B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572768"/>
      </p:ext>
    </p:extLst>
  </p:cSld>
  <p:clrMapOvr>
    <a:masterClrMapping/>
  </p:clrMapOvr>
  <p:transition xmlns:p14="http://schemas.microsoft.com/office/powerpoint/2010/main" advClick="0"/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4" indent="-342900">
              <a:buFont typeface="Arial"/>
              <a:buChar char="•"/>
              <a:tabLst>
                <a:tab pos="1084263" algn="l"/>
              </a:tabLst>
            </a:pPr>
            <a:r>
              <a:rPr lang="en-US" sz="2000" b="1" dirty="0" smtClean="0"/>
              <a:t>The Insolvency and Bankruptcy Board of India</a:t>
            </a:r>
          </a:p>
          <a:p>
            <a:pPr marL="1028700" lvl="5" indent="-342900">
              <a:buFont typeface="Arial"/>
              <a:buChar char="•"/>
              <a:tabLst>
                <a:tab pos="1084263" algn="l"/>
              </a:tabLst>
            </a:pPr>
            <a:r>
              <a:rPr lang="en-US" b="1" dirty="0" smtClean="0">
                <a:latin typeface="Times New Roman"/>
                <a:cs typeface="Times New Roman"/>
              </a:rPr>
              <a:t>Malleability of rules and regulations and processes</a:t>
            </a:r>
          </a:p>
          <a:p>
            <a:pPr marL="1485900" lvl="6" indent="-342900">
              <a:buFont typeface="Arial"/>
              <a:buChar char="•"/>
              <a:tabLst>
                <a:tab pos="1084263" algn="l"/>
              </a:tabLst>
            </a:pPr>
            <a:r>
              <a:rPr lang="en-US" b="1" dirty="0" smtClean="0">
                <a:latin typeface="Times New Roman"/>
                <a:cs typeface="Times New Roman"/>
              </a:rPr>
              <a:t>Consumer protection during insolvency / bankruptcy</a:t>
            </a:r>
          </a:p>
          <a:p>
            <a:pPr marL="1485900" lvl="6" indent="-342900">
              <a:buFont typeface="Arial"/>
              <a:buChar char="•"/>
              <a:tabLst>
                <a:tab pos="1084263" algn="l"/>
              </a:tabLst>
            </a:pPr>
            <a:endParaRPr lang="en-US" b="1" dirty="0" smtClean="0">
              <a:latin typeface="Times New Roman"/>
              <a:cs typeface="Times New Roman"/>
            </a:endParaRPr>
          </a:p>
          <a:p>
            <a:pPr marL="1028700" lvl="5" indent="-342900">
              <a:buFont typeface="Arial"/>
              <a:buChar char="•"/>
              <a:tabLst>
                <a:tab pos="1084263" algn="l"/>
              </a:tabLst>
            </a:pPr>
            <a:r>
              <a:rPr lang="en-US" b="1" dirty="0" smtClean="0">
                <a:latin typeface="Times New Roman"/>
                <a:cs typeface="Times New Roman"/>
              </a:rPr>
              <a:t>Regulate IPs</a:t>
            </a:r>
          </a:p>
          <a:p>
            <a:pPr marL="1485900" lvl="6" indent="-342900">
              <a:buFont typeface="Arial"/>
              <a:buChar char="•"/>
              <a:tabLst>
                <a:tab pos="1084263" algn="l"/>
              </a:tabLst>
            </a:pPr>
            <a:r>
              <a:rPr lang="en-US" b="1" dirty="0" smtClean="0">
                <a:latin typeface="Times New Roman"/>
                <a:cs typeface="Times New Roman"/>
              </a:rPr>
              <a:t>Entry barriers, conduct, penalties</a:t>
            </a:r>
          </a:p>
          <a:p>
            <a:pPr marL="1028700" lvl="5" indent="-342900">
              <a:buFont typeface="Arial"/>
              <a:buChar char="•"/>
              <a:tabLst>
                <a:tab pos="1084263" algn="l"/>
              </a:tabLst>
            </a:pPr>
            <a:r>
              <a:rPr lang="en-US" b="1" dirty="0" smtClean="0">
                <a:latin typeface="Times New Roman"/>
                <a:cs typeface="Times New Roman"/>
              </a:rPr>
              <a:t>Regulate IUs</a:t>
            </a:r>
          </a:p>
          <a:p>
            <a:pPr marL="1485900" lvl="6" indent="-342900">
              <a:buFont typeface="Arial"/>
              <a:buChar char="•"/>
              <a:tabLst>
                <a:tab pos="1084263" algn="l"/>
              </a:tabLst>
            </a:pPr>
            <a:r>
              <a:rPr lang="en-US" b="1" dirty="0" smtClean="0">
                <a:latin typeface="Times New Roman"/>
                <a:cs typeface="Times New Roman"/>
              </a:rPr>
              <a:t>Access, </a:t>
            </a:r>
            <a:r>
              <a:rPr lang="en-US" b="1" dirty="0" err="1" smtClean="0">
                <a:latin typeface="Times New Roman"/>
                <a:cs typeface="Times New Roman"/>
              </a:rPr>
              <a:t>accuracy,privacy</a:t>
            </a:r>
            <a:endParaRPr lang="en-US" b="1" dirty="0" smtClean="0">
              <a:latin typeface="Times New Roman"/>
              <a:cs typeface="Times New Roman"/>
            </a:endParaRPr>
          </a:p>
          <a:p>
            <a:pPr marL="1143000" lvl="6" indent="0">
              <a:buNone/>
              <a:tabLst>
                <a:tab pos="1084263" algn="l"/>
              </a:tabLst>
            </a:pPr>
            <a:endParaRPr lang="en-US" b="1" dirty="0" smtClean="0">
              <a:latin typeface="Times New Roman"/>
              <a:cs typeface="Times New Roman"/>
            </a:endParaRPr>
          </a:p>
          <a:p>
            <a:pPr marL="896937" lvl="4" indent="0">
              <a:buNone/>
              <a:tabLst>
                <a:tab pos="1084263" algn="l"/>
              </a:tabLst>
            </a:pPr>
            <a:endParaRPr lang="en-US" sz="2000" b="1" dirty="0" smtClean="0"/>
          </a:p>
          <a:p>
            <a:pPr marL="185738" lvl="4" indent="169863">
              <a:buFont typeface="Arial"/>
              <a:buChar char="•"/>
              <a:tabLst>
                <a:tab pos="1084263" algn="l"/>
              </a:tabLst>
            </a:pPr>
            <a:r>
              <a:rPr lang="en-US" sz="2000" b="1" dirty="0" smtClean="0"/>
              <a:t>Governance </a:t>
            </a:r>
            <a:r>
              <a:rPr lang="en-US" sz="2000" b="1" i="1" dirty="0" smtClean="0"/>
              <a:t>of </a:t>
            </a:r>
            <a:r>
              <a:rPr lang="en-US" sz="2000" b="1" dirty="0" smtClean="0"/>
              <a:t>the IBBI</a:t>
            </a:r>
          </a:p>
          <a:p>
            <a:pPr marL="185738" lvl="4" indent="169863">
              <a:buFont typeface="Arial"/>
              <a:buChar char="•"/>
              <a:tabLst>
                <a:tab pos="1084263" algn="l"/>
              </a:tabLst>
            </a:pPr>
            <a:endParaRPr lang="en-US" sz="2000" dirty="0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The Regulator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5585B48-4F8C-4A8F-85C2-1B29B08C996B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910280"/>
      </p:ext>
    </p:extLst>
  </p:cSld>
  <p:clrMapOvr>
    <a:masterClrMapping/>
  </p:clrMapOvr>
  <p:transition xmlns:p14="http://schemas.microsoft.com/office/powerpoint/2010/main" advClick="0"/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2362200"/>
            <a:ext cx="8229600" cy="3200399"/>
          </a:xfrm>
        </p:spPr>
        <p:txBody>
          <a:bodyPr/>
          <a:lstStyle/>
          <a:p>
            <a:pPr algn="ctr"/>
            <a:r>
              <a:rPr lang="en-US" sz="4400" dirty="0" smtClean="0"/>
              <a:t>THANK YOU</a:t>
            </a:r>
            <a:endParaRPr lang="en-US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5585B48-4F8C-4A8F-85C2-1B29B08C996B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6294"/>
      </p:ext>
    </p:extLst>
  </p:cSld>
  <p:clrMapOvr>
    <a:masterClrMapping/>
  </p:clrMapOvr>
  <p:transition xmlns:p14="http://schemas.microsoft.com/office/powerpoint/2010/main" advClick="0"/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2287</TotalTime>
  <Words>361</Words>
  <Application>Microsoft Macintosh PowerPoint</Application>
  <PresentationFormat>On-screen Show (4:3)</PresentationFormat>
  <Paragraphs>78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Pixel</vt:lpstr>
      <vt:lpstr>Institutional Infrastructure in the IBC  </vt:lpstr>
      <vt:lpstr>The Processes proposed in IBC for individuals</vt:lpstr>
      <vt:lpstr>Institutional infrastructure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Statutory Compliance</dc:title>
  <dc:creator>Devika Nayak</dc:creator>
  <cp:lastModifiedBy>Richa Roy</cp:lastModifiedBy>
  <cp:revision>175</cp:revision>
  <cp:lastPrinted>2015-02-12T07:41:01Z</cp:lastPrinted>
  <dcterms:created xsi:type="dcterms:W3CDTF">2015-02-06T07:10:34Z</dcterms:created>
  <dcterms:modified xsi:type="dcterms:W3CDTF">2016-07-29T06:15:32Z</dcterms:modified>
</cp:coreProperties>
</file>