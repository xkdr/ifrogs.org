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98" r:id="rId2"/>
    <p:sldId id="295" r:id="rId3"/>
    <p:sldId id="296" r:id="rId4"/>
    <p:sldId id="302" r:id="rId5"/>
    <p:sldId id="303" r:id="rId6"/>
    <p:sldId id="301" r:id="rId7"/>
    <p:sldId id="305" r:id="rId8"/>
    <p:sldId id="30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3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B362A-529B-4E76-90D7-3BADFC140720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63999B-B94F-4318-B35B-D4B47399A3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4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6F8710-9D1F-4F88-B7B2-CA2D9AAC7A2A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87388"/>
            <a:ext cx="4568825" cy="3427412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3999B-B94F-4318-B35B-D4B47399A37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3999B-B94F-4318-B35B-D4B47399A37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3999B-B94F-4318-B35B-D4B47399A37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Prices may reflect all the information at all times and hence change in price may not significantly affect the demand=&gt; flatter demand curve.</a:t>
            </a: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3999B-B94F-4318-B35B-D4B47399A37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3999B-B94F-4318-B35B-D4B47399A377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3999B-B94F-4318-B35B-D4B47399A377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63999B-B94F-4318-B35B-D4B47399A377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 descr="clock_blu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48525" y="3654425"/>
            <a:ext cx="189547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footer_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6629400"/>
            <a:ext cx="914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3" descr="header_dreamers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 descr="C:\Documents and Settings\mirzaali\My Documents\FCBE\Web\PPT Templates\fcbeSlideFooter-1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6629400"/>
            <a:ext cx="914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7181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27181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9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752600"/>
            <a:ext cx="42672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752600"/>
            <a:ext cx="42672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8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4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3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7620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7620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5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 descr="clock_blue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48525" y="3648075"/>
            <a:ext cx="1895475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0"/>
            <a:ext cx="914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752600"/>
            <a:ext cx="868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29" name="Picture 9" descr="footer_b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6629400"/>
            <a:ext cx="914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4" descr="C:\Documents and Settings\mirzaali\My Documents\FCBE\Web\PPT Templates\fcbeSlideFooter-1.jp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6629400"/>
            <a:ext cx="9144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fld id="{0280712D-6CE3-4ED0-A42B-383181C4932C}" type="datetimeFigureOut">
              <a:rPr lang="en-US" smtClean="0"/>
              <a:pPr/>
              <a:t>12/17/2014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2667000" y="6569075"/>
            <a:ext cx="480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fld id="{BF8AB65D-6DFE-490D-B259-89B7415F868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4" name="Picture 11" descr="header_dreamers.jpg"/>
          <p:cNvPicPr>
            <a:picLocks noChangeAspect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0" y="0"/>
            <a:ext cx="91440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gif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609600" y="5410200"/>
            <a:ext cx="8077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400" b="1">
              <a:solidFill>
                <a:schemeClr val="tx2"/>
              </a:solidFill>
              <a:latin typeface="Times New Roman" charset="0"/>
            </a:endParaRPr>
          </a:p>
        </p:txBody>
      </p:sp>
      <p:sp>
        <p:nvSpPr>
          <p:cNvPr id="11" name="Rectangle 37"/>
          <p:cNvSpPr txBox="1">
            <a:spLocks/>
          </p:cNvSpPr>
          <p:nvPr/>
        </p:nvSpPr>
        <p:spPr>
          <a:xfrm>
            <a:off x="0" y="1066801"/>
            <a:ext cx="9144002" cy="12191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3000" b="1" dirty="0" smtClean="0">
              <a:solidFill>
                <a:srgbClr val="000000"/>
              </a:solidFill>
              <a:latin typeface="Times New Roman"/>
            </a:endParaRPr>
          </a:p>
          <a:p>
            <a:r>
              <a:rPr lang="en-US" sz="3000" b="1" dirty="0">
                <a:solidFill>
                  <a:srgbClr val="000000"/>
                </a:solidFill>
                <a:latin typeface="Times New Roman"/>
              </a:rPr>
              <a:t>Do Demand Curves For Stocks Slope Down?:</a:t>
            </a:r>
          </a:p>
          <a:p>
            <a:r>
              <a:rPr lang="en-US" sz="3000" b="1" dirty="0">
                <a:solidFill>
                  <a:srgbClr val="000000"/>
                </a:solidFill>
                <a:latin typeface="Times New Roman"/>
              </a:rPr>
              <a:t>Evidence From a Regulation Induced Supply Shock</a:t>
            </a:r>
            <a:endParaRPr lang="en-US" sz="3000" b="1" dirty="0"/>
          </a:p>
        </p:txBody>
      </p:sp>
      <p:sp>
        <p:nvSpPr>
          <p:cNvPr id="12" name="Rectangle 38"/>
          <p:cNvSpPr txBox="1">
            <a:spLocks/>
          </p:cNvSpPr>
          <p:nvPr/>
        </p:nvSpPr>
        <p:spPr>
          <a:xfrm>
            <a:off x="4372707" y="3657600"/>
            <a:ext cx="4695093" cy="1752600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Discussant: Pawan Jain</a:t>
            </a:r>
            <a:endParaRPr lang="en-US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2" descr="C:\Users\jain1p\Pictures\cba_newhead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709" y="0"/>
            <a:ext cx="11305309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duced bann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092" y="75994"/>
            <a:ext cx="1409700" cy="114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 descr="http://danscartoons.com/wp-content/uploads/2013/08/Investor-Investing-Cartoon-08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" y="2438400"/>
            <a:ext cx="4087091" cy="441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algn="ctr"/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715000"/>
          </a:xfrm>
        </p:spPr>
        <p:txBody>
          <a:bodyPr/>
          <a:lstStyle/>
          <a:p>
            <a:r>
              <a:rPr lang="en-US" sz="2800" dirty="0" smtClean="0"/>
              <a:t>SEBI mandated </a:t>
            </a:r>
            <a:r>
              <a:rPr lang="en-US" sz="2800" dirty="0"/>
              <a:t>that all listed companies in India should </a:t>
            </a:r>
            <a:r>
              <a:rPr lang="en-US" sz="2800" dirty="0" smtClean="0"/>
              <a:t>have at </a:t>
            </a:r>
            <a:r>
              <a:rPr lang="en-US" sz="2800" dirty="0"/>
              <a:t>least 25% public </a:t>
            </a:r>
            <a:r>
              <a:rPr lang="en-US" sz="2800" dirty="0" smtClean="0"/>
              <a:t>shareholding </a:t>
            </a:r>
            <a:r>
              <a:rPr lang="en-US" sz="2800" dirty="0"/>
              <a:t>at all </a:t>
            </a:r>
            <a:r>
              <a:rPr lang="en-US" sz="2800" dirty="0" smtClean="0"/>
              <a:t>times</a:t>
            </a:r>
            <a:endParaRPr lang="en-US" sz="2800" dirty="0"/>
          </a:p>
          <a:p>
            <a:pPr lvl="1"/>
            <a:r>
              <a:rPr lang="en-US" sz="2600" dirty="0"/>
              <a:t>Using this as </a:t>
            </a:r>
            <a:r>
              <a:rPr lang="en-US" sz="2600" dirty="0" smtClean="0"/>
              <a:t>a natural </a:t>
            </a:r>
            <a:r>
              <a:rPr lang="en-US" sz="2600" dirty="0"/>
              <a:t>experiment </a:t>
            </a:r>
            <a:r>
              <a:rPr lang="en-US" sz="2600" dirty="0" smtClean="0"/>
              <a:t>this study tests </a:t>
            </a:r>
            <a:r>
              <a:rPr lang="en-US" sz="2600" dirty="0"/>
              <a:t>if the </a:t>
            </a:r>
            <a:r>
              <a:rPr lang="en-US" sz="2600" dirty="0" smtClean="0"/>
              <a:t>affected </a:t>
            </a:r>
            <a:r>
              <a:rPr lang="en-US" sz="2600" dirty="0"/>
              <a:t>stocks experience a </a:t>
            </a:r>
            <a:r>
              <a:rPr lang="en-US" sz="2600" dirty="0" smtClean="0"/>
              <a:t>negative price reaction.</a:t>
            </a:r>
          </a:p>
          <a:p>
            <a:pPr lvl="1"/>
            <a:r>
              <a:rPr lang="en-US" sz="2600" dirty="0" smtClean="0"/>
              <a:t>If so, when?</a:t>
            </a:r>
          </a:p>
          <a:p>
            <a:pPr lvl="2"/>
            <a:r>
              <a:rPr lang="en-US" sz="1800" dirty="0" smtClean="0"/>
              <a:t>Significant negative excess  return in the 11 days surrounding the sale of securities. </a:t>
            </a:r>
          </a:p>
          <a:p>
            <a:pPr lvl="2"/>
            <a:r>
              <a:rPr lang="en-US" sz="1800" dirty="0"/>
              <a:t>A majority of the negative excess </a:t>
            </a:r>
            <a:r>
              <a:rPr lang="en-US" sz="1800" dirty="0" smtClean="0"/>
              <a:t>returns occurs on the </a:t>
            </a:r>
            <a:r>
              <a:rPr lang="en-US" sz="1800" dirty="0"/>
              <a:t>issue date and </a:t>
            </a:r>
            <a:r>
              <a:rPr lang="en-US" sz="1800" dirty="0" smtClean="0"/>
              <a:t>during the </a:t>
            </a:r>
            <a:r>
              <a:rPr lang="en-US" sz="1800" dirty="0"/>
              <a:t>following week</a:t>
            </a:r>
            <a:r>
              <a:rPr lang="en-US" sz="1800" dirty="0" smtClean="0"/>
              <a:t>.</a:t>
            </a:r>
          </a:p>
          <a:p>
            <a:pPr lvl="2"/>
            <a:r>
              <a:rPr lang="en-US" sz="1800" dirty="0" smtClean="0"/>
              <a:t>Negative excess return is not information driven</a:t>
            </a:r>
            <a:endParaRPr lang="en-US" sz="18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pPr algn="ctr"/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76200" y="762000"/>
            <a:ext cx="9144000" cy="5334000"/>
          </a:xfrm>
        </p:spPr>
        <p:txBody>
          <a:bodyPr/>
          <a:lstStyle/>
          <a:p>
            <a:r>
              <a:rPr lang="en-US" dirty="0" smtClean="0"/>
              <a:t>Demand?</a:t>
            </a:r>
          </a:p>
          <a:p>
            <a:pPr lvl="1"/>
            <a:r>
              <a:rPr lang="en-US" sz="2600" dirty="0" smtClean="0"/>
              <a:t>Two aspects: price and quantity demanded</a:t>
            </a:r>
          </a:p>
          <a:p>
            <a:pPr lvl="1"/>
            <a:r>
              <a:rPr lang="en-US" sz="2600" dirty="0" smtClean="0"/>
              <a:t>How do you capture quantity demanded?</a:t>
            </a:r>
          </a:p>
          <a:p>
            <a:pPr lvl="2"/>
            <a:r>
              <a:rPr lang="en-US" sz="2200" dirty="0" smtClean="0"/>
              <a:t>number of trades vs. quotes (?); trade direction (?)</a:t>
            </a:r>
          </a:p>
          <a:p>
            <a:r>
              <a:rPr lang="en-US" dirty="0" err="1" smtClean="0"/>
              <a:t>Kaul</a:t>
            </a:r>
            <a:r>
              <a:rPr lang="en-US" dirty="0" smtClean="0"/>
              <a:t> </a:t>
            </a:r>
            <a:r>
              <a:rPr lang="en-US" dirty="0"/>
              <a:t>et </a:t>
            </a:r>
            <a:r>
              <a:rPr lang="en-US" dirty="0" smtClean="0"/>
              <a:t>al (2000): </a:t>
            </a:r>
            <a:r>
              <a:rPr lang="en-US" dirty="0"/>
              <a:t>“since the revision was done on a single day for all stocks, it raises the possibility of some other actual or anticipated event influencing prices.”</a:t>
            </a:r>
          </a:p>
          <a:p>
            <a:pPr lvl="1"/>
            <a:r>
              <a:rPr lang="en-US" sz="2600" dirty="0"/>
              <a:t>This setting might be better as you capture true reaction, instead of </a:t>
            </a:r>
            <a:r>
              <a:rPr lang="en-US" sz="2600" dirty="0" smtClean="0"/>
              <a:t>learning</a:t>
            </a:r>
          </a:p>
          <a:p>
            <a:pPr lvl="1"/>
            <a:r>
              <a:rPr lang="en-US" sz="2600" dirty="0" smtClean="0"/>
              <a:t>If the promoters can choose any day to sell their stake within 3 years, won’t they pick the most overvalued day?</a:t>
            </a:r>
            <a:endParaRPr lang="en-US" sz="26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76200" y="1219200"/>
            <a:ext cx="9144000" cy="4876800"/>
          </a:xfrm>
        </p:spPr>
        <p:txBody>
          <a:bodyPr/>
          <a:lstStyle/>
          <a:p>
            <a:r>
              <a:rPr lang="en-US" dirty="0" smtClean="0"/>
              <a:t>Excess </a:t>
            </a:r>
            <a:r>
              <a:rPr lang="en-US" dirty="0"/>
              <a:t>supply or price impact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“If </a:t>
            </a:r>
            <a:r>
              <a:rPr lang="en-US" dirty="0"/>
              <a:t>the price reaction </a:t>
            </a:r>
            <a:r>
              <a:rPr lang="en-US" dirty="0" smtClean="0"/>
              <a:t>documented is </a:t>
            </a:r>
            <a:r>
              <a:rPr lang="en-US" dirty="0"/>
              <a:t>a result of price pressure, then the negative returns should reverse as soon as </a:t>
            </a:r>
            <a:r>
              <a:rPr lang="en-US" dirty="0" smtClean="0"/>
              <a:t>abnormal volume </a:t>
            </a:r>
            <a:r>
              <a:rPr lang="en-US" dirty="0"/>
              <a:t>subsides</a:t>
            </a:r>
            <a:r>
              <a:rPr lang="en-US" dirty="0" smtClean="0"/>
              <a:t>.”</a:t>
            </a:r>
          </a:p>
          <a:p>
            <a:pPr lvl="1"/>
            <a:r>
              <a:rPr lang="en-US" dirty="0" smtClean="0"/>
              <a:t>Non necessarily: If the promoters chose a day when the stock was significantly overvalued, their trades may result in permanent price impact.</a:t>
            </a:r>
            <a:endParaRPr lang="en-US" dirty="0"/>
          </a:p>
          <a:p>
            <a:r>
              <a:rPr lang="en-US" dirty="0" smtClean="0"/>
              <a:t>Demand curve shifts?</a:t>
            </a:r>
          </a:p>
          <a:p>
            <a:pPr lvl="1"/>
            <a:r>
              <a:rPr lang="en-US" dirty="0" smtClean="0"/>
              <a:t>Firms that try to meet the regulation which improves the stock’s market quality might result in a shift in demand curve</a:t>
            </a:r>
            <a:r>
              <a:rPr lang="en-US" dirty="0" smtClean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05910566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76200" y="1219200"/>
            <a:ext cx="9144000" cy="4876800"/>
          </a:xfrm>
        </p:spPr>
        <p:txBody>
          <a:bodyPr/>
          <a:lstStyle/>
          <a:p>
            <a:r>
              <a:rPr lang="en-US" dirty="0"/>
              <a:t>“PSUs are highly-constrained </a:t>
            </a:r>
            <a:r>
              <a:rPr lang="en-US" dirty="0" smtClean="0"/>
              <a:t>and regulated </a:t>
            </a:r>
            <a:r>
              <a:rPr lang="en-US" dirty="0"/>
              <a:t/>
            </a:r>
            <a:r>
              <a:rPr lang="en-US" dirty="0" smtClean="0"/>
              <a:t>firms </a:t>
            </a:r>
            <a:r>
              <a:rPr lang="en-US" dirty="0"/>
              <a:t>and are likely to have a steeper demand </a:t>
            </a:r>
            <a:r>
              <a:rPr lang="en-US" dirty="0" smtClean="0"/>
              <a:t>curve”</a:t>
            </a:r>
            <a:endParaRPr lang="en-US" dirty="0"/>
          </a:p>
          <a:p>
            <a:pPr lvl="1"/>
            <a:r>
              <a:rPr lang="en-US" dirty="0" smtClean="0"/>
              <a:t>Not necessarily true. </a:t>
            </a:r>
            <a:r>
              <a:rPr lang="en-US" dirty="0" smtClean="0"/>
              <a:t>PSUs are much more transparent as compared to non-PSUs</a:t>
            </a:r>
          </a:p>
          <a:p>
            <a:r>
              <a:rPr lang="en-US" sz="2600" dirty="0"/>
              <a:t>“companies that issue bonus or rights shares to existing non-promoter shareholders in order to comply with the regulation do not experience any negative price reaction.”</a:t>
            </a:r>
          </a:p>
          <a:p>
            <a:pPr lvl="1"/>
            <a:r>
              <a:rPr lang="en-US" sz="2200" dirty="0" smtClean="0"/>
              <a:t>Flatter demand curve?</a:t>
            </a:r>
            <a:endParaRPr lang="en-US" sz="2200" dirty="0"/>
          </a:p>
          <a:p>
            <a:pPr lvl="1"/>
            <a:r>
              <a:rPr lang="en-US" sz="2200" dirty="0"/>
              <a:t>Small sample: 10 firms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53416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76200" y="1219200"/>
            <a:ext cx="9144000" cy="4876800"/>
          </a:xfrm>
        </p:spPr>
        <p:txBody>
          <a:bodyPr/>
          <a:lstStyle/>
          <a:p>
            <a:r>
              <a:rPr lang="en-US" dirty="0" smtClean="0"/>
              <a:t>SEBI Announcement </a:t>
            </a:r>
            <a:r>
              <a:rPr lang="en-US" dirty="0" smtClean="0"/>
              <a:t>day effect</a:t>
            </a:r>
          </a:p>
          <a:p>
            <a:pPr lvl="1"/>
            <a:r>
              <a:rPr lang="en-US" dirty="0" smtClean="0"/>
              <a:t>Day 0:depends on timing of the announcement</a:t>
            </a:r>
          </a:p>
          <a:p>
            <a:pPr lvl="1"/>
            <a:r>
              <a:rPr lang="en-US" dirty="0" smtClean="0"/>
              <a:t>Positive announcement effect and maybe traders were penalizing firms for not meeting the requirements during the first few days (?)</a:t>
            </a:r>
          </a:p>
          <a:p>
            <a:pPr lvl="0"/>
            <a:r>
              <a:rPr lang="en-US" dirty="0" smtClean="0"/>
              <a:t> </a:t>
            </a:r>
            <a:r>
              <a:rPr lang="en-US" dirty="0" smtClean="0">
                <a:solidFill>
                  <a:srgbClr val="000000"/>
                </a:solidFill>
              </a:rPr>
              <a:t>Company’s Announcement </a:t>
            </a:r>
            <a:r>
              <a:rPr lang="en-US" dirty="0">
                <a:solidFill>
                  <a:srgbClr val="000000"/>
                </a:solidFill>
              </a:rPr>
              <a:t>day </a:t>
            </a:r>
            <a:r>
              <a:rPr lang="en-US" dirty="0" smtClean="0">
                <a:solidFill>
                  <a:srgbClr val="000000"/>
                </a:solidFill>
              </a:rPr>
              <a:t>effect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Authors do not find any effect. However, there is negative excess return of 2.71% during the first 2 days following the </a:t>
            </a:r>
            <a:r>
              <a:rPr lang="en-US" dirty="0" err="1" smtClean="0">
                <a:solidFill>
                  <a:srgbClr val="000000"/>
                </a:solidFill>
              </a:rPr>
              <a:t>anouncement</a:t>
            </a:r>
            <a:r>
              <a:rPr lang="en-US" dirty="0" smtClean="0">
                <a:solidFill>
                  <a:srgbClr val="000000"/>
                </a:solidFill>
              </a:rPr>
              <a:t>.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630978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76200" y="1219200"/>
            <a:ext cx="9144000" cy="4876800"/>
          </a:xfrm>
        </p:spPr>
        <p:txBody>
          <a:bodyPr/>
          <a:lstStyle/>
          <a:p>
            <a:r>
              <a:rPr lang="en-US" dirty="0" smtClean="0"/>
              <a:t>More robust analysis for “overpricing” explanation:</a:t>
            </a:r>
          </a:p>
          <a:p>
            <a:pPr lvl="1"/>
            <a:r>
              <a:rPr lang="en-US" dirty="0" smtClean="0"/>
              <a:t>Comparing compliant vs. non-compliant firms might not be enough</a:t>
            </a:r>
          </a:p>
          <a:p>
            <a:pPr lvl="1"/>
            <a:r>
              <a:rPr lang="en-US" dirty="0" smtClean="0"/>
              <a:t>Analyze the timing of the “new supply”</a:t>
            </a:r>
          </a:p>
          <a:p>
            <a:r>
              <a:rPr lang="en-US" dirty="0" smtClean="0"/>
              <a:t>Price movement around the deadline </a:t>
            </a:r>
            <a:r>
              <a:rPr lang="en-US" smtClean="0"/>
              <a:t>to comply</a:t>
            </a:r>
          </a:p>
          <a:p>
            <a:r>
              <a:rPr lang="en-US" dirty="0" smtClean="0"/>
              <a:t>Factor models for calculating AR:</a:t>
            </a:r>
            <a:endParaRPr lang="en-US" dirty="0" smtClean="0"/>
          </a:p>
          <a:p>
            <a:pPr lvl="1"/>
            <a:r>
              <a:rPr lang="en-US" dirty="0" smtClean="0"/>
              <a:t>HML, </a:t>
            </a:r>
            <a:r>
              <a:rPr lang="en-US" dirty="0" smtClean="0"/>
              <a:t>SMB, </a:t>
            </a:r>
            <a:r>
              <a:rPr lang="en-US" dirty="0" smtClean="0"/>
              <a:t>Momentum, </a:t>
            </a:r>
            <a:r>
              <a:rPr lang="en-US" dirty="0" smtClean="0"/>
              <a:t>Illiquidity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8044456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pPr algn="ctr"/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-76200" y="1219200"/>
            <a:ext cx="9144000" cy="4876800"/>
          </a:xfrm>
        </p:spPr>
        <p:txBody>
          <a:bodyPr/>
          <a:lstStyle/>
          <a:p>
            <a:r>
              <a:rPr lang="en-US" dirty="0"/>
              <a:t>Interesting paper</a:t>
            </a:r>
          </a:p>
          <a:p>
            <a:r>
              <a:rPr lang="en-US" dirty="0"/>
              <a:t>Solid data and analysis</a:t>
            </a:r>
          </a:p>
          <a:p>
            <a:r>
              <a:rPr lang="en-US" dirty="0"/>
              <a:t>Has a potential for deeper investigation</a:t>
            </a:r>
          </a:p>
        </p:txBody>
      </p:sp>
    </p:spTree>
    <p:extLst>
      <p:ext uri="{BB962C8B-B14F-4D97-AF65-F5344CB8AC3E}">
        <p14:creationId xmlns:p14="http://schemas.microsoft.com/office/powerpoint/2010/main" val="142601732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2">
  <a:themeElements>
    <a:clrScheme name="student_temp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EAEEE"/>
      </a:accent1>
      <a:accent2>
        <a:srgbClr val="FFFFCC"/>
      </a:accent2>
      <a:accent3>
        <a:srgbClr val="FFFFFF"/>
      </a:accent3>
      <a:accent4>
        <a:srgbClr val="000000"/>
      </a:accent4>
      <a:accent5>
        <a:srgbClr val="C6D3F5"/>
      </a:accent5>
      <a:accent6>
        <a:srgbClr val="E7E7B9"/>
      </a:accent6>
      <a:hlink>
        <a:srgbClr val="000099"/>
      </a:hlink>
      <a:folHlink>
        <a:srgbClr val="B2B2B2"/>
      </a:folHlink>
    </a:clrScheme>
    <a:fontScheme name="student_temp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udent_tem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ent_tem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ent_tem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ent_tem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ent_tem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udent_tem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ent_tem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ent_tem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ent_tem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ent_tem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ent_tem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ent_tem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udent_temp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8EAEEE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C6D3F5"/>
        </a:accent5>
        <a:accent6>
          <a:srgbClr val="E7E7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20856</TotalTime>
  <Words>448</Words>
  <Application>Microsoft Office PowerPoint</Application>
  <PresentationFormat>On-screen Show (4:3)</PresentationFormat>
  <Paragraphs>57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Theme2</vt:lpstr>
      <vt:lpstr>PowerPoint Presentation</vt:lpstr>
      <vt:lpstr>Summary</vt:lpstr>
      <vt:lpstr>Comments</vt:lpstr>
      <vt:lpstr>Comments</vt:lpstr>
      <vt:lpstr>Comments</vt:lpstr>
      <vt:lpstr>Comments</vt:lpstr>
      <vt:lpstr>Comments</vt:lpstr>
      <vt:lpstr>Comments</vt:lpstr>
    </vt:vector>
  </TitlesOfParts>
  <Company>The University of Memphis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IV. Empirical Results</dc:title>
  <dc:creator>pawan</dc:creator>
  <cp:lastModifiedBy>sjain1@memphis.edu</cp:lastModifiedBy>
  <cp:revision>193</cp:revision>
  <dcterms:created xsi:type="dcterms:W3CDTF">2010-01-25T00:25:31Z</dcterms:created>
  <dcterms:modified xsi:type="dcterms:W3CDTF">2014-12-19T02:35:42Z</dcterms:modified>
</cp:coreProperties>
</file>