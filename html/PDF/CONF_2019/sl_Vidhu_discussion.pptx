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9"/>
  </p:notesMasterIdLst>
  <p:sldIdLst>
    <p:sldId id="256" r:id="rId3"/>
    <p:sldId id="264" r:id="rId4"/>
    <p:sldId id="272" r:id="rId5"/>
    <p:sldId id="265" r:id="rId6"/>
    <p:sldId id="274" r:id="rId7"/>
    <p:sldId id="27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00FC44-B32A-46F6-BB89-DFCB6013186C}" type="datetimeFigureOut">
              <a:rPr lang="en-IN" smtClean="0"/>
              <a:t>14-12-2019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DDA73F-8160-4A0D-96CE-91DEE414B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200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Elon Musk</a:t>
            </a:r>
            <a:r>
              <a:rPr lang="en-IN" baseline="0" dirty="0"/>
              <a:t> vs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DDA73F-8160-4A0D-96CE-91DEE414B5D5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90122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DDA73F-8160-4A0D-96CE-91DEE414B5D5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8752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810AB-2539-4E8B-8837-BB960B89AD40}" type="datetimeFigureOut">
              <a:rPr lang="en-IN" smtClean="0"/>
              <a:t>14-12-2019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C9E8D-3534-47D0-A42B-D8B354EAE3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3146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810AB-2539-4E8B-8837-BB960B89AD40}" type="datetimeFigureOut">
              <a:rPr lang="en-IN" smtClean="0"/>
              <a:t>14-12-2019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C9E8D-3534-47D0-A42B-D8B354EAE3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2213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810AB-2539-4E8B-8837-BB960B89AD40}" type="datetimeFigureOut">
              <a:rPr lang="en-IN" smtClean="0"/>
              <a:t>14-12-2019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C9E8D-3534-47D0-A42B-D8B354EAE3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0654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810AB-2539-4E8B-8837-BB960B89AD40}" type="datetimeFigureOut">
              <a:rPr lang="en-IN" smtClean="0"/>
              <a:t>14-12-2019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C9E8D-3534-47D0-A42B-D8B354EAE3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1368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810AB-2539-4E8B-8837-BB960B89AD40}" type="datetimeFigureOut">
              <a:rPr lang="en-IN" smtClean="0"/>
              <a:t>14-12-2019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C9E8D-3534-47D0-A42B-D8B354EAE3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084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810AB-2539-4E8B-8837-BB960B89AD40}" type="datetimeFigureOut">
              <a:rPr lang="en-IN" smtClean="0"/>
              <a:t>14-12-2019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C9E8D-3534-47D0-A42B-D8B354EAE3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2904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810AB-2539-4E8B-8837-BB960B89AD40}" type="datetimeFigureOut">
              <a:rPr lang="en-IN" smtClean="0"/>
              <a:t>14-12-2019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C9E8D-3534-47D0-A42B-D8B354EAE3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7044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810AB-2539-4E8B-8837-BB960B89AD40}" type="datetimeFigureOut">
              <a:rPr lang="en-IN" smtClean="0"/>
              <a:t>14-12-2019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C9E8D-3534-47D0-A42B-D8B354EAE3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9374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810AB-2539-4E8B-8837-BB960B89AD40}" type="datetimeFigureOut">
              <a:rPr lang="en-IN" smtClean="0"/>
              <a:t>14-12-2019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C9E8D-3534-47D0-A42B-D8B354EAE3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8442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810AB-2539-4E8B-8837-BB960B89AD40}" type="datetimeFigureOut">
              <a:rPr lang="en-IN" smtClean="0"/>
              <a:t>14-12-2019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C9E8D-3534-47D0-A42B-D8B354EAE3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2343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810AB-2539-4E8B-8837-BB960B89AD40}" type="datetimeFigureOut">
              <a:rPr lang="en-IN" smtClean="0"/>
              <a:t>14-12-2019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C9E8D-3534-47D0-A42B-D8B354EAE3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72900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2938" y="1122363"/>
            <a:ext cx="8395063" cy="2387600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72938" y="3628164"/>
            <a:ext cx="8395063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0070345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41DD9-6867-934B-BC8C-1EBCB55A474F}" type="datetimeFigureOut">
              <a:rPr lang="en-US" smtClean="0"/>
              <a:t>12/14/2019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665AB-7CB1-E644-BF55-A2F21E1A277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2115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solidFill>
            <a:schemeClr val="accent2"/>
          </a:solidFill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504555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solidFill>
            <a:srgbClr val="5A2D93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580679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41DD9-6867-934B-BC8C-1EBCB55A474F}" type="datetimeFigureOut">
              <a:rPr lang="en-US" smtClean="0"/>
              <a:t>12/14/2019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665AB-7CB1-E644-BF55-A2F21E1A277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5664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77106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6790" y="187326"/>
            <a:ext cx="8072845" cy="9099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238206" y="1423851"/>
            <a:ext cx="6117183" cy="44371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1423853"/>
            <a:ext cx="3932237" cy="4445137"/>
          </a:xfrm>
          <a:solidFill>
            <a:schemeClr val="accent2"/>
          </a:solidFill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41DD9-6867-934B-BC8C-1EBCB55A474F}" type="datetimeFigureOut">
              <a:rPr lang="en-US" smtClean="0"/>
              <a:t>12/14/2019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665AB-7CB1-E644-BF55-A2F21E1A277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80652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41DD9-6867-934B-BC8C-1EBCB55A474F}" type="datetimeFigureOut">
              <a:rPr lang="en-US" smtClean="0"/>
              <a:t>12/14/2019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665AB-7CB1-E644-BF55-A2F21E1A277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73847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5181599" y="2928597"/>
            <a:ext cx="2133601" cy="2130424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5FB85-5C0D-4BC5-880B-2628A82A4BC2}" type="datetimeFigureOut">
              <a:rPr lang="en-US" smtClean="0"/>
              <a:t>12/14/2019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89730-4BA7-4A6E-9ADF-70FD5E03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1187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1101567" y="4092575"/>
            <a:ext cx="1162207" cy="1162049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2826885" y="4092575"/>
            <a:ext cx="1162207" cy="1162049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  <p:sp>
        <p:nvSpPr>
          <p:cNvPr id="15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4595222" y="4092575"/>
            <a:ext cx="1162207" cy="1162049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  <p:sp>
        <p:nvSpPr>
          <p:cNvPr id="16" name="Picture Placeholder 12"/>
          <p:cNvSpPr>
            <a:spLocks noGrp="1"/>
          </p:cNvSpPr>
          <p:nvPr>
            <p:ph type="pic" sz="quarter" idx="16"/>
          </p:nvPr>
        </p:nvSpPr>
        <p:spPr>
          <a:xfrm>
            <a:off x="6361344" y="4092575"/>
            <a:ext cx="1162207" cy="1162049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  <p:sp>
        <p:nvSpPr>
          <p:cNvPr id="17" name="Picture Placeholder 12"/>
          <p:cNvSpPr>
            <a:spLocks noGrp="1"/>
          </p:cNvSpPr>
          <p:nvPr>
            <p:ph type="pic" sz="quarter" idx="17"/>
          </p:nvPr>
        </p:nvSpPr>
        <p:spPr>
          <a:xfrm>
            <a:off x="8127466" y="4092575"/>
            <a:ext cx="1162207" cy="1162049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  <p:sp>
        <p:nvSpPr>
          <p:cNvPr id="18" name="Picture Placeholder 12"/>
          <p:cNvSpPr>
            <a:spLocks noGrp="1"/>
          </p:cNvSpPr>
          <p:nvPr>
            <p:ph type="pic" sz="quarter" idx="18"/>
          </p:nvPr>
        </p:nvSpPr>
        <p:spPr>
          <a:xfrm>
            <a:off x="9893588" y="4092575"/>
            <a:ext cx="1162207" cy="1162049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5FB85-5C0D-4BC5-880B-2628A82A4BC2}" type="datetimeFigureOut">
              <a:rPr lang="en-US" smtClean="0"/>
              <a:t>12/14/2019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89730-4BA7-4A6E-9ADF-70FD5E03A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791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image" Target="../media/image1.tiff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E810AB-2539-4E8B-8837-BB960B89AD40}" type="datetimeFigureOut">
              <a:rPr lang="en-IN" smtClean="0"/>
              <a:t>14-12-2019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EC9E8D-3534-47D0-A42B-D8B354EAE3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6325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04013" y="365127"/>
            <a:ext cx="864978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741DD9-6867-934B-BC8C-1EBCB55A474F}" type="datetimeFigureOut">
              <a:rPr lang="en-US" smtClean="0"/>
              <a:t>12/14/2019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7665AB-7CB1-E644-BF55-A2F21E1A277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0" y="6387839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i="1" dirty="0">
                <a:solidFill>
                  <a:schemeClr val="bg1"/>
                </a:solidFill>
                <a:latin typeface="DIN Alternate" charset="0"/>
                <a:ea typeface="DIN Alternate" charset="0"/>
                <a:cs typeface="DIN Alternate" charset="0"/>
              </a:rPr>
              <a:t>	</a:t>
            </a:r>
            <a:r>
              <a:rPr lang="en-US" sz="2400" i="1" dirty="0">
                <a:solidFill>
                  <a:schemeClr val="bg1"/>
                </a:solidFill>
                <a:latin typeface="DIN Alternate" charset="0"/>
                <a:ea typeface="DIN Alternate" charset="0"/>
                <a:cs typeface="DIN Alternate" charset="0"/>
              </a:rPr>
              <a:t>									</a:t>
            </a:r>
            <a:r>
              <a:rPr lang="en-US" sz="2400" b="1" i="1" dirty="0">
                <a:solidFill>
                  <a:schemeClr val="bg1"/>
                </a:solidFill>
                <a:latin typeface="DIN Alternate" charset="0"/>
                <a:ea typeface="DIN Alternate" charset="0"/>
                <a:cs typeface="DIN Alternate" charset="0"/>
              </a:rPr>
              <a:t>         </a:t>
            </a:r>
            <a:r>
              <a:rPr lang="en-US" sz="1800" b="1" i="1" dirty="0">
                <a:solidFill>
                  <a:schemeClr val="accent5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Courage . Heart</a:t>
            </a:r>
            <a:endParaRPr lang="en-US" sz="1800" b="1" dirty="0">
              <a:solidFill>
                <a:schemeClr val="accent5">
                  <a:lumMod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0" name="Picture 9"/>
          <p:cNvPicPr/>
          <p:nvPr userDrawn="1"/>
        </p:nvPicPr>
        <p:blipFill rotWithShape="1">
          <a:blip r:embed="rId12"/>
          <a:srcRect l="387" t="24976" r="387" b="18736"/>
          <a:stretch/>
        </p:blipFill>
        <p:spPr bwMode="auto">
          <a:xfrm>
            <a:off x="251261" y="69949"/>
            <a:ext cx="1917177" cy="105345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 xmlns=""/>
            </a:ext>
          </a:extLst>
        </p:spPr>
      </p:pic>
    </p:spTree>
    <p:extLst>
      <p:ext uri="{BB962C8B-B14F-4D97-AF65-F5344CB8AC3E}">
        <p14:creationId xmlns:p14="http://schemas.microsoft.com/office/powerpoint/2010/main" val="3250266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DIN Alternate" charset="0"/>
          <a:ea typeface="DIN Alternate" charset="0"/>
          <a:cs typeface="DIN Alternate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600" kern="1200">
          <a:solidFill>
            <a:schemeClr val="tx1"/>
          </a:solidFill>
          <a:latin typeface="DIN Alternate" charset="0"/>
          <a:ea typeface="DIN Alternate" charset="0"/>
          <a:cs typeface="DIN Alternate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DIN Alternate" charset="0"/>
          <a:ea typeface="DIN Alternate" charset="0"/>
          <a:cs typeface="DIN Alternate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DIN Alternate" charset="0"/>
          <a:ea typeface="DIN Alternate" charset="0"/>
          <a:cs typeface="DIN Alternate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DIN Alternate" charset="0"/>
          <a:ea typeface="DIN Alternate" charset="0"/>
          <a:cs typeface="DIN Alternate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DIN Alternate" charset="0"/>
          <a:ea typeface="DIN Alternate" charset="0"/>
          <a:cs typeface="DIN Alternate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81197-4B2F-43E0-BF8B-E19139A56B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3069" y="2243796"/>
            <a:ext cx="9540242" cy="1185204"/>
          </a:xfrm>
        </p:spPr>
        <p:txBody>
          <a:bodyPr>
            <a:noAutofit/>
          </a:bodyPr>
          <a:lstStyle/>
          <a:p>
            <a:pPr algn="l"/>
            <a:r>
              <a:rPr lang="en-IN" sz="3200" b="1" dirty="0"/>
              <a:t>Unshrouding Relevant Information of Financial Products: Do Rules of Thumb Work?</a:t>
            </a:r>
            <a:br>
              <a:rPr lang="en-IN" sz="2400" b="1" dirty="0"/>
            </a:br>
            <a:br>
              <a:rPr lang="en-IN" sz="2400" b="1" dirty="0"/>
            </a:br>
            <a:br>
              <a:rPr lang="en-IN" sz="2400" b="1" dirty="0"/>
            </a:br>
            <a:r>
              <a:rPr lang="en-IN" sz="2400" b="1" dirty="0"/>
              <a:t>Vimal </a:t>
            </a:r>
            <a:r>
              <a:rPr lang="en-IN" sz="2400" b="1" dirty="0" err="1"/>
              <a:t>Balasubramaniam</a:t>
            </a:r>
            <a:r>
              <a:rPr lang="en-IN" sz="2400" b="1" dirty="0"/>
              <a:t>; Olga </a:t>
            </a:r>
            <a:r>
              <a:rPr lang="en-IN" sz="2400" b="1" dirty="0" err="1"/>
              <a:t>Balakina</a:t>
            </a:r>
            <a:r>
              <a:rPr lang="en-IN" sz="2400" b="1" dirty="0"/>
              <a:t>; Aditi </a:t>
            </a:r>
            <a:r>
              <a:rPr lang="en-IN" sz="2400" b="1" dirty="0" err="1"/>
              <a:t>Dimri</a:t>
            </a:r>
            <a:r>
              <a:rPr lang="en-IN" sz="2400" b="1" dirty="0"/>
              <a:t>; Renuka Sane</a:t>
            </a:r>
            <a:endParaRPr lang="en-IN" sz="2400" b="1" dirty="0">
              <a:latin typeface="Ariel"/>
              <a:cs typeface="Ariel"/>
            </a:endParaRPr>
          </a:p>
        </p:txBody>
      </p:sp>
      <p:sp>
        <p:nvSpPr>
          <p:cNvPr id="3" name="AutoShape 4" descr="Image result for kapil dev taking viv richards catch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690661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81197-4B2F-43E0-BF8B-E19139A56B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72938" y="261751"/>
            <a:ext cx="8395063" cy="701955"/>
          </a:xfrm>
        </p:spPr>
        <p:txBody>
          <a:bodyPr/>
          <a:lstStyle/>
          <a:p>
            <a:pPr algn="l"/>
            <a:r>
              <a:rPr lang="en-IN" b="1" dirty="0">
                <a:latin typeface="Ariel"/>
                <a:cs typeface="Ariel"/>
              </a:rPr>
              <a:t>Praises…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1C401B1-E410-47AB-AB81-FA14DF4CAD80}"/>
              </a:ext>
            </a:extLst>
          </p:cNvPr>
          <p:cNvSpPr txBox="1">
            <a:spLocks/>
          </p:cNvSpPr>
          <p:nvPr/>
        </p:nvSpPr>
        <p:spPr>
          <a:xfrm>
            <a:off x="77787" y="844062"/>
            <a:ext cx="12036425" cy="5613009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600" kern="1200">
                <a:solidFill>
                  <a:schemeClr val="tx1"/>
                </a:solidFill>
                <a:latin typeface="DIN Alternate" charset="0"/>
                <a:ea typeface="DIN Alternate" charset="0"/>
                <a:cs typeface="DIN Alternate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DIN Alternate" charset="0"/>
                <a:ea typeface="DIN Alternate" charset="0"/>
                <a:cs typeface="DIN Alternate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DIN Alternate" charset="0"/>
                <a:ea typeface="DIN Alternate" charset="0"/>
                <a:cs typeface="DIN Alternate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DIN Alternate" charset="0"/>
                <a:ea typeface="DIN Alternate" charset="0"/>
                <a:cs typeface="DIN Alternate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DIN Alternate" charset="0"/>
                <a:ea typeface="DIN Alternate" charset="0"/>
                <a:cs typeface="DIN Alternate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IN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el"/>
                <a:ea typeface="DIN Alternate" charset="0"/>
                <a:cs typeface="Ariel"/>
              </a:rPr>
              <a:t>Scope of Financial Mis-selling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IN" sz="2000" dirty="0">
                <a:latin typeface="Ariel"/>
                <a:cs typeface="Ariel"/>
              </a:rPr>
              <a:t>Very Rampant; </a:t>
            </a:r>
            <a:r>
              <a:rPr lang="en-IN" sz="2000" dirty="0" err="1">
                <a:latin typeface="Ariel"/>
                <a:cs typeface="Ariel"/>
              </a:rPr>
              <a:t>Esp</a:t>
            </a:r>
            <a:r>
              <a:rPr lang="en-IN" sz="2000" dirty="0">
                <a:latin typeface="Ariel"/>
                <a:cs typeface="Ariel"/>
              </a:rPr>
              <a:t> in Emerging Economies</a:t>
            </a:r>
            <a:endParaRPr lang="en-IN" sz="1600" dirty="0">
              <a:latin typeface="Ariel"/>
              <a:cs typeface="Ariel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IN" sz="2000" dirty="0">
                <a:latin typeface="Ariel"/>
                <a:cs typeface="Ariel"/>
              </a:rPr>
              <a:t>Right product to test .. Bundled product in Insurance stark example .. 80% of cumulative premiums for these products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el"/>
              <a:ea typeface="DIN Alternate" charset="0"/>
              <a:cs typeface="Ariel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el"/>
              <a:ea typeface="DIN Alternate" charset="0"/>
              <a:cs typeface="Ariel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el"/>
              <a:ea typeface="DIN Alternate" charset="0"/>
              <a:cs typeface="Ariel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endParaRPr lang="en-IN" sz="2000" dirty="0">
              <a:latin typeface="Ariel"/>
              <a:cs typeface="Ariel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el"/>
              <a:ea typeface="DIN Alternate" charset="0"/>
              <a:cs typeface="Ariel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el"/>
              <a:ea typeface="DIN Alternate" charset="0"/>
              <a:cs typeface="Ariel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el"/>
              <a:ea typeface="DIN Alternate" charset="0"/>
              <a:cs typeface="Ariel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el"/>
              <a:ea typeface="DIN Alternate" charset="0"/>
              <a:cs typeface="Ariel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el"/>
              <a:ea typeface="DIN Alternate" charset="0"/>
              <a:cs typeface="Ariel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el"/>
                <a:ea typeface="DIN Alternate" charset="0"/>
                <a:cs typeface="Ariel"/>
              </a:rPr>
              <a:t>Traditional Solutions suggested has</a:t>
            </a:r>
            <a:r>
              <a:rPr kumimoji="0" lang="en-IN" sz="20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el"/>
                <a:ea typeface="DIN Alternate" charset="0"/>
                <a:cs typeface="Ariel"/>
              </a:rPr>
              <a:t> failed t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el"/>
                <a:ea typeface="DIN Alternate" charset="0"/>
                <a:cs typeface="Ariel"/>
              </a:rPr>
              <a:t>o improve the condition – Disclosure; Regulated sales; Improving Financial Literacy; Creation &amp; Supply of unbiased product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IN" sz="2000" dirty="0">
                <a:latin typeface="Ariel"/>
                <a:cs typeface="Ariel"/>
              </a:rPr>
              <a:t>P</a:t>
            </a: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el"/>
                <a:ea typeface="DIN Alternate" charset="0"/>
                <a:cs typeface="Ariel"/>
              </a:rPr>
              <a:t>rimarily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el"/>
                <a:ea typeface="DIN Alternate" charset="0"/>
                <a:cs typeface="Ariel"/>
              </a:rPr>
              <a:t> because consumers of financial product tend not to know what they don’t know/constraints; basic finance literacy doesn't directly help in decision making</a:t>
            </a:r>
          </a:p>
        </p:txBody>
      </p:sp>
      <p:sp>
        <p:nvSpPr>
          <p:cNvPr id="3" name="AutoShape 4" descr="Image result for kapil dev taking viv richards catch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66B37A-8C31-40B2-B231-8E680D4602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5114" y="2236403"/>
            <a:ext cx="6441770" cy="2828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590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81197-4B2F-43E0-BF8B-E19139A56B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72938" y="261751"/>
            <a:ext cx="8395063" cy="701955"/>
          </a:xfrm>
        </p:spPr>
        <p:txBody>
          <a:bodyPr/>
          <a:lstStyle/>
          <a:p>
            <a:pPr algn="l"/>
            <a:r>
              <a:rPr lang="en-IN" b="1" dirty="0">
                <a:latin typeface="Ariel"/>
                <a:cs typeface="Ariel"/>
              </a:rPr>
              <a:t>Praises…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1C401B1-E410-47AB-AB81-FA14DF4CAD80}"/>
              </a:ext>
            </a:extLst>
          </p:cNvPr>
          <p:cNvSpPr txBox="1">
            <a:spLocks/>
          </p:cNvSpPr>
          <p:nvPr/>
        </p:nvSpPr>
        <p:spPr>
          <a:xfrm>
            <a:off x="155576" y="963707"/>
            <a:ext cx="11886370" cy="5423026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600" kern="1200">
                <a:solidFill>
                  <a:schemeClr val="tx1"/>
                </a:solidFill>
                <a:latin typeface="DIN Alternate" charset="0"/>
                <a:ea typeface="DIN Alternate" charset="0"/>
                <a:cs typeface="DIN Alternate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DIN Alternate" charset="0"/>
                <a:ea typeface="DIN Alternate" charset="0"/>
                <a:cs typeface="DIN Alternate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DIN Alternate" charset="0"/>
                <a:ea typeface="DIN Alternate" charset="0"/>
                <a:cs typeface="DIN Alternate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DIN Alternate" charset="0"/>
                <a:ea typeface="DIN Alternate" charset="0"/>
                <a:cs typeface="DIN Alternate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DIN Alternate" charset="0"/>
                <a:ea typeface="DIN Alternate" charset="0"/>
                <a:cs typeface="DIN Alternate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IN" b="1" noProof="0" dirty="0">
                <a:latin typeface="Ariel"/>
                <a:cs typeface="Ariel"/>
              </a:rPr>
              <a:t> Educating on “simple heuristic based rules” </a:t>
            </a:r>
            <a:r>
              <a:rPr lang="en-IN" b="1" dirty="0">
                <a:latin typeface="Ariel"/>
                <a:cs typeface="Ariel"/>
              </a:rPr>
              <a:t>approach</a:t>
            </a:r>
            <a:r>
              <a:rPr lang="en-IN" b="1" noProof="0" dirty="0">
                <a:latin typeface="Ariel"/>
                <a:cs typeface="Ariel"/>
              </a:rPr>
              <a:t>?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IN" sz="2000" noProof="0" dirty="0">
                <a:latin typeface="Ariel"/>
                <a:cs typeface="Ariel"/>
              </a:rPr>
              <a:t>For all the financial theories, sophisticated investors also depend rule of thumb; Starting from projected returns/discount rate…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IN" sz="2000" dirty="0">
                <a:latin typeface="Ariel"/>
                <a:cs typeface="Ariel"/>
              </a:rPr>
              <a:t>Need of simplify financial literacy seems to be accepted largely.. How to make it happen we aren’t sure</a:t>
            </a:r>
            <a:r>
              <a:rPr kumimoji="0" lang="en-IN" sz="20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el"/>
                <a:ea typeface="DIN Alternate" charset="0"/>
                <a:cs typeface="Ariel"/>
              </a:rPr>
              <a:t>	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kumimoji="0" lang="en-IN" sz="22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el"/>
                <a:ea typeface="DIN Alternate" charset="0"/>
                <a:cs typeface="Ariel"/>
              </a:rPr>
              <a:t>No Theory working .. RCT to the rescue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sz="2200" baseline="0" dirty="0">
                <a:latin typeface="Ariel"/>
                <a:cs typeface="Ariel"/>
              </a:rPr>
              <a:t>RCT </a:t>
            </a:r>
            <a:r>
              <a:rPr lang="en-IN" sz="2200" baseline="0" dirty="0" err="1">
                <a:latin typeface="Ariel"/>
                <a:cs typeface="Ariel"/>
              </a:rPr>
              <a:t>esp</a:t>
            </a:r>
            <a:r>
              <a:rPr lang="en-IN" sz="2200" baseline="0" dirty="0">
                <a:latin typeface="Ariel"/>
                <a:cs typeface="Ariel"/>
              </a:rPr>
              <a:t> has been </a:t>
            </a:r>
            <a:r>
              <a:rPr lang="en-US" sz="2200" dirty="0">
                <a:latin typeface="Ariel"/>
                <a:cs typeface="Ariel"/>
              </a:rPr>
              <a:t>used in evaluating a number of educational interventions since 1980, well established in area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el"/>
                <a:ea typeface="DIN Alternate" charset="0"/>
                <a:cs typeface="Ariel"/>
              </a:rPr>
              <a:t>Findings show increase</a:t>
            </a:r>
            <a:r>
              <a:rPr kumimoji="0" lang="en-US" sz="22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el"/>
                <a:ea typeface="DIN Alternate" charset="0"/>
                <a:cs typeface="Ariel"/>
              </a:rPr>
              <a:t> in “right decision”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000" dirty="0">
                <a:latin typeface="Ariel"/>
                <a:cs typeface="Ariel"/>
              </a:rPr>
              <a:t>Vis-à-vis literature finding interventions to improve financial literacy explaining only 0.1% of the variance in financial behaviors studied</a:t>
            </a:r>
            <a:endParaRPr kumimoji="0" lang="en-US" sz="2000" b="0" i="0" u="none" strike="noStrike" kern="120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el"/>
              <a:ea typeface="DIN Alternate" charset="0"/>
              <a:cs typeface="Ariel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endParaRPr kumimoji="0" lang="en-US" sz="2000" b="0" i="0" u="none" strike="noStrike" kern="120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el"/>
              <a:ea typeface="DIN Alternate" charset="0"/>
              <a:cs typeface="Ariel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kumimoji="0" lang="en-US" sz="22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el"/>
                <a:ea typeface="DIN Alternate" charset="0"/>
                <a:cs typeface="Ariel"/>
              </a:rPr>
              <a:t>Can piggyback on Fintech revolution.. </a:t>
            </a:r>
            <a:r>
              <a:rPr kumimoji="0" lang="en-US" sz="22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el"/>
                <a:ea typeface="DIN Alternate" charset="0"/>
                <a:cs typeface="Ariel"/>
              </a:rPr>
              <a:t>FinBots</a:t>
            </a:r>
            <a:endParaRPr kumimoji="0" lang="en-US" sz="2200" b="0" i="0" u="none" strike="noStrike" kern="120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el"/>
              <a:ea typeface="DIN Alternate" charset="0"/>
              <a:cs typeface="Ariel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000" baseline="0" dirty="0">
                <a:latin typeface="Ariel"/>
                <a:cs typeface="Ariel"/>
              </a:rPr>
              <a:t>Fintech has also brought the need, rapidly linking masses/less financially sophisticated investors to financial product</a:t>
            </a: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el"/>
              <a:ea typeface="DIN Alternate" charset="0"/>
              <a:cs typeface="Ariel"/>
            </a:endParaRPr>
          </a:p>
        </p:txBody>
      </p:sp>
      <p:sp>
        <p:nvSpPr>
          <p:cNvPr id="3" name="AutoShape 4" descr="Image result for kapil dev taking viv richards catch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426129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81197-4B2F-43E0-BF8B-E19139A56B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72938" y="261751"/>
            <a:ext cx="8395063" cy="701955"/>
          </a:xfrm>
        </p:spPr>
        <p:txBody>
          <a:bodyPr/>
          <a:lstStyle/>
          <a:p>
            <a:pPr algn="l"/>
            <a:r>
              <a:rPr lang="en-IN" b="1" dirty="0">
                <a:latin typeface="Ariel"/>
                <a:cs typeface="Ariel"/>
              </a:rPr>
              <a:t>Some Concerns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1C401B1-E410-47AB-AB81-FA14DF4CAD80}"/>
              </a:ext>
            </a:extLst>
          </p:cNvPr>
          <p:cNvSpPr txBox="1">
            <a:spLocks/>
          </p:cNvSpPr>
          <p:nvPr/>
        </p:nvSpPr>
        <p:spPr>
          <a:xfrm>
            <a:off x="189958" y="1154780"/>
            <a:ext cx="11567254" cy="5317737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600" kern="1200">
                <a:solidFill>
                  <a:schemeClr val="tx1"/>
                </a:solidFill>
                <a:latin typeface="DIN Alternate" charset="0"/>
                <a:ea typeface="DIN Alternate" charset="0"/>
                <a:cs typeface="DIN Alternate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DIN Alternate" charset="0"/>
                <a:ea typeface="DIN Alternate" charset="0"/>
                <a:cs typeface="DIN Alternate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DIN Alternate" charset="0"/>
                <a:ea typeface="DIN Alternate" charset="0"/>
                <a:cs typeface="DIN Alternate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DIN Alternate" charset="0"/>
                <a:ea typeface="DIN Alternate" charset="0"/>
                <a:cs typeface="DIN Alternate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DIN Alternate" charset="0"/>
                <a:ea typeface="DIN Alternate" charset="0"/>
                <a:cs typeface="DIN Alternate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IN" dirty="0">
                <a:latin typeface="Ariel"/>
                <a:cs typeface="Ariel"/>
              </a:rPr>
              <a:t>4 aspects of Financial Literacy suggested: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defRPr/>
            </a:pPr>
            <a:r>
              <a:rPr lang="en-IN" dirty="0">
                <a:latin typeface="Ariel"/>
                <a:cs typeface="Ariel"/>
              </a:rPr>
              <a:t>Instrument Specific Literacy vs General Literacy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defRPr/>
            </a:pPr>
            <a:r>
              <a:rPr lang="en-IN" dirty="0">
                <a:latin typeface="Ariel"/>
                <a:cs typeface="Ariel"/>
              </a:rPr>
              <a:t>Financial Literacy to avoid big mistakes rather than assist in best possible choice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defRPr/>
            </a:pPr>
            <a:r>
              <a:rPr lang="en-IN" dirty="0">
                <a:latin typeface="Ariel"/>
                <a:cs typeface="Ariel"/>
              </a:rPr>
              <a:t>Focussed on Simple Heuristics  (Lit)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defRPr/>
            </a:pPr>
            <a:r>
              <a:rPr lang="en-IN" dirty="0">
                <a:latin typeface="Ariel"/>
                <a:cs typeface="Ariel"/>
              </a:rPr>
              <a:t>Ideally reached at time of sale (Lit)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defRPr/>
            </a:pPr>
            <a:endParaRPr lang="en-IN" dirty="0">
              <a:latin typeface="Ariel"/>
              <a:cs typeface="Ariel"/>
            </a:endParaRPr>
          </a:p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en-IN" dirty="0">
                <a:latin typeface="Ariel"/>
                <a:cs typeface="Ariel"/>
              </a:rPr>
              <a:t>Looking for angel??.. 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defRPr/>
            </a:pPr>
            <a:r>
              <a:rPr lang="en-IN" dirty="0">
                <a:latin typeface="Ariel"/>
                <a:cs typeface="Ariel"/>
              </a:rPr>
              <a:t>Correct content, with Rule of Thumb approach, delivered in short videos at the time of sale..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defRPr/>
            </a:pPr>
            <a:r>
              <a:rPr lang="en-IN" dirty="0">
                <a:latin typeface="Ariel"/>
                <a:cs typeface="Ariel"/>
              </a:rPr>
              <a:t>May not be an impossibility with FinTech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defRPr/>
            </a:pPr>
            <a:r>
              <a:rPr lang="en-IN" dirty="0">
                <a:latin typeface="Ariel"/>
                <a:cs typeface="Ariel"/>
              </a:rPr>
              <a:t>Still… the timing.. Literature establishes memory constraint in financial information</a:t>
            </a:r>
          </a:p>
          <a:p>
            <a:pPr>
              <a:lnSpc>
                <a:spcPct val="120000"/>
              </a:lnSpc>
              <a:spcBef>
                <a:spcPts val="0"/>
              </a:spcBef>
              <a:defRPr/>
            </a:pPr>
            <a:endParaRPr lang="en-IN" dirty="0">
              <a:latin typeface="Ariel"/>
              <a:cs typeface="Ariel"/>
            </a:endParaRPr>
          </a:p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en-IN" dirty="0">
                <a:latin typeface="Ariel"/>
                <a:cs typeface="Ariel"/>
              </a:rPr>
              <a:t>Improvement in choice, but Limited Impact in information ex Bonus returns and inflation consideration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lang="en-IN" dirty="0">
              <a:latin typeface="Ariel"/>
              <a:cs typeface="Ariel"/>
            </a:endParaRPr>
          </a:p>
        </p:txBody>
      </p:sp>
      <p:sp>
        <p:nvSpPr>
          <p:cNvPr id="3" name="AutoShape 4" descr="Image result for kapil dev taking viv richards catch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685033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81197-4B2F-43E0-BF8B-E19139A56B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72938" y="261751"/>
            <a:ext cx="8395063" cy="701955"/>
          </a:xfrm>
        </p:spPr>
        <p:txBody>
          <a:bodyPr/>
          <a:lstStyle/>
          <a:p>
            <a:pPr algn="l"/>
            <a:r>
              <a:rPr lang="en-IN" b="1" dirty="0">
                <a:latin typeface="Ariel"/>
                <a:cs typeface="Ariel"/>
              </a:rPr>
              <a:t>Some Concerns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1C401B1-E410-47AB-AB81-FA14DF4CAD80}"/>
              </a:ext>
            </a:extLst>
          </p:cNvPr>
          <p:cNvSpPr txBox="1">
            <a:spLocks/>
          </p:cNvSpPr>
          <p:nvPr/>
        </p:nvSpPr>
        <p:spPr>
          <a:xfrm>
            <a:off x="189958" y="1154781"/>
            <a:ext cx="11567254" cy="495059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600" kern="1200">
                <a:solidFill>
                  <a:schemeClr val="tx1"/>
                </a:solidFill>
                <a:latin typeface="DIN Alternate" charset="0"/>
                <a:ea typeface="DIN Alternate" charset="0"/>
                <a:cs typeface="DIN Alternate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DIN Alternate" charset="0"/>
                <a:ea typeface="DIN Alternate" charset="0"/>
                <a:cs typeface="DIN Alternate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DIN Alternate" charset="0"/>
                <a:ea typeface="DIN Alternate" charset="0"/>
                <a:cs typeface="DIN Alternate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DIN Alternate" charset="0"/>
                <a:ea typeface="DIN Alternate" charset="0"/>
                <a:cs typeface="DIN Alternate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DIN Alternate" charset="0"/>
                <a:ea typeface="DIN Alternate" charset="0"/>
                <a:cs typeface="DIN Alternate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20000"/>
              </a:lnSpc>
              <a:spcBef>
                <a:spcPts val="0"/>
              </a:spcBef>
              <a:defRPr/>
            </a:pPr>
            <a:r>
              <a:rPr lang="en-IN" dirty="0">
                <a:latin typeface="Ariel"/>
                <a:cs typeface="Ariel"/>
              </a:rPr>
              <a:t>Leveraging supply side part missing</a:t>
            </a:r>
          </a:p>
          <a:p>
            <a:pPr lvl="0">
              <a:lnSpc>
                <a:spcPct val="120000"/>
              </a:lnSpc>
              <a:spcBef>
                <a:spcPts val="0"/>
              </a:spcBef>
              <a:defRPr/>
            </a:pPr>
            <a:endParaRPr lang="en-IN" dirty="0">
              <a:latin typeface="Ariel"/>
              <a:cs typeface="Ariel"/>
            </a:endParaRPr>
          </a:p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en-IN" dirty="0">
                <a:latin typeface="Ariel"/>
                <a:cs typeface="Ariel"/>
              </a:rPr>
              <a:t>That intensity of </a:t>
            </a:r>
            <a:r>
              <a:rPr lang="en-IN" dirty="0" err="1">
                <a:latin typeface="Ariel"/>
                <a:cs typeface="Ariel"/>
              </a:rPr>
              <a:t>misselling</a:t>
            </a:r>
            <a:r>
              <a:rPr lang="en-IN" dirty="0">
                <a:latin typeface="Ariel"/>
                <a:cs typeface="Ariel"/>
              </a:rPr>
              <a:t> is highest in Insurance product, which also has a skewed supply side incentive vis-à-vis other financial product suggest strong role of sellers and their incentive </a:t>
            </a:r>
          </a:p>
          <a:p>
            <a:pPr>
              <a:lnSpc>
                <a:spcPct val="120000"/>
              </a:lnSpc>
              <a:spcBef>
                <a:spcPts val="0"/>
              </a:spcBef>
              <a:defRPr/>
            </a:pPr>
            <a:endParaRPr lang="en-IN" dirty="0">
              <a:latin typeface="Ariel"/>
              <a:cs typeface="Ariel"/>
            </a:endParaRPr>
          </a:p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en-IN" dirty="0">
                <a:latin typeface="Ariel"/>
                <a:cs typeface="Ariel"/>
              </a:rPr>
              <a:t>Short videos to be done prior to sales, forced through regulation? Suppliers best placed for timing</a:t>
            </a:r>
          </a:p>
          <a:p>
            <a:pPr>
              <a:lnSpc>
                <a:spcPct val="120000"/>
              </a:lnSpc>
              <a:spcBef>
                <a:spcPts val="0"/>
              </a:spcBef>
              <a:defRPr/>
            </a:pPr>
            <a:endParaRPr lang="en-IN" dirty="0">
              <a:latin typeface="Ariel"/>
              <a:cs typeface="Ariel"/>
            </a:endParaRPr>
          </a:p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en-IN" dirty="0">
                <a:latin typeface="Ariel"/>
                <a:cs typeface="Ariel"/>
              </a:rPr>
              <a:t>Standard videos for products to be built</a:t>
            </a:r>
          </a:p>
          <a:p>
            <a:pPr lvl="2">
              <a:lnSpc>
                <a:spcPct val="120000"/>
              </a:lnSpc>
              <a:spcBef>
                <a:spcPts val="0"/>
              </a:spcBef>
              <a:defRPr/>
            </a:pPr>
            <a:endParaRPr lang="en-IN" dirty="0">
              <a:latin typeface="Ariel"/>
              <a:cs typeface="Ariel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  <a:defRPr/>
            </a:pPr>
            <a:endParaRPr lang="en-IN" dirty="0">
              <a:latin typeface="Ariel"/>
              <a:cs typeface="Ariel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lang="en-IN" dirty="0">
              <a:latin typeface="Ariel"/>
              <a:cs typeface="Ariel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lang="en-IN" dirty="0">
              <a:latin typeface="Ariel"/>
              <a:cs typeface="Ariel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IN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el"/>
              <a:ea typeface="DIN Alternate" charset="0"/>
              <a:cs typeface="Ariel"/>
            </a:endParaRPr>
          </a:p>
        </p:txBody>
      </p:sp>
      <p:sp>
        <p:nvSpPr>
          <p:cNvPr id="3" name="AutoShape 4" descr="Image result for kapil dev taking viv richards catch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280503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81197-4B2F-43E0-BF8B-E19139A56B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72938" y="261751"/>
            <a:ext cx="8395063" cy="701955"/>
          </a:xfrm>
        </p:spPr>
        <p:txBody>
          <a:bodyPr/>
          <a:lstStyle/>
          <a:p>
            <a:pPr algn="l"/>
            <a:r>
              <a:rPr lang="en-IN" b="1" dirty="0">
                <a:latin typeface="Ariel"/>
                <a:cs typeface="Ariel"/>
              </a:rPr>
              <a:t>Some Concerns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1C401B1-E410-47AB-AB81-FA14DF4CAD80}"/>
              </a:ext>
            </a:extLst>
          </p:cNvPr>
          <p:cNvSpPr txBox="1">
            <a:spLocks/>
          </p:cNvSpPr>
          <p:nvPr/>
        </p:nvSpPr>
        <p:spPr>
          <a:xfrm>
            <a:off x="189958" y="1154781"/>
            <a:ext cx="11567254" cy="495059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600" kern="1200">
                <a:solidFill>
                  <a:schemeClr val="tx1"/>
                </a:solidFill>
                <a:latin typeface="DIN Alternate" charset="0"/>
                <a:ea typeface="DIN Alternate" charset="0"/>
                <a:cs typeface="DIN Alternate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DIN Alternate" charset="0"/>
                <a:ea typeface="DIN Alternate" charset="0"/>
                <a:cs typeface="DIN Alternate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DIN Alternate" charset="0"/>
                <a:ea typeface="DIN Alternate" charset="0"/>
                <a:cs typeface="DIN Alternate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DIN Alternate" charset="0"/>
                <a:ea typeface="DIN Alternate" charset="0"/>
                <a:cs typeface="DIN Alternate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DIN Alternate" charset="0"/>
                <a:ea typeface="DIN Alternate" charset="0"/>
                <a:cs typeface="DIN Alternate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20000"/>
              </a:lnSpc>
              <a:spcBef>
                <a:spcPts val="0"/>
              </a:spcBef>
              <a:defRPr/>
            </a:pPr>
            <a:r>
              <a:rPr lang="en-IN" dirty="0">
                <a:latin typeface="Ariel"/>
                <a:cs typeface="Ariel"/>
              </a:rPr>
              <a:t>Pedagogic Study?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defRPr/>
            </a:pPr>
            <a:r>
              <a:rPr lang="en-IN" dirty="0">
                <a:latin typeface="Ariel"/>
                <a:cs typeface="Ariel"/>
              </a:rPr>
              <a:t>What is meant by Rule of Thumb? How to design? Can it be made more effective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defRPr/>
            </a:pPr>
            <a:r>
              <a:rPr lang="en-IN" dirty="0">
                <a:latin typeface="Ariel"/>
                <a:cs typeface="Ariel"/>
              </a:rPr>
              <a:t>Maybe sets of Rule of Thumbs should be tried.. What should go in what should not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defRPr/>
            </a:pPr>
            <a:r>
              <a:rPr lang="en-IN" dirty="0">
                <a:latin typeface="Ariel"/>
                <a:cs typeface="Ariel"/>
              </a:rPr>
              <a:t>Would have loved to see Rule of thumbs and their designing used in experiment 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defRPr/>
            </a:pPr>
            <a:endParaRPr lang="en-IN" dirty="0">
              <a:latin typeface="Ariel"/>
              <a:cs typeface="Ariel"/>
            </a:endParaRPr>
          </a:p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en-IN" dirty="0">
                <a:latin typeface="Ariel"/>
                <a:cs typeface="Ariel"/>
              </a:rPr>
              <a:t>Some in Methodology..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defRPr/>
            </a:pPr>
            <a:r>
              <a:rPr lang="en-IN" dirty="0">
                <a:latin typeface="Ariel"/>
                <a:cs typeface="Ariel"/>
              </a:rPr>
              <a:t>RCT … 1 experiment…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defRPr/>
            </a:pPr>
            <a:r>
              <a:rPr lang="en-IN" dirty="0">
                <a:latin typeface="Ariel"/>
                <a:cs typeface="Ariel"/>
              </a:rPr>
              <a:t>Phone Survey only for Term…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defRPr/>
            </a:pPr>
            <a:r>
              <a:rPr lang="en-IN" dirty="0">
                <a:latin typeface="Ariel"/>
                <a:cs typeface="Ariel"/>
              </a:rPr>
              <a:t>Clearly conveyed which product is better: Rote learning possibility &amp; value .. Two month experiment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lang="en-IN" dirty="0">
              <a:latin typeface="Ariel"/>
              <a:cs typeface="Ariel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lang="en-IN" dirty="0">
              <a:latin typeface="Ariel"/>
              <a:cs typeface="Ariel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IN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el"/>
              <a:ea typeface="DIN Alternate" charset="0"/>
              <a:cs typeface="Ariel"/>
            </a:endParaRPr>
          </a:p>
        </p:txBody>
      </p:sp>
      <p:sp>
        <p:nvSpPr>
          <p:cNvPr id="3" name="AutoShape 4" descr="Image result for kapil dev taking viv richards catch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618190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851</TotalTime>
  <Words>498</Words>
  <Application>Microsoft Office PowerPoint</Application>
  <PresentationFormat>Widescreen</PresentationFormat>
  <Paragraphs>65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Ariel</vt:lpstr>
      <vt:lpstr>Calibri</vt:lpstr>
      <vt:lpstr>Calibri Light</vt:lpstr>
      <vt:lpstr>DIN Alternate</vt:lpstr>
      <vt:lpstr>Office Theme</vt:lpstr>
      <vt:lpstr>1_Office Theme</vt:lpstr>
      <vt:lpstr>Unshrouding Relevant Information of Financial Products: Do Rules of Thumb Work?   Vimal Balasubramaniam; Olga Balakina; Aditi Dimri; Renuka Sane</vt:lpstr>
      <vt:lpstr>Praises…</vt:lpstr>
      <vt:lpstr>Praises…</vt:lpstr>
      <vt:lpstr>Some Concerns </vt:lpstr>
      <vt:lpstr>Some Concerns </vt:lpstr>
      <vt:lpstr>Some Concerns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</dc:title>
  <dc:creator>Vidhu Shekhar</dc:creator>
  <cp:lastModifiedBy>Vidhu Shekhar</cp:lastModifiedBy>
  <cp:revision>26</cp:revision>
  <dcterms:created xsi:type="dcterms:W3CDTF">2019-09-21T01:31:39Z</dcterms:created>
  <dcterms:modified xsi:type="dcterms:W3CDTF">2019-12-14T05:50:41Z</dcterms:modified>
</cp:coreProperties>
</file>