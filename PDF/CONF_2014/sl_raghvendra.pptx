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39"/>
  </p:notesMasterIdLst>
  <p:handoutMasterIdLst>
    <p:handoutMasterId r:id="rId40"/>
  </p:handoutMasterIdLst>
  <p:sldIdLst>
    <p:sldId id="270" r:id="rId6"/>
    <p:sldId id="272" r:id="rId7"/>
    <p:sldId id="273" r:id="rId8"/>
    <p:sldId id="297" r:id="rId9"/>
    <p:sldId id="274" r:id="rId10"/>
    <p:sldId id="275" r:id="rId11"/>
    <p:sldId id="276" r:id="rId12"/>
    <p:sldId id="277" r:id="rId13"/>
    <p:sldId id="279" r:id="rId14"/>
    <p:sldId id="278" r:id="rId15"/>
    <p:sldId id="280" r:id="rId16"/>
    <p:sldId id="281" r:id="rId17"/>
    <p:sldId id="282" r:id="rId18"/>
    <p:sldId id="298" r:id="rId19"/>
    <p:sldId id="299" r:id="rId20"/>
    <p:sldId id="300" r:id="rId21"/>
    <p:sldId id="301" r:id="rId22"/>
    <p:sldId id="302" r:id="rId23"/>
    <p:sldId id="303" r:id="rId24"/>
    <p:sldId id="304" r:id="rId25"/>
    <p:sldId id="305" r:id="rId26"/>
    <p:sldId id="306" r:id="rId27"/>
    <p:sldId id="307" r:id="rId28"/>
    <p:sldId id="308" r:id="rId29"/>
    <p:sldId id="309" r:id="rId30"/>
    <p:sldId id="285" r:id="rId31"/>
    <p:sldId id="286" r:id="rId32"/>
    <p:sldId id="287" r:id="rId33"/>
    <p:sldId id="310" r:id="rId34"/>
    <p:sldId id="289" r:id="rId35"/>
    <p:sldId id="311" r:id="rId36"/>
    <p:sldId id="312" r:id="rId37"/>
    <p:sldId id="295" r:id="rId38"/>
  </p:sldIdLst>
  <p:sldSz cx="9144000" cy="6858000" type="screen4x3"/>
  <p:notesSz cx="6858000" cy="9144000"/>
  <p:custDataLst>
    <p:tags r:id="rId41"/>
  </p:custDataLst>
  <p:defaultTextStyle>
    <a:defPPr>
      <a:defRPr lang="en-GB"/>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5091CD"/>
    <a:srgbClr val="008FB5"/>
    <a:srgbClr val="D29647"/>
    <a:srgbClr val="9F2015"/>
    <a:srgbClr val="005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452" autoAdjust="0"/>
  </p:normalViewPr>
  <p:slideViewPr>
    <p:cSldViewPr showGuides="1">
      <p:cViewPr varScale="1">
        <p:scale>
          <a:sx n="132" d="100"/>
          <a:sy n="132" d="100"/>
        </p:scale>
        <p:origin x="-662" y="-91"/>
      </p:cViewPr>
      <p:guideLst>
        <p:guide orient="horz" pos="2160"/>
        <p:guide orient="horz" pos="1071"/>
        <p:guide pos="2880"/>
        <p:guide pos="587"/>
        <p:guide pos="524"/>
        <p:guide pos="5237"/>
        <p:guide pos="5173"/>
      </p:guideLst>
    </p:cSldViewPr>
  </p:slideViewPr>
  <p:notesTextViewPr>
    <p:cViewPr>
      <p:scale>
        <a:sx n="100" d="100"/>
        <a:sy n="100" d="100"/>
      </p:scale>
      <p:origin x="0" y="0"/>
    </p:cViewPr>
  </p:notesTextViewPr>
  <p:sorterViewPr>
    <p:cViewPr>
      <p:scale>
        <a:sx n="120" d="100"/>
        <a:sy n="120" d="100"/>
      </p:scale>
      <p:origin x="0" y="259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702D4A9-D56A-4278-A413-0F8C8A679D45}" type="slidenum">
              <a:rPr lang="en-US" smtClean="0"/>
              <a:t>‹#›</a:t>
            </a:fld>
            <a:endParaRPr lang="en-US"/>
          </a:p>
        </p:txBody>
      </p:sp>
    </p:spTree>
    <p:extLst>
      <p:ext uri="{BB962C8B-B14F-4D97-AF65-F5344CB8AC3E}">
        <p14:creationId xmlns:p14="http://schemas.microsoft.com/office/powerpoint/2010/main" val="3718163775"/>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CF5F55-DD25-4F13-924F-04E94422FE9C}" type="slidenum">
              <a:rPr lang="en-GB" smtClean="0"/>
              <a:pPr/>
              <a:t>‹#›</a:t>
            </a:fld>
            <a:endParaRPr lang="en-GB"/>
          </a:p>
        </p:txBody>
      </p:sp>
    </p:spTree>
    <p:extLst>
      <p:ext uri="{BB962C8B-B14F-4D97-AF65-F5344CB8AC3E}">
        <p14:creationId xmlns:p14="http://schemas.microsoft.com/office/powerpoint/2010/main" val="2899237250"/>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Opening slide 1">
    <p:spTree>
      <p:nvGrpSpPr>
        <p:cNvPr id="1" name=""/>
        <p:cNvGrpSpPr/>
        <p:nvPr/>
      </p:nvGrpSpPr>
      <p:grpSpPr>
        <a:xfrm>
          <a:off x="0" y="0"/>
          <a:ext cx="0" cy="0"/>
          <a:chOff x="0" y="0"/>
          <a:chExt cx="0" cy="0"/>
        </a:xfrm>
      </p:grpSpPr>
      <p:pic>
        <p:nvPicPr>
          <p:cNvPr id="13" name="Picture 3" descr="C:\Users\Duncan\Desktop\UoC-JBS-logo-CMYK.png"/>
          <p:cNvPicPr>
            <a:picLocks noChangeAspect="1" noChangeArrowheads="1"/>
          </p:cNvPicPr>
          <p:nvPr userDrawn="1"/>
        </p:nvPicPr>
        <p:blipFill>
          <a:blip r:embed="rId2" cstate="print"/>
          <a:srcRect/>
          <a:stretch>
            <a:fillRect/>
          </a:stretch>
        </p:blipFill>
        <p:spPr bwMode="auto">
          <a:xfrm>
            <a:off x="395536" y="5904981"/>
            <a:ext cx="2232248" cy="692371"/>
          </a:xfrm>
          <a:prstGeom prst="rect">
            <a:avLst/>
          </a:prstGeom>
          <a:noFill/>
        </p:spPr>
      </p:pic>
      <p:sp>
        <p:nvSpPr>
          <p:cNvPr id="14" name="Rectangle 3"/>
          <p:cNvSpPr>
            <a:spLocks noGrp="1" noChangeArrowheads="1"/>
          </p:cNvSpPr>
          <p:nvPr>
            <p:ph type="subTitle" idx="1"/>
          </p:nvPr>
        </p:nvSpPr>
        <p:spPr>
          <a:xfrm>
            <a:off x="827584" y="4293096"/>
            <a:ext cx="7478712" cy="852496"/>
          </a:xfrm>
          <a:noFill/>
        </p:spPr>
        <p:txBody>
          <a:bodyPr/>
          <a:lstStyle>
            <a:lvl1pPr algn="l" defTabSz="457200" rtl="0" fontAlgn="base">
              <a:spcBef>
                <a:spcPct val="0"/>
              </a:spcBef>
              <a:spcAft>
                <a:spcPct val="0"/>
              </a:spcAft>
              <a:defRPr lang="en-GB" sz="2700" b="0" dirty="0">
                <a:solidFill>
                  <a:schemeClr val="accent1"/>
                </a:solidFill>
                <a:latin typeface="Calibri" pitchFamily="34" charset="0"/>
                <a:ea typeface="+mj-ea"/>
                <a:cs typeface="+mj-cs"/>
              </a:defRPr>
            </a:lvl1pPr>
          </a:lstStyle>
          <a:p>
            <a:r>
              <a:rPr lang="en-US" smtClean="0"/>
              <a:t>Click to edit Master subtitle style</a:t>
            </a:r>
            <a:endParaRPr lang="en-GB" dirty="0"/>
          </a:p>
        </p:txBody>
      </p:sp>
      <p:sp>
        <p:nvSpPr>
          <p:cNvPr id="15" name="Rectangle 2"/>
          <p:cNvSpPr>
            <a:spLocks noGrp="1" noChangeArrowheads="1"/>
          </p:cNvSpPr>
          <p:nvPr>
            <p:ph type="ctrTitle"/>
          </p:nvPr>
        </p:nvSpPr>
        <p:spPr>
          <a:xfrm>
            <a:off x="827584" y="3789040"/>
            <a:ext cx="7477125" cy="504000"/>
          </a:xfrm>
        </p:spPr>
        <p:txBody>
          <a:bodyPr/>
          <a:lstStyle>
            <a:lvl1pPr>
              <a:defRPr>
                <a:solidFill>
                  <a:schemeClr val="accent1"/>
                </a:solidFill>
              </a:defRPr>
            </a:lvl1pPr>
          </a:lstStyle>
          <a:p>
            <a:r>
              <a:rPr lang="en-US" smtClean="0"/>
              <a:t>Click to edit Master title style</a:t>
            </a:r>
            <a:endParaRPr lang="en-GB" dirty="0"/>
          </a:p>
        </p:txBody>
      </p:sp>
      <p:pic>
        <p:nvPicPr>
          <p:cNvPr id="9" name="Picture 2" descr="C:\Users\Duncan\Desktop\building.png"/>
          <p:cNvPicPr>
            <a:picLocks noChangeAspect="1" noChangeArrowheads="1"/>
          </p:cNvPicPr>
          <p:nvPr userDrawn="1"/>
        </p:nvPicPr>
        <p:blipFill>
          <a:blip r:embed="rId3" cstate="print"/>
          <a:srcRect/>
          <a:stretch>
            <a:fillRect/>
          </a:stretch>
        </p:blipFill>
        <p:spPr bwMode="auto">
          <a:xfrm>
            <a:off x="0" y="0"/>
            <a:ext cx="9124950" cy="3467100"/>
          </a:xfrm>
          <a:prstGeom prst="rect">
            <a:avLst/>
          </a:prstGeom>
          <a:noFill/>
        </p:spPr>
      </p:pic>
      <p:sp>
        <p:nvSpPr>
          <p:cNvPr id="12" name="TextBox 11"/>
          <p:cNvSpPr txBox="1"/>
          <p:nvPr userDrawn="1"/>
        </p:nvSpPr>
        <p:spPr>
          <a:xfrm>
            <a:off x="0" y="3284984"/>
            <a:ext cx="9144000" cy="369332"/>
          </a:xfrm>
          <a:prstGeom prst="rect">
            <a:avLst/>
          </a:prstGeom>
          <a:solidFill>
            <a:srgbClr val="5091CD">
              <a:alpha val="35000"/>
            </a:srgbClr>
          </a:solidFill>
        </p:spPr>
        <p:txBody>
          <a:bodyPr wrap="square" rtlCol="0">
            <a:spAutoFit/>
          </a:bodyPr>
          <a:lstStyle/>
          <a:p>
            <a:endParaRPr lang="en-GB"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sp>
        <p:nvSpPr>
          <p:cNvPr id="3079" name="Rectangle 7"/>
          <p:cNvSpPr>
            <a:spLocks noChangeArrowheads="1"/>
          </p:cNvSpPr>
          <p:nvPr userDrawn="1"/>
        </p:nvSpPr>
        <p:spPr bwMode="auto">
          <a:xfrm>
            <a:off x="0" y="1727200"/>
            <a:ext cx="9144000" cy="3790032"/>
          </a:xfrm>
          <a:prstGeom prst="rect">
            <a:avLst/>
          </a:prstGeom>
          <a:solidFill>
            <a:srgbClr val="5091CD"/>
          </a:solidFill>
          <a:ln w="9525">
            <a:noFill/>
            <a:miter lim="800000"/>
            <a:headEnd/>
            <a:tailEnd/>
          </a:ln>
          <a:effectLst/>
        </p:spPr>
        <p:txBody>
          <a:bodyPr wrap="none" anchor="ctr"/>
          <a:lstStyle/>
          <a:p>
            <a:endParaRPr lang="en-GB"/>
          </a:p>
        </p:txBody>
      </p:sp>
      <p:sp>
        <p:nvSpPr>
          <p:cNvPr id="3074" name="Rectangle 2"/>
          <p:cNvSpPr>
            <a:spLocks noGrp="1" noChangeArrowheads="1"/>
          </p:cNvSpPr>
          <p:nvPr>
            <p:ph type="ctrTitle"/>
          </p:nvPr>
        </p:nvSpPr>
        <p:spPr>
          <a:xfrm>
            <a:off x="842400" y="2132856"/>
            <a:ext cx="7477125" cy="1299169"/>
          </a:xfrm>
        </p:spPr>
        <p:txBody>
          <a:bodyPr/>
          <a:lstStyle>
            <a:lvl1pPr>
              <a:defRPr sz="3200"/>
            </a:lvl1pPr>
          </a:lstStyle>
          <a:p>
            <a:r>
              <a:rPr lang="en-US" smtClean="0"/>
              <a:t>Click to edit Master title style</a:t>
            </a:r>
            <a:endParaRPr lang="en-GB" dirty="0"/>
          </a:p>
        </p:txBody>
      </p:sp>
      <p:sp>
        <p:nvSpPr>
          <p:cNvPr id="3075" name="Rectangle 3"/>
          <p:cNvSpPr>
            <a:spLocks noGrp="1" noChangeArrowheads="1"/>
          </p:cNvSpPr>
          <p:nvPr>
            <p:ph type="subTitle" idx="1"/>
          </p:nvPr>
        </p:nvSpPr>
        <p:spPr>
          <a:xfrm>
            <a:off x="838799" y="3501009"/>
            <a:ext cx="7478712" cy="1501366"/>
          </a:xfrm>
        </p:spPr>
        <p:txBody>
          <a:bodyPr/>
          <a:lstStyle>
            <a:lvl1pPr>
              <a:spcAft>
                <a:spcPts val="0"/>
              </a:spcAft>
              <a:defRPr sz="1400">
                <a:solidFill>
                  <a:schemeClr val="bg1"/>
                </a:solidFill>
                <a:ea typeface="ＭＳ Ｐゴシック" pitchFamily="28" charset="-128"/>
                <a:cs typeface="Arial" charset="0"/>
              </a:defRPr>
            </a:lvl1pPr>
          </a:lstStyle>
          <a:p>
            <a:r>
              <a:rPr lang="en-US" smtClean="0"/>
              <a:t>Click to edit Master subtitle style</a:t>
            </a:r>
            <a:endParaRPr lang="en-GB" dirty="0"/>
          </a:p>
        </p:txBody>
      </p:sp>
      <p:sp>
        <p:nvSpPr>
          <p:cNvPr id="3077" name="Rectangle 5"/>
          <p:cNvSpPr>
            <a:spLocks noGrp="1" noChangeArrowheads="1"/>
          </p:cNvSpPr>
          <p:nvPr>
            <p:ph type="ftr" sz="quarter" idx="3"/>
          </p:nvPr>
        </p:nvSpPr>
        <p:spPr>
          <a:xfrm>
            <a:off x="3122613" y="6529388"/>
            <a:ext cx="2895600" cy="233362"/>
          </a:xfrm>
          <a:prstGeom prst="rect">
            <a:avLst/>
          </a:prstGeom>
        </p:spPr>
        <p:txBody>
          <a:bodyPr/>
          <a:lstStyle>
            <a:lvl1pPr>
              <a:defRPr/>
            </a:lvl1pPr>
          </a:lstStyle>
          <a:p>
            <a:endParaRPr lang="en-GB"/>
          </a:p>
        </p:txBody>
      </p:sp>
      <p:sp>
        <p:nvSpPr>
          <p:cNvPr id="3078" name="Rectangle 6"/>
          <p:cNvSpPr>
            <a:spLocks noGrp="1" noChangeArrowheads="1"/>
          </p:cNvSpPr>
          <p:nvPr>
            <p:ph type="sldNum" sz="quarter" idx="4"/>
          </p:nvPr>
        </p:nvSpPr>
        <p:spPr>
          <a:xfrm>
            <a:off x="6183313" y="6529388"/>
            <a:ext cx="2133600" cy="233362"/>
          </a:xfrm>
          <a:prstGeom prst="rect">
            <a:avLst/>
          </a:prstGeom>
        </p:spPr>
        <p:txBody>
          <a:bodyPr/>
          <a:lstStyle>
            <a:lvl1pPr>
              <a:defRPr/>
            </a:lvl1pPr>
          </a:lstStyle>
          <a:p>
            <a:fld id="{09E2F1B0-B29B-438E-8B1E-C4D4C5A0AFC2}" type="slidenum">
              <a:rPr lang="en-GB"/>
              <a:pPr/>
              <a:t>‹#›</a:t>
            </a:fld>
            <a:endParaRPr lang="en-GB"/>
          </a:p>
        </p:txBody>
      </p:sp>
      <p:pic>
        <p:nvPicPr>
          <p:cNvPr id="13" name="Picture 3" descr="C:\Users\Duncan\Desktop\UoC-JBS-logo-CMYK.png"/>
          <p:cNvPicPr>
            <a:picLocks noChangeAspect="1" noChangeArrowheads="1"/>
          </p:cNvPicPr>
          <p:nvPr userDrawn="1"/>
        </p:nvPicPr>
        <p:blipFill>
          <a:blip r:embed="rId2" cstate="print"/>
          <a:srcRect/>
          <a:stretch>
            <a:fillRect/>
          </a:stretch>
        </p:blipFill>
        <p:spPr bwMode="auto">
          <a:xfrm>
            <a:off x="395536" y="5904981"/>
            <a:ext cx="2232248" cy="692371"/>
          </a:xfrm>
          <a:prstGeom prst="rect">
            <a:avLst/>
          </a:prstGeom>
          <a:noFill/>
        </p:spPr>
      </p:pic>
      <p:pic>
        <p:nvPicPr>
          <p:cNvPr id="1029" name="Picture 5" descr="C:\Users\Duncan\Desktop\Untitled-7.png"/>
          <p:cNvPicPr>
            <a:picLocks noChangeAspect="1" noChangeArrowheads="1"/>
          </p:cNvPicPr>
          <p:nvPr userDrawn="1"/>
        </p:nvPicPr>
        <p:blipFill>
          <a:blip r:embed="rId3" cstate="print"/>
          <a:srcRect/>
          <a:stretch>
            <a:fillRect/>
          </a:stretch>
        </p:blipFill>
        <p:spPr bwMode="auto">
          <a:xfrm>
            <a:off x="0" y="0"/>
            <a:ext cx="9144000" cy="1804638"/>
          </a:xfrm>
          <a:prstGeom prst="rect">
            <a:avLst/>
          </a:prstGeom>
          <a:noFill/>
        </p:spPr>
      </p:pic>
      <p:sp>
        <p:nvSpPr>
          <p:cNvPr id="10" name="TextBox 9"/>
          <p:cNvSpPr txBox="1"/>
          <p:nvPr userDrawn="1"/>
        </p:nvSpPr>
        <p:spPr>
          <a:xfrm>
            <a:off x="0" y="1484784"/>
            <a:ext cx="9144000" cy="369332"/>
          </a:xfrm>
          <a:prstGeom prst="rect">
            <a:avLst/>
          </a:prstGeom>
          <a:solidFill>
            <a:srgbClr val="5091CD">
              <a:alpha val="35000"/>
            </a:srgbClr>
          </a:solidFill>
        </p:spPr>
        <p:txBody>
          <a:bodyPr wrap="square" rtlCol="0">
            <a:spAutoFit/>
          </a:bodyPr>
          <a:lstStyle/>
          <a:p>
            <a:endParaRPr lang="en-GB"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3">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42400" y="2852936"/>
            <a:ext cx="7477125" cy="579089"/>
          </a:xfrm>
        </p:spPr>
        <p:txBody>
          <a:bodyPr/>
          <a:lstStyle>
            <a:lvl1pPr>
              <a:defRPr sz="3200">
                <a:solidFill>
                  <a:schemeClr val="tx1"/>
                </a:solidFill>
              </a:defRPr>
            </a:lvl1pPr>
          </a:lstStyle>
          <a:p>
            <a:r>
              <a:rPr lang="en-US" smtClean="0"/>
              <a:t>Click to edit Master title style</a:t>
            </a:r>
            <a:endParaRPr lang="en-GB" dirty="0"/>
          </a:p>
        </p:txBody>
      </p:sp>
      <p:sp>
        <p:nvSpPr>
          <p:cNvPr id="3075" name="Rectangle 3"/>
          <p:cNvSpPr>
            <a:spLocks noGrp="1" noChangeArrowheads="1"/>
          </p:cNvSpPr>
          <p:nvPr>
            <p:ph type="subTitle" idx="1"/>
          </p:nvPr>
        </p:nvSpPr>
        <p:spPr>
          <a:xfrm>
            <a:off x="838799" y="3501009"/>
            <a:ext cx="7478712" cy="1501366"/>
          </a:xfrm>
        </p:spPr>
        <p:txBody>
          <a:bodyPr/>
          <a:lstStyle>
            <a:lvl1pPr>
              <a:spcAft>
                <a:spcPts val="0"/>
              </a:spcAft>
              <a:defRPr sz="1400">
                <a:solidFill>
                  <a:schemeClr val="tx1"/>
                </a:solidFill>
                <a:ea typeface="ＭＳ Ｐゴシック" pitchFamily="28" charset="-128"/>
                <a:cs typeface="Arial" charset="0"/>
              </a:defRPr>
            </a:lvl1pPr>
          </a:lstStyle>
          <a:p>
            <a:r>
              <a:rPr lang="en-US" smtClean="0"/>
              <a:t>Click to edit Master subtitle style</a:t>
            </a:r>
            <a:endParaRPr lang="en-GB" dirty="0"/>
          </a:p>
        </p:txBody>
      </p:sp>
      <p:sp>
        <p:nvSpPr>
          <p:cNvPr id="3077" name="Rectangle 5"/>
          <p:cNvSpPr>
            <a:spLocks noGrp="1" noChangeArrowheads="1"/>
          </p:cNvSpPr>
          <p:nvPr>
            <p:ph type="ftr" sz="quarter" idx="3"/>
          </p:nvPr>
        </p:nvSpPr>
        <p:spPr>
          <a:xfrm>
            <a:off x="3122613" y="6529388"/>
            <a:ext cx="2895600" cy="233362"/>
          </a:xfrm>
          <a:prstGeom prst="rect">
            <a:avLst/>
          </a:prstGeom>
        </p:spPr>
        <p:txBody>
          <a:bodyPr/>
          <a:lstStyle>
            <a:lvl1pPr>
              <a:defRPr/>
            </a:lvl1pPr>
          </a:lstStyle>
          <a:p>
            <a:endParaRPr lang="en-GB"/>
          </a:p>
        </p:txBody>
      </p:sp>
      <p:sp>
        <p:nvSpPr>
          <p:cNvPr id="3078" name="Rectangle 6"/>
          <p:cNvSpPr>
            <a:spLocks noGrp="1" noChangeArrowheads="1"/>
          </p:cNvSpPr>
          <p:nvPr>
            <p:ph type="sldNum" sz="quarter" idx="4"/>
          </p:nvPr>
        </p:nvSpPr>
        <p:spPr>
          <a:xfrm>
            <a:off x="6183313" y="6529388"/>
            <a:ext cx="2133600" cy="233362"/>
          </a:xfrm>
          <a:prstGeom prst="rect">
            <a:avLst/>
          </a:prstGeom>
        </p:spPr>
        <p:txBody>
          <a:bodyPr/>
          <a:lstStyle>
            <a:lvl1pPr>
              <a:defRPr/>
            </a:lvl1pPr>
          </a:lstStyle>
          <a:p>
            <a:fld id="{09E2F1B0-B29B-438E-8B1E-C4D4C5A0AFC2}" type="slidenum">
              <a:rPr lang="en-GB"/>
              <a:pPr/>
              <a:t>‹#›</a:t>
            </a:fld>
            <a:endParaRPr lang="en-GB"/>
          </a:p>
        </p:txBody>
      </p:sp>
      <p:pic>
        <p:nvPicPr>
          <p:cNvPr id="13" name="Picture 3" descr="C:\Users\Duncan\Desktop\UoC-JBS-logo-CMYK.png"/>
          <p:cNvPicPr>
            <a:picLocks noChangeAspect="1" noChangeArrowheads="1"/>
          </p:cNvPicPr>
          <p:nvPr userDrawn="1"/>
        </p:nvPicPr>
        <p:blipFill>
          <a:blip r:embed="rId2" cstate="print"/>
          <a:srcRect/>
          <a:stretch>
            <a:fillRect/>
          </a:stretch>
        </p:blipFill>
        <p:spPr bwMode="auto">
          <a:xfrm>
            <a:off x="395536" y="5904981"/>
            <a:ext cx="2232248" cy="692371"/>
          </a:xfrm>
          <a:prstGeom prst="rect">
            <a:avLst/>
          </a:prstGeom>
          <a:noFill/>
        </p:spPr>
      </p:pic>
      <p:pic>
        <p:nvPicPr>
          <p:cNvPr id="1029" name="Picture 5" descr="C:\Users\Duncan\Desktop\Untitled-7.png"/>
          <p:cNvPicPr>
            <a:picLocks noChangeAspect="1" noChangeArrowheads="1"/>
          </p:cNvPicPr>
          <p:nvPr userDrawn="1"/>
        </p:nvPicPr>
        <p:blipFill>
          <a:blip r:embed="rId3" cstate="print"/>
          <a:srcRect/>
          <a:stretch>
            <a:fillRect/>
          </a:stretch>
        </p:blipFill>
        <p:spPr bwMode="auto">
          <a:xfrm>
            <a:off x="0" y="0"/>
            <a:ext cx="9144000" cy="1804638"/>
          </a:xfrm>
          <a:prstGeom prst="rect">
            <a:avLst/>
          </a:prstGeom>
          <a:noFill/>
        </p:spPr>
      </p:pic>
      <p:sp>
        <p:nvSpPr>
          <p:cNvPr id="10" name="TextBox 9"/>
          <p:cNvSpPr txBox="1"/>
          <p:nvPr userDrawn="1"/>
        </p:nvSpPr>
        <p:spPr>
          <a:xfrm>
            <a:off x="0" y="1619508"/>
            <a:ext cx="9144000" cy="369332"/>
          </a:xfrm>
          <a:prstGeom prst="rect">
            <a:avLst/>
          </a:prstGeom>
          <a:solidFill>
            <a:srgbClr val="5091CD">
              <a:alpha val="35000"/>
            </a:srgbClr>
          </a:solidFill>
        </p:spPr>
        <p:txBody>
          <a:bodyPr wrap="square" rtlCol="0">
            <a:spAutoFit/>
          </a:bodyPr>
          <a:lstStyle/>
          <a:p>
            <a:endParaRPr lang="en-GB"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49313" y="332656"/>
            <a:ext cx="7445375" cy="648072"/>
          </a:xfrm>
        </p:spPr>
        <p:txBody>
          <a:bodyPr/>
          <a:lstStyle>
            <a:lvl1pPr>
              <a:defRPr>
                <a:solidFill>
                  <a:schemeClr val="bg1"/>
                </a:solidFill>
              </a:defRPr>
            </a:lvl1pPr>
          </a:lstStyle>
          <a:p>
            <a:r>
              <a:rPr lang="en-US" smtClean="0"/>
              <a:t>Click to edit Master title style</a:t>
            </a:r>
            <a:endParaRPr lang="en-GB"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age with small logo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54A6"/>
                </a:solidFill>
              </a:defRPr>
            </a:lvl1pPr>
          </a:lstStyle>
          <a:p>
            <a:r>
              <a:rPr lang="en-US" smtClean="0"/>
              <a:t>Click to edit Master title style</a:t>
            </a:r>
            <a:endParaRPr lang="en-GB"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11"/>
          </p:nvPr>
        </p:nvSpPr>
        <p:spPr>
          <a:xfrm>
            <a:off x="3125788" y="6516688"/>
            <a:ext cx="2895600" cy="233362"/>
          </a:xfrm>
          <a:prstGeom prst="rect">
            <a:avLst/>
          </a:prstGeom>
        </p:spPr>
        <p:txBody>
          <a:bodyPr/>
          <a:lstStyle>
            <a:lvl1pPr>
              <a:defRPr/>
            </a:lvl1pPr>
          </a:lstStyle>
          <a:p>
            <a:endParaRPr lang="en-GB"/>
          </a:p>
        </p:txBody>
      </p:sp>
      <p:sp>
        <p:nvSpPr>
          <p:cNvPr id="6" name="Slide Number Placeholder 5"/>
          <p:cNvSpPr>
            <a:spLocks noGrp="1"/>
          </p:cNvSpPr>
          <p:nvPr>
            <p:ph type="sldNum" sz="quarter" idx="12"/>
          </p:nvPr>
        </p:nvSpPr>
        <p:spPr>
          <a:xfrm>
            <a:off x="6183313" y="6516688"/>
            <a:ext cx="2133600" cy="233362"/>
          </a:xfrm>
          <a:prstGeom prst="rect">
            <a:avLst/>
          </a:prstGeom>
        </p:spPr>
        <p:txBody>
          <a:bodyPr/>
          <a:lstStyle>
            <a:lvl1pPr>
              <a:defRPr/>
            </a:lvl1pPr>
          </a:lstStyle>
          <a:p>
            <a:fld id="{A24379B5-70D2-4508-96F3-024A324DCF75}" type="slidenum">
              <a:rPr lang="en-GB"/>
              <a:pPr/>
              <a:t>‹#›</a:t>
            </a:fld>
            <a:endParaRPr lang="en-GB"/>
          </a:p>
        </p:txBody>
      </p:sp>
      <p:pic>
        <p:nvPicPr>
          <p:cNvPr id="7" name="Picture 3" descr="C:\Users\Duncan\Desktop\UoC-JBS-logo-CMYK.png"/>
          <p:cNvPicPr>
            <a:picLocks noChangeAspect="1" noChangeArrowheads="1"/>
          </p:cNvPicPr>
          <p:nvPr userDrawn="1"/>
        </p:nvPicPr>
        <p:blipFill>
          <a:blip r:embed="rId2" cstate="print"/>
          <a:srcRect/>
          <a:stretch>
            <a:fillRect/>
          </a:stretch>
        </p:blipFill>
        <p:spPr bwMode="auto">
          <a:xfrm>
            <a:off x="323528" y="6178000"/>
            <a:ext cx="1584176" cy="49136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Blank page with small black logo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54A6"/>
                </a:solidFill>
              </a:defRPr>
            </a:lvl1pPr>
          </a:lstStyle>
          <a:p>
            <a:r>
              <a:rPr lang="en-US" smtClean="0"/>
              <a:t>Click to edit Master title style</a:t>
            </a:r>
            <a:endParaRPr lang="en-GB"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11"/>
          </p:nvPr>
        </p:nvSpPr>
        <p:spPr>
          <a:xfrm>
            <a:off x="3125788" y="6516688"/>
            <a:ext cx="2895600" cy="233362"/>
          </a:xfrm>
          <a:prstGeom prst="rect">
            <a:avLst/>
          </a:prstGeom>
        </p:spPr>
        <p:txBody>
          <a:bodyPr/>
          <a:lstStyle>
            <a:lvl1pPr>
              <a:defRPr/>
            </a:lvl1pPr>
          </a:lstStyle>
          <a:p>
            <a:endParaRPr lang="en-GB"/>
          </a:p>
        </p:txBody>
      </p:sp>
      <p:sp>
        <p:nvSpPr>
          <p:cNvPr id="6" name="Slide Number Placeholder 5"/>
          <p:cNvSpPr>
            <a:spLocks noGrp="1"/>
          </p:cNvSpPr>
          <p:nvPr>
            <p:ph type="sldNum" sz="quarter" idx="12"/>
          </p:nvPr>
        </p:nvSpPr>
        <p:spPr>
          <a:xfrm>
            <a:off x="6183313" y="6516688"/>
            <a:ext cx="2133600" cy="233362"/>
          </a:xfrm>
          <a:prstGeom prst="rect">
            <a:avLst/>
          </a:prstGeom>
        </p:spPr>
        <p:txBody>
          <a:bodyPr/>
          <a:lstStyle>
            <a:lvl1pPr>
              <a:defRPr/>
            </a:lvl1pPr>
          </a:lstStyle>
          <a:p>
            <a:fld id="{A24379B5-70D2-4508-96F3-024A324DCF75}" type="slidenum">
              <a:rPr lang="en-GB"/>
              <a:pPr/>
              <a:t>‹#›</a:t>
            </a:fld>
            <a:endParaRPr lang="en-GB"/>
          </a:p>
        </p:txBody>
      </p:sp>
      <p:pic>
        <p:nvPicPr>
          <p:cNvPr id="8" name="Picture 2" descr="C:\Users\Duncan\Documents\My Dropbox\CJBS\MBA projects\MBA PowerPoint template\Logos\UoC-JBS-logo-black.png"/>
          <p:cNvPicPr>
            <a:picLocks noChangeAspect="1" noChangeArrowheads="1"/>
          </p:cNvPicPr>
          <p:nvPr userDrawn="1"/>
        </p:nvPicPr>
        <p:blipFill>
          <a:blip r:embed="rId2" cstate="print"/>
          <a:srcRect/>
          <a:stretch>
            <a:fillRect/>
          </a:stretch>
        </p:blipFill>
        <p:spPr bwMode="auto">
          <a:xfrm>
            <a:off x="323527" y="6178290"/>
            <a:ext cx="1583245" cy="49107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Blank page with no log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54A6"/>
                </a:solidFill>
              </a:defRPr>
            </a:lvl1pPr>
          </a:lstStyle>
          <a:p>
            <a:r>
              <a:rPr lang="en-US" smtClean="0"/>
              <a:t>Click to edit Master title style</a:t>
            </a:r>
            <a:endParaRPr lang="en-GB"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Footer Placeholder 4"/>
          <p:cNvSpPr>
            <a:spLocks noGrp="1"/>
          </p:cNvSpPr>
          <p:nvPr>
            <p:ph type="ftr" sz="quarter" idx="11"/>
          </p:nvPr>
        </p:nvSpPr>
        <p:spPr>
          <a:xfrm>
            <a:off x="3125788" y="6516688"/>
            <a:ext cx="2895600" cy="233362"/>
          </a:xfrm>
          <a:prstGeom prst="rect">
            <a:avLst/>
          </a:prstGeom>
        </p:spPr>
        <p:txBody>
          <a:bodyPr/>
          <a:lstStyle>
            <a:lvl1pPr>
              <a:defRPr/>
            </a:lvl1pPr>
          </a:lstStyle>
          <a:p>
            <a:endParaRPr lang="en-GB"/>
          </a:p>
        </p:txBody>
      </p:sp>
      <p:sp>
        <p:nvSpPr>
          <p:cNvPr id="6" name="Slide Number Placeholder 5"/>
          <p:cNvSpPr>
            <a:spLocks noGrp="1"/>
          </p:cNvSpPr>
          <p:nvPr>
            <p:ph type="sldNum" sz="quarter" idx="12"/>
          </p:nvPr>
        </p:nvSpPr>
        <p:spPr>
          <a:xfrm>
            <a:off x="6183313" y="6516688"/>
            <a:ext cx="2133600" cy="233362"/>
          </a:xfrm>
          <a:prstGeom prst="rect">
            <a:avLst/>
          </a:prstGeom>
        </p:spPr>
        <p:txBody>
          <a:bodyPr/>
          <a:lstStyle>
            <a:lvl1pPr>
              <a:defRPr/>
            </a:lvl1pPr>
          </a:lstStyle>
          <a:p>
            <a:fld id="{A24379B5-70D2-4508-96F3-024A324DCF75}" type="slidenum">
              <a:rPr lang="en-GB"/>
              <a:pPr/>
              <a:t>‹#›</a:t>
            </a:fld>
            <a:endParaRPr lang="en-GB"/>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itle and two columns">
    <p:spTree>
      <p:nvGrpSpPr>
        <p:cNvPr id="1" name=""/>
        <p:cNvGrpSpPr/>
        <p:nvPr/>
      </p:nvGrpSpPr>
      <p:grpSpPr>
        <a:xfrm>
          <a:off x="0" y="0"/>
          <a:ext cx="0" cy="0"/>
          <a:chOff x="0" y="0"/>
          <a:chExt cx="0" cy="0"/>
        </a:xfrm>
      </p:grpSpPr>
      <p:sp>
        <p:nvSpPr>
          <p:cNvPr id="2" name="Title 1"/>
          <p:cNvSpPr>
            <a:spLocks noGrp="1"/>
          </p:cNvSpPr>
          <p:nvPr>
            <p:ph type="title"/>
          </p:nvPr>
        </p:nvSpPr>
        <p:spPr>
          <a:xfrm>
            <a:off x="849313" y="332655"/>
            <a:ext cx="7445375" cy="576065"/>
          </a:xfrm>
        </p:spPr>
        <p:txBody>
          <a:bodyPr/>
          <a:lstStyle>
            <a:lvl1pPr>
              <a:defRPr>
                <a:solidFill>
                  <a:schemeClr val="bg1"/>
                </a:solidFill>
              </a:defRPr>
            </a:lvl1pPr>
          </a:lstStyle>
          <a:p>
            <a:r>
              <a:rPr lang="en-US" smtClean="0"/>
              <a:t>Click to edit Master title style</a:t>
            </a:r>
            <a:endParaRPr lang="en-GB" dirty="0"/>
          </a:p>
        </p:txBody>
      </p:sp>
      <p:sp>
        <p:nvSpPr>
          <p:cNvPr id="3" name="Content Placeholder 2"/>
          <p:cNvSpPr>
            <a:spLocks noGrp="1"/>
          </p:cNvSpPr>
          <p:nvPr>
            <p:ph sz="half" idx="1"/>
          </p:nvPr>
        </p:nvSpPr>
        <p:spPr>
          <a:xfrm>
            <a:off x="830263" y="1428750"/>
            <a:ext cx="36639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6613" y="1428750"/>
            <a:ext cx="3665537"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11"/>
          </p:nvPr>
        </p:nvSpPr>
        <p:spPr>
          <a:xfrm>
            <a:off x="3125788" y="6516688"/>
            <a:ext cx="2895600" cy="233362"/>
          </a:xfrm>
          <a:prstGeom prst="rect">
            <a:avLst/>
          </a:prstGeom>
        </p:spPr>
        <p:txBody>
          <a:bodyPr/>
          <a:lstStyle>
            <a:lvl1pPr>
              <a:defRPr/>
            </a:lvl1pPr>
          </a:lstStyle>
          <a:p>
            <a:endParaRPr lang="en-GB"/>
          </a:p>
        </p:txBody>
      </p:sp>
      <p:sp>
        <p:nvSpPr>
          <p:cNvPr id="7" name="Slide Number Placeholder 6"/>
          <p:cNvSpPr>
            <a:spLocks noGrp="1"/>
          </p:cNvSpPr>
          <p:nvPr>
            <p:ph type="sldNum" sz="quarter" idx="12"/>
          </p:nvPr>
        </p:nvSpPr>
        <p:spPr>
          <a:xfrm>
            <a:off x="6183313" y="6516688"/>
            <a:ext cx="2133600" cy="233362"/>
          </a:xfrm>
          <a:prstGeom prst="rect">
            <a:avLst/>
          </a:prstGeom>
        </p:spPr>
        <p:txBody>
          <a:bodyPr/>
          <a:lstStyle>
            <a:lvl1pPr>
              <a:defRPr/>
            </a:lvl1pPr>
          </a:lstStyle>
          <a:p>
            <a:fld id="{2E421806-83C8-4661-A0F0-541C879FB9E0}" type="slidenum">
              <a:rPr lang="en-GB"/>
              <a:pPr/>
              <a:t>‹#›</a:t>
            </a:fld>
            <a:endParaRPr lang="en-GB"/>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a:xfrm>
            <a:off x="3125788" y="6516688"/>
            <a:ext cx="2895600" cy="233362"/>
          </a:xfrm>
          <a:prstGeom prst="rect">
            <a:avLst/>
          </a:prstGeom>
        </p:spPr>
        <p:txBody>
          <a:bodyPr/>
          <a:lstStyle>
            <a:lvl1pPr>
              <a:defRPr/>
            </a:lvl1pPr>
          </a:lstStyle>
          <a:p>
            <a:endParaRPr lang="en-GB"/>
          </a:p>
        </p:txBody>
      </p:sp>
      <p:sp>
        <p:nvSpPr>
          <p:cNvPr id="7" name="Slide Number Placeholder 6"/>
          <p:cNvSpPr>
            <a:spLocks noGrp="1"/>
          </p:cNvSpPr>
          <p:nvPr>
            <p:ph type="sldNum" sz="quarter" idx="12"/>
          </p:nvPr>
        </p:nvSpPr>
        <p:spPr>
          <a:xfrm>
            <a:off x="6183313" y="6516688"/>
            <a:ext cx="2133600" cy="233362"/>
          </a:xfrm>
          <a:prstGeom prst="rect">
            <a:avLst/>
          </a:prstGeom>
        </p:spPr>
        <p:txBody>
          <a:bodyPr/>
          <a:lstStyle>
            <a:lvl1pPr>
              <a:defRPr/>
            </a:lvl1pPr>
          </a:lstStyle>
          <a:p>
            <a:fld id="{0A4BF79E-AB28-4332-845D-682AF88D691D}" type="slidenum">
              <a:rPr lang="en-GB"/>
              <a:pPr/>
              <a:t>‹#›</a:t>
            </a:fld>
            <a:endParaRPr lang="en-GB"/>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a:xfrm>
            <a:off x="3125788" y="6516688"/>
            <a:ext cx="2895600" cy="233362"/>
          </a:xfrm>
          <a:prstGeom prst="rect">
            <a:avLst/>
          </a:prstGeom>
        </p:spPr>
        <p:txBody>
          <a:bodyPr/>
          <a:lstStyle>
            <a:lvl1pPr>
              <a:defRPr/>
            </a:lvl1pPr>
          </a:lstStyle>
          <a:p>
            <a:endParaRPr lang="en-GB"/>
          </a:p>
        </p:txBody>
      </p:sp>
      <p:sp>
        <p:nvSpPr>
          <p:cNvPr id="7" name="Slide Number Placeholder 6"/>
          <p:cNvSpPr>
            <a:spLocks noGrp="1"/>
          </p:cNvSpPr>
          <p:nvPr>
            <p:ph type="sldNum" sz="quarter" idx="12"/>
          </p:nvPr>
        </p:nvSpPr>
        <p:spPr>
          <a:xfrm>
            <a:off x="6183313" y="6516688"/>
            <a:ext cx="2133600" cy="233362"/>
          </a:xfrm>
          <a:prstGeom prst="rect">
            <a:avLst/>
          </a:prstGeom>
        </p:spPr>
        <p:txBody>
          <a:bodyPr/>
          <a:lstStyle>
            <a:lvl1pPr>
              <a:defRPr/>
            </a:lvl1pPr>
          </a:lstStyle>
          <a:p>
            <a:fld id="{E72963D2-1D90-4969-B97A-A8C31B51A7B4}" type="slidenum">
              <a:rPr lang="en-GB"/>
              <a:pPr/>
              <a:t>‹#›</a:t>
            </a:fld>
            <a:endParaRPr lang="en-GB"/>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Only" preserve="1">
  <p:cSld name="MBA blue background white logo">
    <p:bg>
      <p:bgPr>
        <a:solidFill>
          <a:srgbClr val="5091C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9312" y="1433962"/>
            <a:ext cx="7445375" cy="1995038"/>
          </a:xfrm>
        </p:spPr>
        <p:txBody>
          <a:bodyPr/>
          <a:lstStyle>
            <a:lvl1pPr algn="l" defTabSz="457200" rtl="0" fontAlgn="base">
              <a:spcBef>
                <a:spcPct val="0"/>
              </a:spcBef>
              <a:spcAft>
                <a:spcPct val="0"/>
              </a:spcAft>
              <a:defRPr lang="en-GB" sz="2700" b="1" kern="1200" dirty="0">
                <a:solidFill>
                  <a:schemeClr val="bg1"/>
                </a:solidFill>
                <a:latin typeface="Arial" charset="0"/>
                <a:ea typeface="ＭＳ Ｐゴシック" pitchFamily="28" charset="-128"/>
                <a:cs typeface="Arial" charset="0"/>
              </a:defRPr>
            </a:lvl1pPr>
          </a:lstStyle>
          <a:p>
            <a:r>
              <a:rPr lang="en-US" smtClean="0"/>
              <a:t>Click to edit Master title style</a:t>
            </a:r>
            <a:endParaRPr lang="en-GB" dirty="0"/>
          </a:p>
        </p:txBody>
      </p:sp>
      <p:sp>
        <p:nvSpPr>
          <p:cNvPr id="4" name="Footer Placeholder 3"/>
          <p:cNvSpPr>
            <a:spLocks noGrp="1"/>
          </p:cNvSpPr>
          <p:nvPr>
            <p:ph type="ftr" sz="quarter" idx="11"/>
          </p:nvPr>
        </p:nvSpPr>
        <p:spPr>
          <a:xfrm>
            <a:off x="3125788" y="6516688"/>
            <a:ext cx="2895600" cy="233362"/>
          </a:xfrm>
          <a:prstGeom prst="rect">
            <a:avLst/>
          </a:prstGeom>
        </p:spPr>
        <p:txBody>
          <a:bodyPr/>
          <a:lstStyle>
            <a:lvl1pPr>
              <a:defRPr/>
            </a:lvl1pPr>
          </a:lstStyle>
          <a:p>
            <a:endParaRPr lang="en-GB"/>
          </a:p>
        </p:txBody>
      </p:sp>
      <p:sp>
        <p:nvSpPr>
          <p:cNvPr id="5" name="Slide Number Placeholder 4"/>
          <p:cNvSpPr>
            <a:spLocks noGrp="1"/>
          </p:cNvSpPr>
          <p:nvPr>
            <p:ph type="sldNum" sz="quarter" idx="12"/>
          </p:nvPr>
        </p:nvSpPr>
        <p:spPr>
          <a:xfrm>
            <a:off x="6183313" y="6516688"/>
            <a:ext cx="2133600" cy="233362"/>
          </a:xfrm>
          <a:prstGeom prst="rect">
            <a:avLst/>
          </a:prstGeom>
        </p:spPr>
        <p:txBody>
          <a:bodyPr/>
          <a:lstStyle>
            <a:lvl1pPr>
              <a:defRPr/>
            </a:lvl1pPr>
          </a:lstStyle>
          <a:p>
            <a:fld id="{3AB4B70D-B989-43D4-9CCE-B549808CD48D}" type="slidenum">
              <a:rPr lang="en-GB"/>
              <a:pPr/>
              <a:t>‹#›</a:t>
            </a:fld>
            <a:endParaRPr lang="en-GB"/>
          </a:p>
        </p:txBody>
      </p:sp>
      <p:pic>
        <p:nvPicPr>
          <p:cNvPr id="7" name="Picture 2" descr="C:\Documents and Settings\grahamp\Desktop\UoC-JBS-logo-white.png"/>
          <p:cNvPicPr>
            <a:picLocks noChangeAspect="1" noChangeArrowheads="1"/>
          </p:cNvPicPr>
          <p:nvPr userDrawn="1"/>
        </p:nvPicPr>
        <p:blipFill>
          <a:blip r:embed="rId2" cstate="print"/>
          <a:srcRect/>
          <a:stretch>
            <a:fillRect/>
          </a:stretch>
        </p:blipFill>
        <p:spPr bwMode="auto">
          <a:xfrm>
            <a:off x="407361" y="5909965"/>
            <a:ext cx="2214563" cy="687387"/>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5091CD"/>
        </a:solidFill>
        <a:effectLst/>
      </p:bgPr>
    </p:bg>
    <p:spTree>
      <p:nvGrpSpPr>
        <p:cNvPr id="1" name=""/>
        <p:cNvGrpSpPr/>
        <p:nvPr/>
      </p:nvGrpSpPr>
      <p:grpSpPr>
        <a:xfrm>
          <a:off x="0" y="0"/>
          <a:ext cx="0" cy="0"/>
          <a:chOff x="0" y="0"/>
          <a:chExt cx="0" cy="0"/>
        </a:xfrm>
      </p:grpSpPr>
      <p:pic>
        <p:nvPicPr>
          <p:cNvPr id="6" name="Picture 2" descr="C:\Documents and Settings\grahamp\Desktop\UoC-JBS-logo-white.png"/>
          <p:cNvPicPr>
            <a:picLocks noChangeAspect="1" noChangeArrowheads="1"/>
          </p:cNvPicPr>
          <p:nvPr userDrawn="1"/>
        </p:nvPicPr>
        <p:blipFill>
          <a:blip r:embed="rId2" cstate="print"/>
          <a:srcRect/>
          <a:stretch>
            <a:fillRect/>
          </a:stretch>
        </p:blipFill>
        <p:spPr bwMode="auto">
          <a:xfrm>
            <a:off x="2195736" y="2708920"/>
            <a:ext cx="4392488" cy="1362403"/>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a:xfrm>
            <a:off x="3125788" y="6516688"/>
            <a:ext cx="2895600" cy="233362"/>
          </a:xfrm>
          <a:prstGeom prst="rect">
            <a:avLst/>
          </a:prstGeom>
        </p:spPr>
        <p:txBody>
          <a:bodyPr/>
          <a:lstStyle/>
          <a:p>
            <a:endParaRPr lang="en-GB"/>
          </a:p>
        </p:txBody>
      </p:sp>
      <p:sp>
        <p:nvSpPr>
          <p:cNvPr id="5" name="Slide Number Placeholder 4"/>
          <p:cNvSpPr>
            <a:spLocks noGrp="1"/>
          </p:cNvSpPr>
          <p:nvPr>
            <p:ph type="sldNum" sz="quarter" idx="11"/>
          </p:nvPr>
        </p:nvSpPr>
        <p:spPr>
          <a:xfrm>
            <a:off x="6183313" y="6516688"/>
            <a:ext cx="2133600" cy="233362"/>
          </a:xfrm>
          <a:prstGeom prst="rect">
            <a:avLst/>
          </a:prstGeom>
        </p:spPr>
        <p:txBody>
          <a:bodyPr/>
          <a:lstStyle/>
          <a:p>
            <a:fld id="{40C40A12-D154-4828-BD8E-566DA07C1928}" type="slidenum">
              <a:rPr lang="en-GB" smtClean="0"/>
              <a:pPr/>
              <a:t>‹#›</a:t>
            </a:fld>
            <a:endParaRPr lang="en-GB"/>
          </a:p>
        </p:txBody>
      </p:sp>
    </p:spTree>
    <p:extLst>
      <p:ext uri="{BB962C8B-B14F-4D97-AF65-F5344CB8AC3E}">
        <p14:creationId xmlns:p14="http://schemas.microsoft.com/office/powerpoint/2010/main" val="14089088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p:nvSpPr>
        <p:spPr bwMode="auto">
          <a:xfrm>
            <a:off x="0" y="0"/>
            <a:ext cx="9144000" cy="1220788"/>
          </a:xfrm>
          <a:prstGeom prst="rect">
            <a:avLst/>
          </a:prstGeom>
          <a:solidFill>
            <a:srgbClr val="5091CD"/>
          </a:solidFill>
          <a:ln w="9525">
            <a:noFill/>
            <a:miter lim="800000"/>
            <a:headEnd/>
            <a:tailEnd/>
          </a:ln>
          <a:effectLst/>
        </p:spPr>
        <p:txBody>
          <a:bodyPr wrap="none" anchor="ctr"/>
          <a:lstStyle/>
          <a:p>
            <a:endParaRPr lang="en-GB"/>
          </a:p>
        </p:txBody>
      </p:sp>
      <p:sp>
        <p:nvSpPr>
          <p:cNvPr id="1026" name="Rectangle 2"/>
          <p:cNvSpPr>
            <a:spLocks noGrp="1" noChangeArrowheads="1"/>
          </p:cNvSpPr>
          <p:nvPr>
            <p:ph type="title"/>
          </p:nvPr>
        </p:nvSpPr>
        <p:spPr bwMode="auto">
          <a:xfrm>
            <a:off x="849313" y="404664"/>
            <a:ext cx="7445375" cy="64807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title style</a:t>
            </a:r>
            <a:endParaRPr lang="en-GB" dirty="0" smtClean="0"/>
          </a:p>
        </p:txBody>
      </p:sp>
      <p:sp>
        <p:nvSpPr>
          <p:cNvPr id="1027" name="Rectangle 3"/>
          <p:cNvSpPr>
            <a:spLocks noGrp="1" noChangeArrowheads="1"/>
          </p:cNvSpPr>
          <p:nvPr>
            <p:ph type="body" idx="1"/>
          </p:nvPr>
        </p:nvSpPr>
        <p:spPr bwMode="auto">
          <a:xfrm>
            <a:off x="830263" y="1428750"/>
            <a:ext cx="7481887"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smtClean="0"/>
              <a:t>These are suggested body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smtClean="0"/>
          </a:p>
        </p:txBody>
      </p:sp>
      <p:pic>
        <p:nvPicPr>
          <p:cNvPr id="12" name="Picture 3" descr="C:\Users\Duncan\Desktop\UoC-JBS-logo-CMYK.png"/>
          <p:cNvPicPr>
            <a:picLocks noChangeAspect="1" noChangeArrowheads="1"/>
          </p:cNvPicPr>
          <p:nvPr/>
        </p:nvPicPr>
        <p:blipFill>
          <a:blip r:embed="rId15" cstate="print"/>
          <a:srcRect/>
          <a:stretch>
            <a:fillRect/>
          </a:stretch>
        </p:blipFill>
        <p:spPr bwMode="auto">
          <a:xfrm>
            <a:off x="395536" y="5904981"/>
            <a:ext cx="2232248" cy="692371"/>
          </a:xfrm>
          <a:prstGeom prst="rect">
            <a:avLst/>
          </a:prstGeom>
          <a:noFill/>
        </p:spPr>
      </p:pic>
    </p:spTree>
  </p:cSld>
  <p:clrMap bg1="lt1" tx1="dk1" bg2="lt2" tx2="dk2" accent1="accent1" accent2="accent2" accent3="accent3" accent4="accent4" accent5="accent5" accent6="accent6" hlink="hlink" folHlink="folHlink"/>
  <p:sldLayoutIdLst>
    <p:sldLayoutId id="2147483665" r:id="rId1"/>
    <p:sldLayoutId id="2147483649" r:id="rId2"/>
    <p:sldLayoutId id="2147483668" r:id="rId3"/>
    <p:sldLayoutId id="2147483650" r:id="rId4"/>
    <p:sldLayoutId id="2147483666" r:id="rId5"/>
    <p:sldLayoutId id="2147483667" r:id="rId6"/>
    <p:sldLayoutId id="2147483661" r:id="rId7"/>
    <p:sldLayoutId id="2147483652" r:id="rId8"/>
    <p:sldLayoutId id="2147483656" r:id="rId9"/>
    <p:sldLayoutId id="2147483657" r:id="rId10"/>
    <p:sldLayoutId id="2147483662" r:id="rId11"/>
    <p:sldLayoutId id="2147483664" r:id="rId12"/>
    <p:sldLayoutId id="2147483673" r:id="rId13"/>
  </p:sldLayoutIdLst>
  <mc:AlternateContent xmlns:mc="http://schemas.openxmlformats.org/markup-compatibility/2006" xmlns:p14="http://schemas.microsoft.com/office/powerpoint/2010/main">
    <mc:Choice Requires="p14">
      <p:transition p14:dur="0"/>
    </mc:Choice>
    <mc:Fallback xmlns="">
      <p:transition/>
    </mc:Fallback>
  </mc:AlternateContent>
  <p:txStyles>
    <p:titleStyle>
      <a:lvl1pPr algn="l" defTabSz="457200" rtl="0" eaLnBrk="1" fontAlgn="base" hangingPunct="1">
        <a:spcBef>
          <a:spcPct val="0"/>
        </a:spcBef>
        <a:spcAft>
          <a:spcPct val="0"/>
        </a:spcAft>
        <a:defRPr sz="2700" b="1">
          <a:solidFill>
            <a:schemeClr val="bg1"/>
          </a:solidFill>
          <a:latin typeface="Calibri" pitchFamily="34" charset="0"/>
          <a:ea typeface="+mj-ea"/>
          <a:cs typeface="+mj-cs"/>
        </a:defRPr>
      </a:lvl1pPr>
      <a:lvl2pPr algn="l" defTabSz="457200" rtl="0" eaLnBrk="1" fontAlgn="base" hangingPunct="1">
        <a:spcBef>
          <a:spcPct val="0"/>
        </a:spcBef>
        <a:spcAft>
          <a:spcPct val="0"/>
        </a:spcAft>
        <a:defRPr sz="2700" b="1">
          <a:solidFill>
            <a:schemeClr val="tx1"/>
          </a:solidFill>
          <a:latin typeface="Arial" charset="0"/>
          <a:ea typeface="ＭＳ Ｐゴシック" pitchFamily="28" charset="-128"/>
        </a:defRPr>
      </a:lvl2pPr>
      <a:lvl3pPr algn="l" defTabSz="457200" rtl="0" eaLnBrk="1" fontAlgn="base" hangingPunct="1">
        <a:spcBef>
          <a:spcPct val="0"/>
        </a:spcBef>
        <a:spcAft>
          <a:spcPct val="0"/>
        </a:spcAft>
        <a:defRPr sz="2700" b="1">
          <a:solidFill>
            <a:schemeClr val="tx1"/>
          </a:solidFill>
          <a:latin typeface="Arial" charset="0"/>
          <a:ea typeface="ＭＳ Ｐゴシック" pitchFamily="28" charset="-128"/>
        </a:defRPr>
      </a:lvl3pPr>
      <a:lvl4pPr algn="l" defTabSz="457200" rtl="0" eaLnBrk="1" fontAlgn="base" hangingPunct="1">
        <a:spcBef>
          <a:spcPct val="0"/>
        </a:spcBef>
        <a:spcAft>
          <a:spcPct val="0"/>
        </a:spcAft>
        <a:defRPr sz="2700" b="1">
          <a:solidFill>
            <a:schemeClr val="tx1"/>
          </a:solidFill>
          <a:latin typeface="Arial" charset="0"/>
          <a:ea typeface="ＭＳ Ｐゴシック" pitchFamily="28" charset="-128"/>
        </a:defRPr>
      </a:lvl4pPr>
      <a:lvl5pPr algn="l" defTabSz="457200" rtl="0" eaLnBrk="1" fontAlgn="base" hangingPunct="1">
        <a:spcBef>
          <a:spcPct val="0"/>
        </a:spcBef>
        <a:spcAft>
          <a:spcPct val="0"/>
        </a:spcAft>
        <a:defRPr sz="2700" b="1">
          <a:solidFill>
            <a:schemeClr val="tx1"/>
          </a:solidFill>
          <a:latin typeface="Arial" charset="0"/>
          <a:ea typeface="ＭＳ Ｐゴシック" pitchFamily="28" charset="-128"/>
        </a:defRPr>
      </a:lvl5pPr>
      <a:lvl6pPr marL="457200" algn="l" defTabSz="457200" rtl="0" eaLnBrk="1" fontAlgn="base" hangingPunct="1">
        <a:spcBef>
          <a:spcPct val="0"/>
        </a:spcBef>
        <a:spcAft>
          <a:spcPct val="0"/>
        </a:spcAft>
        <a:defRPr sz="2700" b="1">
          <a:solidFill>
            <a:schemeClr val="tx1"/>
          </a:solidFill>
          <a:latin typeface="Arial" charset="0"/>
          <a:ea typeface="ＭＳ Ｐゴシック" pitchFamily="28" charset="-128"/>
        </a:defRPr>
      </a:lvl6pPr>
      <a:lvl7pPr marL="914400" algn="l" defTabSz="457200" rtl="0" eaLnBrk="1" fontAlgn="base" hangingPunct="1">
        <a:spcBef>
          <a:spcPct val="0"/>
        </a:spcBef>
        <a:spcAft>
          <a:spcPct val="0"/>
        </a:spcAft>
        <a:defRPr sz="2700" b="1">
          <a:solidFill>
            <a:schemeClr val="tx1"/>
          </a:solidFill>
          <a:latin typeface="Arial" charset="0"/>
          <a:ea typeface="ＭＳ Ｐゴシック" pitchFamily="28" charset="-128"/>
        </a:defRPr>
      </a:lvl7pPr>
      <a:lvl8pPr marL="1371600" algn="l" defTabSz="457200" rtl="0" eaLnBrk="1" fontAlgn="base" hangingPunct="1">
        <a:spcBef>
          <a:spcPct val="0"/>
        </a:spcBef>
        <a:spcAft>
          <a:spcPct val="0"/>
        </a:spcAft>
        <a:defRPr sz="2700" b="1">
          <a:solidFill>
            <a:schemeClr val="tx1"/>
          </a:solidFill>
          <a:latin typeface="Arial" charset="0"/>
          <a:ea typeface="ＭＳ Ｐゴシック" pitchFamily="28" charset="-128"/>
        </a:defRPr>
      </a:lvl8pPr>
      <a:lvl9pPr marL="1828800" algn="l" defTabSz="457200" rtl="0" eaLnBrk="1" fontAlgn="base" hangingPunct="1">
        <a:spcBef>
          <a:spcPct val="0"/>
        </a:spcBef>
        <a:spcAft>
          <a:spcPct val="0"/>
        </a:spcAft>
        <a:defRPr sz="2700" b="1">
          <a:solidFill>
            <a:schemeClr val="tx1"/>
          </a:solidFill>
          <a:latin typeface="Arial" charset="0"/>
          <a:ea typeface="ＭＳ Ｐゴシック" pitchFamily="28" charset="-128"/>
        </a:defRPr>
      </a:lvl9pPr>
    </p:titleStyle>
    <p:bodyStyle>
      <a:lvl1pPr algn="l" rtl="0" eaLnBrk="1" fontAlgn="base" hangingPunct="1">
        <a:spcBef>
          <a:spcPct val="0"/>
        </a:spcBef>
        <a:spcAft>
          <a:spcPct val="50000"/>
        </a:spcAft>
        <a:defRPr sz="2000" b="1">
          <a:solidFill>
            <a:schemeClr val="tx1"/>
          </a:solidFill>
          <a:latin typeface="Calibri" pitchFamily="34" charset="0"/>
          <a:ea typeface="+mn-ea"/>
          <a:cs typeface="+mn-cs"/>
        </a:defRPr>
      </a:lvl1pPr>
      <a:lvl2pPr marL="355600" indent="-354013" algn="l" rtl="0" eaLnBrk="1" fontAlgn="base" hangingPunct="1">
        <a:spcBef>
          <a:spcPct val="0"/>
        </a:spcBef>
        <a:spcAft>
          <a:spcPct val="50000"/>
        </a:spcAft>
        <a:buChar char="•"/>
        <a:defRPr sz="2000">
          <a:solidFill>
            <a:schemeClr val="tx1"/>
          </a:solidFill>
          <a:latin typeface="Calibri" pitchFamily="34" charset="0"/>
        </a:defRPr>
      </a:lvl2pPr>
      <a:lvl3pPr marL="709613" indent="-352425" algn="l" rtl="0" eaLnBrk="1" fontAlgn="base" hangingPunct="1">
        <a:spcBef>
          <a:spcPct val="0"/>
        </a:spcBef>
        <a:spcAft>
          <a:spcPct val="50000"/>
        </a:spcAft>
        <a:buChar char="•"/>
        <a:defRPr sz="2000">
          <a:solidFill>
            <a:schemeClr val="tx1"/>
          </a:solidFill>
          <a:latin typeface="Calibri" pitchFamily="34" charset="0"/>
        </a:defRPr>
      </a:lvl3pPr>
      <a:lvl4pPr marL="1077913" indent="-366713" algn="l" rtl="0" eaLnBrk="1" fontAlgn="base" hangingPunct="1">
        <a:spcBef>
          <a:spcPct val="0"/>
        </a:spcBef>
        <a:spcAft>
          <a:spcPct val="50000"/>
        </a:spcAft>
        <a:buChar char="•"/>
        <a:defRPr sz="2000">
          <a:solidFill>
            <a:schemeClr val="tx1"/>
          </a:solidFill>
          <a:latin typeface="Calibri" pitchFamily="34" charset="0"/>
        </a:defRPr>
      </a:lvl4pPr>
      <a:lvl5pPr marL="1433513" indent="-354013" algn="l" rtl="0" eaLnBrk="1" fontAlgn="base" hangingPunct="1">
        <a:spcBef>
          <a:spcPct val="0"/>
        </a:spcBef>
        <a:spcAft>
          <a:spcPct val="50000"/>
        </a:spcAft>
        <a:buChar char="•"/>
        <a:defRPr sz="2000">
          <a:solidFill>
            <a:schemeClr val="tx1"/>
          </a:solidFill>
          <a:latin typeface="Calibri" pitchFamily="34" charset="0"/>
        </a:defRPr>
      </a:lvl5pPr>
      <a:lvl6pPr marL="1890713" indent="-354013" algn="l" rtl="0" eaLnBrk="1" fontAlgn="base" hangingPunct="1">
        <a:spcBef>
          <a:spcPct val="0"/>
        </a:spcBef>
        <a:spcAft>
          <a:spcPct val="50000"/>
        </a:spcAft>
        <a:buChar char="•"/>
        <a:defRPr sz="2000">
          <a:solidFill>
            <a:schemeClr val="tx1"/>
          </a:solidFill>
          <a:latin typeface="+mn-lt"/>
        </a:defRPr>
      </a:lvl6pPr>
      <a:lvl7pPr marL="2347913" indent="-354013" algn="l" rtl="0" eaLnBrk="1" fontAlgn="base" hangingPunct="1">
        <a:spcBef>
          <a:spcPct val="0"/>
        </a:spcBef>
        <a:spcAft>
          <a:spcPct val="50000"/>
        </a:spcAft>
        <a:buChar char="•"/>
        <a:defRPr sz="2000">
          <a:solidFill>
            <a:schemeClr val="tx1"/>
          </a:solidFill>
          <a:latin typeface="+mn-lt"/>
        </a:defRPr>
      </a:lvl7pPr>
      <a:lvl8pPr marL="2805113" indent="-354013" algn="l" rtl="0" eaLnBrk="1" fontAlgn="base" hangingPunct="1">
        <a:spcBef>
          <a:spcPct val="0"/>
        </a:spcBef>
        <a:spcAft>
          <a:spcPct val="50000"/>
        </a:spcAft>
        <a:buChar char="•"/>
        <a:defRPr sz="2000">
          <a:solidFill>
            <a:schemeClr val="tx1"/>
          </a:solidFill>
          <a:latin typeface="+mn-lt"/>
        </a:defRPr>
      </a:lvl8pPr>
      <a:lvl9pPr marL="3262313" indent="-354013" algn="l" rtl="0" eaLnBrk="1" fontAlgn="base" hangingPunct="1">
        <a:spcBef>
          <a:spcPct val="0"/>
        </a:spcBef>
        <a:spcAft>
          <a:spcPct val="5000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65" y="1752600"/>
            <a:ext cx="9144000" cy="1656184"/>
          </a:xfrm>
        </p:spPr>
        <p:txBody>
          <a:bodyPr>
            <a:noAutofit/>
          </a:bodyPr>
          <a:lstStyle/>
          <a:p>
            <a:pPr>
              <a:lnSpc>
                <a:spcPts val="3600"/>
              </a:lnSpc>
              <a:spcBef>
                <a:spcPts val="600"/>
              </a:spcBef>
            </a:pPr>
            <a:r>
              <a:rPr lang="en-US" altLang="zh-CN" sz="2800" b="1" dirty="0" smtClean="0">
                <a:latin typeface="Calibri" panose="020F0502020204030204" pitchFamily="34" charset="0"/>
                <a:ea typeface="Tahoma" panose="020B0604030504040204" pitchFamily="34" charset="0"/>
                <a:cs typeface="Tahoma" panose="020B0604030504040204" pitchFamily="34" charset="0"/>
              </a:rPr>
              <a:t>When </a:t>
            </a:r>
            <a:r>
              <a:rPr lang="en-US" altLang="zh-CN" sz="2800" b="1" dirty="0">
                <a:latin typeface="Calibri" panose="020F0502020204030204" pitchFamily="34" charset="0"/>
                <a:ea typeface="Tahoma" panose="020B0604030504040204" pitchFamily="34" charset="0"/>
                <a:cs typeface="Tahoma" panose="020B0604030504040204" pitchFamily="34" charset="0"/>
              </a:rPr>
              <a:t>do controlling shareholders expropriate? </a:t>
            </a:r>
            <a:r>
              <a:rPr lang="en-US" altLang="zh-CN" sz="2800" b="1" dirty="0" smtClean="0">
                <a:latin typeface="Calibri" panose="020F0502020204030204" pitchFamily="34" charset="0"/>
                <a:ea typeface="Tahoma" panose="020B0604030504040204" pitchFamily="34" charset="0"/>
                <a:cs typeface="Tahoma" panose="020B0604030504040204" pitchFamily="34" charset="0"/>
              </a:rPr>
              <a:t/>
            </a:r>
            <a:br>
              <a:rPr lang="en-US" altLang="zh-CN" sz="2800" b="1" dirty="0" smtClean="0">
                <a:latin typeface="Calibri" panose="020F0502020204030204" pitchFamily="34" charset="0"/>
                <a:ea typeface="Tahoma" panose="020B0604030504040204" pitchFamily="34" charset="0"/>
                <a:cs typeface="Tahoma" panose="020B0604030504040204" pitchFamily="34" charset="0"/>
              </a:rPr>
            </a:br>
            <a:r>
              <a:rPr lang="en-GB" altLang="zh-CN" sz="2800" dirty="0">
                <a:ea typeface="Tahoma" panose="020B0604030504040204" pitchFamily="34" charset="0"/>
                <a:cs typeface="Tahoma" panose="020B0604030504040204" pitchFamily="34" charset="0"/>
              </a:rPr>
              <a:t>Controlling shareholder </a:t>
            </a:r>
            <a:r>
              <a:rPr lang="en-GB" altLang="zh-CN" sz="2800" dirty="0" smtClean="0">
                <a:ea typeface="Tahoma" panose="020B0604030504040204" pitchFamily="34" charset="0"/>
                <a:cs typeface="Tahoma" panose="020B0604030504040204" pitchFamily="34" charset="0"/>
              </a:rPr>
              <a:t>performance and </a:t>
            </a:r>
            <a:r>
              <a:rPr lang="en-GB" altLang="zh-CN" sz="2800" dirty="0">
                <a:ea typeface="Tahoma" panose="020B0604030504040204" pitchFamily="34" charset="0"/>
                <a:cs typeface="Tahoma" panose="020B0604030504040204" pitchFamily="34" charset="0"/>
              </a:rPr>
              <a:t>cash transfer </a:t>
            </a:r>
            <a:r>
              <a:rPr lang="en-GB" altLang="zh-CN" sz="2800" dirty="0" err="1" smtClean="0">
                <a:ea typeface="Tahoma" panose="020B0604030504040204" pitchFamily="34" charset="0"/>
                <a:cs typeface="Tahoma" panose="020B0604030504040204" pitchFamily="34" charset="0"/>
              </a:rPr>
              <a:t>tunneling</a:t>
            </a:r>
            <a:r>
              <a:rPr lang="en-GB" altLang="zh-CN" sz="2800" dirty="0" smtClean="0">
                <a:ea typeface="Tahoma" panose="020B0604030504040204" pitchFamily="34" charset="0"/>
                <a:cs typeface="Tahoma" panose="020B0604030504040204" pitchFamily="34" charset="0"/>
              </a:rPr>
              <a:t> </a:t>
            </a:r>
            <a:r>
              <a:rPr lang="en-GB" altLang="zh-CN" sz="2800" dirty="0">
                <a:ea typeface="Tahoma" panose="020B0604030504040204" pitchFamily="34" charset="0"/>
                <a:cs typeface="Tahoma" panose="020B0604030504040204" pitchFamily="34" charset="0"/>
              </a:rPr>
              <a:t>from listed firms in China</a:t>
            </a:r>
            <a:endParaRPr lang="zh-CN" altLang="en-US" sz="2800" dirty="0">
              <a:latin typeface="Calibri" panose="020F0502020204030204" pitchFamily="34" charset="0"/>
              <a:cs typeface="Tahoma" panose="020B0604030504040204" pitchFamily="34" charset="0"/>
            </a:endParaRPr>
          </a:p>
        </p:txBody>
      </p:sp>
      <p:sp>
        <p:nvSpPr>
          <p:cNvPr id="3" name="Subtitle 2"/>
          <p:cNvSpPr>
            <a:spLocks noGrp="1"/>
          </p:cNvSpPr>
          <p:nvPr>
            <p:ph type="subTitle" idx="1"/>
          </p:nvPr>
        </p:nvSpPr>
        <p:spPr>
          <a:xfrm>
            <a:off x="1371600" y="3200400"/>
            <a:ext cx="6400800" cy="2668487"/>
          </a:xfrm>
        </p:spPr>
        <p:txBody>
          <a:bodyPr>
            <a:noAutofit/>
          </a:bodyPr>
          <a:lstStyle/>
          <a:p>
            <a:r>
              <a:rPr lang="en-US" altLang="zh-CN" sz="1800" b="1" dirty="0">
                <a:solidFill>
                  <a:srgbClr val="FFFFFF"/>
                </a:solidFill>
                <a:ea typeface="Tahoma" panose="020B0604030504040204" pitchFamily="34" charset="0"/>
                <a:cs typeface="Tahoma" panose="020B0604030504040204" pitchFamily="34" charset="0"/>
              </a:rPr>
              <a:t>YAN-LEUNG CHEUNG</a:t>
            </a:r>
            <a:endParaRPr lang="zh-CN" altLang="zh-CN" sz="1800" b="1" dirty="0">
              <a:solidFill>
                <a:srgbClr val="FFFFFF"/>
              </a:solidFill>
              <a:cs typeface="Tahoma" panose="020B0604030504040204" pitchFamily="34" charset="0"/>
            </a:endParaRPr>
          </a:p>
          <a:p>
            <a:r>
              <a:rPr lang="en-US" altLang="zh-CN" sz="1800" i="1" dirty="0">
                <a:solidFill>
                  <a:srgbClr val="FFFFFF"/>
                </a:solidFill>
                <a:ea typeface="Tahoma" panose="020B0604030504040204" pitchFamily="34" charset="0"/>
                <a:cs typeface="Tahoma" panose="020B0604030504040204" pitchFamily="34" charset="0"/>
              </a:rPr>
              <a:t>Hong Kong Institute of </a:t>
            </a:r>
            <a:r>
              <a:rPr lang="en-US" altLang="zh-CN" sz="1800" i="1" dirty="0" smtClean="0">
                <a:solidFill>
                  <a:srgbClr val="FFFFFF"/>
                </a:solidFill>
                <a:ea typeface="Tahoma" panose="020B0604030504040204" pitchFamily="34" charset="0"/>
                <a:cs typeface="Tahoma" panose="020B0604030504040204" pitchFamily="34" charset="0"/>
              </a:rPr>
              <a:t>Education</a:t>
            </a:r>
          </a:p>
          <a:p>
            <a:endParaRPr lang="zh-CN" altLang="zh-CN" sz="1100" i="1" dirty="0">
              <a:solidFill>
                <a:srgbClr val="FFFFFF"/>
              </a:solidFill>
              <a:cs typeface="Tahoma" panose="020B0604030504040204" pitchFamily="34" charset="0"/>
            </a:endParaRPr>
          </a:p>
          <a:p>
            <a:r>
              <a:rPr lang="en-US" altLang="zh-CN" sz="1800" b="1" dirty="0">
                <a:solidFill>
                  <a:srgbClr val="FFFFFF"/>
                </a:solidFill>
                <a:ea typeface="Tahoma" panose="020B0604030504040204" pitchFamily="34" charset="0"/>
                <a:cs typeface="Tahoma" panose="020B0604030504040204" pitchFamily="34" charset="0"/>
              </a:rPr>
              <a:t> </a:t>
            </a:r>
            <a:r>
              <a:rPr lang="en-US" altLang="zh-CN" sz="1800" b="1" dirty="0" smtClean="0">
                <a:solidFill>
                  <a:srgbClr val="FFFFFF"/>
                </a:solidFill>
                <a:ea typeface="Tahoma" panose="020B0604030504040204" pitchFamily="34" charset="0"/>
                <a:cs typeface="Tahoma" panose="020B0604030504040204" pitchFamily="34" charset="0"/>
              </a:rPr>
              <a:t>P</a:t>
            </a:r>
            <a:r>
              <a:rPr lang="en-US" altLang="zh-CN" sz="1800" b="1" dirty="0">
                <a:solidFill>
                  <a:srgbClr val="FFFFFF"/>
                </a:solidFill>
                <a:ea typeface="Tahoma" panose="020B0604030504040204" pitchFamily="34" charset="0"/>
                <a:cs typeface="Tahoma" panose="020B0604030504040204" pitchFamily="34" charset="0"/>
              </a:rPr>
              <a:t>. RAGHAVENDRA RAU</a:t>
            </a:r>
            <a:endParaRPr lang="zh-CN" altLang="zh-CN" sz="1800" b="1" dirty="0">
              <a:solidFill>
                <a:srgbClr val="FFFFFF"/>
              </a:solidFill>
              <a:cs typeface="Tahoma" panose="020B0604030504040204" pitchFamily="34" charset="0"/>
            </a:endParaRPr>
          </a:p>
          <a:p>
            <a:r>
              <a:rPr lang="en-US" altLang="zh-CN" sz="1800" i="1" dirty="0">
                <a:solidFill>
                  <a:srgbClr val="FFFFFF"/>
                </a:solidFill>
                <a:ea typeface="Tahoma" panose="020B0604030504040204" pitchFamily="34" charset="0"/>
                <a:cs typeface="Tahoma" panose="020B0604030504040204" pitchFamily="34" charset="0"/>
              </a:rPr>
              <a:t>University of </a:t>
            </a:r>
            <a:r>
              <a:rPr lang="en-US" altLang="zh-CN" sz="1800" i="1" dirty="0" smtClean="0">
                <a:solidFill>
                  <a:srgbClr val="FFFFFF"/>
                </a:solidFill>
                <a:ea typeface="Tahoma" panose="020B0604030504040204" pitchFamily="34" charset="0"/>
                <a:cs typeface="Tahoma" panose="020B0604030504040204" pitchFamily="34" charset="0"/>
              </a:rPr>
              <a:t>Cambridge</a:t>
            </a:r>
          </a:p>
          <a:p>
            <a:endParaRPr lang="zh-CN" altLang="zh-CN" sz="1000" i="1" dirty="0">
              <a:solidFill>
                <a:srgbClr val="FFFFFF"/>
              </a:solidFill>
              <a:cs typeface="Tahoma" panose="020B0604030504040204" pitchFamily="34" charset="0"/>
            </a:endParaRPr>
          </a:p>
          <a:p>
            <a:r>
              <a:rPr lang="en-US" altLang="zh-CN" sz="1800" b="1" dirty="0" smtClean="0">
                <a:solidFill>
                  <a:srgbClr val="FFFFFF"/>
                </a:solidFill>
                <a:ea typeface="Tahoma" panose="020B0604030504040204" pitchFamily="34" charset="0"/>
                <a:cs typeface="Tahoma" panose="020B0604030504040204" pitchFamily="34" charset="0"/>
              </a:rPr>
              <a:t>ARIS </a:t>
            </a:r>
            <a:r>
              <a:rPr lang="en-US" altLang="zh-CN" sz="1800" b="1" dirty="0">
                <a:solidFill>
                  <a:srgbClr val="FFFFFF"/>
                </a:solidFill>
                <a:ea typeface="Tahoma" panose="020B0604030504040204" pitchFamily="34" charset="0"/>
                <a:cs typeface="Tahoma" panose="020B0604030504040204" pitchFamily="34" charset="0"/>
              </a:rPr>
              <a:t>STOURAITIS</a:t>
            </a:r>
            <a:endParaRPr lang="zh-CN" altLang="zh-CN" sz="1800" b="1" dirty="0">
              <a:solidFill>
                <a:srgbClr val="FFFFFF"/>
              </a:solidFill>
              <a:cs typeface="Tahoma" panose="020B0604030504040204" pitchFamily="34" charset="0"/>
            </a:endParaRPr>
          </a:p>
          <a:p>
            <a:r>
              <a:rPr lang="en-US" altLang="zh-CN" sz="1800" b="1" dirty="0" smtClean="0">
                <a:solidFill>
                  <a:srgbClr val="FFFFFF"/>
                </a:solidFill>
                <a:ea typeface="Tahoma" panose="020B0604030504040204" pitchFamily="34" charset="0"/>
                <a:cs typeface="Tahoma" panose="020B0604030504040204" pitchFamily="34" charset="0"/>
              </a:rPr>
              <a:t>WEIQIANG TAN</a:t>
            </a:r>
          </a:p>
          <a:p>
            <a:r>
              <a:rPr lang="en-US" altLang="zh-CN" sz="1800" i="1" dirty="0" smtClean="0">
                <a:solidFill>
                  <a:srgbClr val="FFFFFF"/>
                </a:solidFill>
                <a:ea typeface="Tahoma" panose="020B0604030504040204" pitchFamily="34" charset="0"/>
                <a:cs typeface="Tahoma" panose="020B0604030504040204" pitchFamily="34" charset="0"/>
              </a:rPr>
              <a:t>Hong </a:t>
            </a:r>
            <a:r>
              <a:rPr lang="en-US" altLang="zh-CN" sz="1800" i="1" dirty="0">
                <a:solidFill>
                  <a:srgbClr val="FFFFFF"/>
                </a:solidFill>
                <a:ea typeface="Tahoma" panose="020B0604030504040204" pitchFamily="34" charset="0"/>
                <a:cs typeface="Tahoma" panose="020B0604030504040204" pitchFamily="34" charset="0"/>
              </a:rPr>
              <a:t>Kong Baptist </a:t>
            </a:r>
            <a:r>
              <a:rPr lang="en-US" altLang="zh-CN" sz="1800" i="1" dirty="0" smtClean="0">
                <a:solidFill>
                  <a:srgbClr val="FFFFFF"/>
                </a:solidFill>
                <a:ea typeface="Tahoma" panose="020B0604030504040204" pitchFamily="34" charset="0"/>
                <a:cs typeface="Tahoma" panose="020B0604030504040204" pitchFamily="34" charset="0"/>
              </a:rPr>
              <a:t>University</a:t>
            </a:r>
            <a:endParaRPr lang="zh-CN" altLang="zh-CN" sz="1800" i="1" dirty="0">
              <a:solidFill>
                <a:srgbClr val="FFFFFF"/>
              </a:solidFill>
              <a:cs typeface="Tahoma" panose="020B0604030504040204" pitchFamily="34" charset="0"/>
            </a:endParaRPr>
          </a:p>
        </p:txBody>
      </p:sp>
    </p:spTree>
    <p:extLst>
      <p:ext uri="{BB962C8B-B14F-4D97-AF65-F5344CB8AC3E}">
        <p14:creationId xmlns:p14="http://schemas.microsoft.com/office/powerpoint/2010/main" val="40146160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Basic question</a:t>
            </a:r>
            <a:endParaRPr lang="zh-CN" altLang="en-US" dirty="0"/>
          </a:p>
        </p:txBody>
      </p:sp>
      <p:sp>
        <p:nvSpPr>
          <p:cNvPr id="3" name="Content Placeholder 2"/>
          <p:cNvSpPr>
            <a:spLocks noGrp="1"/>
          </p:cNvSpPr>
          <p:nvPr>
            <p:ph idx="1"/>
          </p:nvPr>
        </p:nvSpPr>
        <p:spPr>
          <a:xfrm>
            <a:off x="304800" y="1295400"/>
            <a:ext cx="8229600" cy="4997152"/>
          </a:xfrm>
        </p:spPr>
        <p:txBody>
          <a:bodyPr>
            <a:normAutofit/>
          </a:bodyPr>
          <a:lstStyle/>
          <a:p>
            <a:r>
              <a:rPr lang="en-US" altLang="zh-CN" sz="2800" dirty="0" smtClean="0"/>
              <a:t>Extensive evidence that controlling </a:t>
            </a:r>
            <a:r>
              <a:rPr lang="en-US" altLang="zh-CN" sz="2800" dirty="0"/>
              <a:t>shareholders </a:t>
            </a:r>
            <a:r>
              <a:rPr lang="en-US" altLang="zh-CN" sz="2800" dirty="0" smtClean="0"/>
              <a:t>tunnel </a:t>
            </a:r>
            <a:r>
              <a:rPr lang="en-US" altLang="zh-CN" sz="2800" dirty="0"/>
              <a:t>wealth away for their private benefit </a:t>
            </a:r>
            <a:r>
              <a:rPr lang="en-US" altLang="zh-CN" sz="2800" dirty="0" smtClean="0"/>
              <a:t>in publicly listed companies.</a:t>
            </a:r>
          </a:p>
          <a:p>
            <a:pPr lvl="1"/>
            <a:r>
              <a:rPr lang="en-US" altLang="zh-CN" sz="2400" dirty="0" smtClean="0"/>
              <a:t>Bertrand</a:t>
            </a:r>
            <a:r>
              <a:rPr lang="en-US" altLang="zh-CN" sz="2400" dirty="0"/>
              <a:t>, Mehta, and </a:t>
            </a:r>
            <a:r>
              <a:rPr lang="en-US" altLang="zh-CN" sz="2400" dirty="0" err="1"/>
              <a:t>Mullainathan</a:t>
            </a:r>
            <a:r>
              <a:rPr lang="en-US" altLang="zh-CN" sz="2400" dirty="0"/>
              <a:t>, 2002; </a:t>
            </a:r>
            <a:r>
              <a:rPr lang="en-US" altLang="zh-CN" sz="2400" dirty="0" err="1"/>
              <a:t>Baek</a:t>
            </a:r>
            <a:r>
              <a:rPr lang="en-US" altLang="zh-CN" sz="2400" dirty="0"/>
              <a:t>, Kang, and Lee, 2006; Cheung, Rau, and Stouraitis, 2006; </a:t>
            </a:r>
            <a:r>
              <a:rPr lang="en-US" altLang="zh-CN" sz="2400" dirty="0" err="1"/>
              <a:t>Berkman</a:t>
            </a:r>
            <a:r>
              <a:rPr lang="en-US" altLang="zh-CN" sz="2400" dirty="0"/>
              <a:t>, Cole, and Fu, 2009; Jiang, Lee, and Yue, 2010; and Peng, Wei, and Yang, </a:t>
            </a:r>
            <a:r>
              <a:rPr lang="en-US" altLang="zh-CN" sz="2400" dirty="0" smtClean="0"/>
              <a:t>2011.</a:t>
            </a:r>
          </a:p>
          <a:p>
            <a:r>
              <a:rPr lang="en-US" altLang="zh-CN" sz="2800" dirty="0" smtClean="0"/>
              <a:t>Unanswered question: </a:t>
            </a:r>
            <a:r>
              <a:rPr lang="en-US" altLang="zh-CN" sz="2800" b="1" i="1" dirty="0" smtClean="0"/>
              <a:t>When</a:t>
            </a:r>
            <a:r>
              <a:rPr lang="en-US" altLang="zh-CN" sz="2800" dirty="0" smtClean="0"/>
              <a:t> </a:t>
            </a:r>
            <a:r>
              <a:rPr lang="en-US" altLang="zh-CN" sz="2800" dirty="0"/>
              <a:t>and </a:t>
            </a:r>
            <a:r>
              <a:rPr lang="en-US" altLang="zh-CN" sz="2800" b="1" i="1" dirty="0"/>
              <a:t>why</a:t>
            </a:r>
            <a:r>
              <a:rPr lang="en-US" altLang="zh-CN" sz="2800" dirty="0"/>
              <a:t> controlling shareholders engage in tunneling activity to expropriate the firms they control</a:t>
            </a:r>
            <a:r>
              <a:rPr lang="en-US" altLang="zh-CN" sz="2800" dirty="0" smtClean="0"/>
              <a:t>?</a:t>
            </a:r>
          </a:p>
        </p:txBody>
      </p:sp>
    </p:spTree>
    <p:extLst>
      <p:ext uri="{BB962C8B-B14F-4D97-AF65-F5344CB8AC3E}">
        <p14:creationId xmlns:p14="http://schemas.microsoft.com/office/powerpoint/2010/main" val="13157918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More specifically</a:t>
            </a:r>
            <a:endParaRPr lang="zh-CN" altLang="en-US" dirty="0"/>
          </a:p>
        </p:txBody>
      </p:sp>
      <p:sp>
        <p:nvSpPr>
          <p:cNvPr id="3" name="Content Placeholder 2"/>
          <p:cNvSpPr>
            <a:spLocks noGrp="1"/>
          </p:cNvSpPr>
          <p:nvPr>
            <p:ph idx="1"/>
          </p:nvPr>
        </p:nvSpPr>
        <p:spPr>
          <a:xfrm>
            <a:off x="152400" y="1219200"/>
            <a:ext cx="8839200" cy="4853136"/>
          </a:xfrm>
        </p:spPr>
        <p:txBody>
          <a:bodyPr>
            <a:normAutofit lnSpcReduction="10000"/>
          </a:bodyPr>
          <a:lstStyle/>
          <a:p>
            <a:r>
              <a:rPr lang="en-US" altLang="zh-CN" sz="2800" dirty="0" smtClean="0"/>
              <a:t>When do </a:t>
            </a:r>
            <a:r>
              <a:rPr lang="en-US" altLang="zh-CN" sz="2800" dirty="0"/>
              <a:t>the incentives of the </a:t>
            </a:r>
            <a:r>
              <a:rPr lang="en-US" altLang="zh-CN" sz="2800" b="1" i="1" dirty="0"/>
              <a:t>controlling shareholder</a:t>
            </a:r>
            <a:r>
              <a:rPr lang="en-US" altLang="zh-CN" sz="2800" dirty="0"/>
              <a:t> affect the likelihood of </a:t>
            </a:r>
            <a:r>
              <a:rPr lang="en-US" altLang="zh-CN" sz="2800" dirty="0" smtClean="0"/>
              <a:t>expropriation?</a:t>
            </a:r>
          </a:p>
          <a:p>
            <a:r>
              <a:rPr lang="en-US" altLang="zh-CN" sz="2800" dirty="0" smtClean="0"/>
              <a:t>There </a:t>
            </a:r>
            <a:r>
              <a:rPr lang="en-US" altLang="zh-CN" sz="2800" dirty="0"/>
              <a:t>is no direct evidence in the literature </a:t>
            </a:r>
            <a:r>
              <a:rPr lang="en-US" altLang="zh-CN" sz="2800" dirty="0" smtClean="0"/>
              <a:t>at </a:t>
            </a:r>
            <a:r>
              <a:rPr lang="en-US" altLang="zh-CN" sz="2800" dirty="0"/>
              <a:t>the </a:t>
            </a:r>
            <a:r>
              <a:rPr lang="en-US" altLang="zh-CN" sz="2800" i="1" dirty="0"/>
              <a:t>micro</a:t>
            </a:r>
            <a:r>
              <a:rPr lang="en-US" altLang="zh-CN" sz="2800" dirty="0"/>
              <a:t> level</a:t>
            </a:r>
            <a:r>
              <a:rPr lang="en-US" altLang="zh-CN" sz="2800" dirty="0" smtClean="0"/>
              <a:t>.</a:t>
            </a:r>
          </a:p>
          <a:p>
            <a:pPr lvl="1"/>
            <a:r>
              <a:rPr lang="en-US" altLang="zh-CN" sz="2400" b="1" dirty="0" smtClean="0"/>
              <a:t>Macro level studies</a:t>
            </a:r>
            <a:r>
              <a:rPr lang="en-US" altLang="zh-CN" sz="2400" dirty="0" smtClean="0"/>
              <a:t>: </a:t>
            </a:r>
            <a:r>
              <a:rPr lang="en-US" altLang="zh-CN" sz="2400" dirty="0" err="1"/>
              <a:t>Bae</a:t>
            </a:r>
            <a:r>
              <a:rPr lang="en-US" altLang="zh-CN" sz="2400" dirty="0"/>
              <a:t>, </a:t>
            </a:r>
            <a:r>
              <a:rPr lang="en-US" altLang="zh-CN" sz="2400" dirty="0" err="1"/>
              <a:t>Baek</a:t>
            </a:r>
            <a:r>
              <a:rPr lang="en-US" altLang="zh-CN" sz="2400" dirty="0"/>
              <a:t>, Kang, and Liu (2012</a:t>
            </a:r>
            <a:r>
              <a:rPr lang="en-US" altLang="zh-CN" sz="2400" dirty="0" smtClean="0"/>
              <a:t>), </a:t>
            </a:r>
            <a:r>
              <a:rPr lang="en-US" altLang="zh-CN" sz="2400" dirty="0"/>
              <a:t>Johnson, Boone, Breach, and Friedman (2000), Friedman, Johnson, and </a:t>
            </a:r>
            <a:r>
              <a:rPr lang="en-US" altLang="zh-CN" sz="2400" dirty="0" err="1"/>
              <a:t>Mitton</a:t>
            </a:r>
            <a:r>
              <a:rPr lang="en-US" altLang="zh-CN" sz="2400" dirty="0"/>
              <a:t> (2003), and Lemmon and </a:t>
            </a:r>
            <a:r>
              <a:rPr lang="en-US" altLang="zh-CN" sz="2400" dirty="0" err="1"/>
              <a:t>Lins</a:t>
            </a:r>
            <a:r>
              <a:rPr lang="en-US" altLang="zh-CN" sz="2400" dirty="0"/>
              <a:t> (2003</a:t>
            </a:r>
            <a:r>
              <a:rPr lang="en-US" altLang="zh-CN" sz="2400" dirty="0" smtClean="0"/>
              <a:t>)</a:t>
            </a:r>
          </a:p>
          <a:p>
            <a:pPr lvl="1"/>
            <a:r>
              <a:rPr lang="en-US" altLang="zh-CN" sz="2400" dirty="0" smtClean="0"/>
              <a:t>Financial position of </a:t>
            </a:r>
            <a:r>
              <a:rPr lang="en-US" altLang="zh-CN" sz="2400" b="1" dirty="0" smtClean="0"/>
              <a:t>publicly listed firm</a:t>
            </a:r>
            <a:r>
              <a:rPr lang="en-US" altLang="zh-CN" sz="2400" dirty="0" smtClean="0"/>
              <a:t>: </a:t>
            </a:r>
            <a:r>
              <a:rPr lang="en-US" altLang="zh-CN" sz="2400" dirty="0"/>
              <a:t>Cheung, Rau, and </a:t>
            </a:r>
            <a:r>
              <a:rPr lang="en-US" altLang="zh-CN" sz="2400" dirty="0" smtClean="0"/>
              <a:t>Stouraitis (2006</a:t>
            </a:r>
            <a:r>
              <a:rPr lang="en-US" altLang="zh-CN" sz="2400" dirty="0"/>
              <a:t>, </a:t>
            </a:r>
            <a:r>
              <a:rPr lang="en-US" altLang="zh-CN" sz="2400" dirty="0" smtClean="0"/>
              <a:t>2010); </a:t>
            </a:r>
            <a:r>
              <a:rPr lang="en-US" altLang="zh-CN" sz="2400" dirty="0"/>
              <a:t>or Peng</a:t>
            </a:r>
            <a:r>
              <a:rPr lang="en-US" altLang="zh-CN" sz="2400" dirty="0" smtClean="0"/>
              <a:t>, </a:t>
            </a:r>
            <a:r>
              <a:rPr lang="en-US" altLang="zh-CN" sz="2400" dirty="0"/>
              <a:t>Wei, and </a:t>
            </a:r>
            <a:r>
              <a:rPr lang="en-US" altLang="zh-CN" sz="2400" dirty="0" smtClean="0"/>
              <a:t>Yang (2011).</a:t>
            </a:r>
          </a:p>
          <a:p>
            <a:pPr lvl="1"/>
            <a:r>
              <a:rPr lang="en-US" altLang="zh-CN" sz="2400" dirty="0" smtClean="0"/>
              <a:t>The controlling shareholder is a black box.</a:t>
            </a:r>
          </a:p>
          <a:p>
            <a:pPr lvl="1"/>
            <a:endParaRPr lang="zh-CN" altLang="en-US" sz="2400" dirty="0"/>
          </a:p>
        </p:txBody>
      </p:sp>
    </p:spTree>
    <p:extLst>
      <p:ext uri="{BB962C8B-B14F-4D97-AF65-F5344CB8AC3E}">
        <p14:creationId xmlns:p14="http://schemas.microsoft.com/office/powerpoint/2010/main" val="26206311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should we care?</a:t>
            </a:r>
            <a:endParaRPr lang="en-US" dirty="0"/>
          </a:p>
        </p:txBody>
      </p:sp>
      <p:sp>
        <p:nvSpPr>
          <p:cNvPr id="3" name="Content Placeholder 2"/>
          <p:cNvSpPr>
            <a:spLocks noGrp="1"/>
          </p:cNvSpPr>
          <p:nvPr>
            <p:ph idx="1"/>
          </p:nvPr>
        </p:nvSpPr>
        <p:spPr>
          <a:xfrm>
            <a:off x="152400" y="1219200"/>
            <a:ext cx="8763000" cy="4525963"/>
          </a:xfrm>
        </p:spPr>
        <p:txBody>
          <a:bodyPr/>
          <a:lstStyle/>
          <a:p>
            <a:r>
              <a:rPr lang="en-GB" b="0" dirty="0"/>
              <a:t>Controlling shareholders can either systematically tunnel wealth away in </a:t>
            </a:r>
          </a:p>
          <a:p>
            <a:pPr marL="342900" indent="-342900">
              <a:buFont typeface="Arial" panose="020B0604020202020204" pitchFamily="34" charset="0"/>
              <a:buChar char="•"/>
            </a:pPr>
            <a:r>
              <a:rPr lang="en-GB" b="0" dirty="0" smtClean="0">
                <a:solidFill>
                  <a:srgbClr val="FF0000"/>
                </a:solidFill>
              </a:rPr>
              <a:t>all </a:t>
            </a:r>
            <a:r>
              <a:rPr lang="en-GB" b="0" dirty="0">
                <a:solidFill>
                  <a:srgbClr val="FF0000"/>
                </a:solidFill>
              </a:rPr>
              <a:t>states of the world </a:t>
            </a:r>
            <a:r>
              <a:rPr lang="en-GB" b="0" dirty="0"/>
              <a:t>(for example, they can expropriate a constant percentage of the value of the firm every period), or </a:t>
            </a:r>
            <a:endParaRPr lang="en-GB" b="0" dirty="0" smtClean="0"/>
          </a:p>
          <a:p>
            <a:pPr marL="342900" indent="-342900">
              <a:buFont typeface="Arial" panose="020B0604020202020204" pitchFamily="34" charset="0"/>
              <a:buChar char="•"/>
            </a:pPr>
            <a:r>
              <a:rPr lang="en-GB" b="0" dirty="0" smtClean="0">
                <a:solidFill>
                  <a:srgbClr val="FF0000"/>
                </a:solidFill>
              </a:rPr>
              <a:t>in </a:t>
            </a:r>
            <a:r>
              <a:rPr lang="en-GB" b="0" dirty="0">
                <a:solidFill>
                  <a:srgbClr val="FF0000"/>
                </a:solidFill>
              </a:rPr>
              <a:t>particular states of the world </a:t>
            </a:r>
            <a:r>
              <a:rPr lang="en-GB" b="0" dirty="0"/>
              <a:t>(for example, if they need capital in order to overcome adverse economic shocks). </a:t>
            </a:r>
            <a:endParaRPr lang="en-GB" b="0" dirty="0" smtClean="0"/>
          </a:p>
          <a:p>
            <a:r>
              <a:rPr lang="en-GB" b="0" dirty="0" smtClean="0"/>
              <a:t>Persuading </a:t>
            </a:r>
            <a:r>
              <a:rPr lang="en-GB" b="0" dirty="0"/>
              <a:t>minority shareholders to invest in these firms will likely require different forms of corporate governance mechanisms in these two cases. </a:t>
            </a:r>
            <a:endParaRPr lang="en-GB" b="0" dirty="0" smtClean="0"/>
          </a:p>
          <a:p>
            <a:r>
              <a:rPr lang="en-US" b="0" dirty="0" smtClean="0"/>
              <a:t>Example: Friedman</a:t>
            </a:r>
            <a:r>
              <a:rPr lang="en-US" b="0" dirty="0"/>
              <a:t>, Johnson, and </a:t>
            </a:r>
            <a:r>
              <a:rPr lang="en-US" b="0" dirty="0" err="1"/>
              <a:t>Mitton</a:t>
            </a:r>
            <a:r>
              <a:rPr lang="en-US" b="0" dirty="0"/>
              <a:t> (2003) suggest that leverage may act as a mechanism that affects the degree of expropriation during macroeconomic shocks. </a:t>
            </a:r>
            <a:endParaRPr lang="en-US" b="0" dirty="0" smtClean="0"/>
          </a:p>
          <a:p>
            <a:r>
              <a:rPr lang="en-US" b="0" dirty="0" smtClean="0"/>
              <a:t>But the optimal </a:t>
            </a:r>
            <a:r>
              <a:rPr lang="en-US" b="0" dirty="0"/>
              <a:t>amount of leverage to reduce expropriation in macroeconomic shocks is likely to be different from the optimal amount in other periods.</a:t>
            </a:r>
          </a:p>
        </p:txBody>
      </p:sp>
    </p:spTree>
    <p:extLst>
      <p:ext uri="{BB962C8B-B14F-4D97-AF65-F5344CB8AC3E}">
        <p14:creationId xmlns:p14="http://schemas.microsoft.com/office/powerpoint/2010/main" val="1087863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So why doesn’t prior literature examine this question?</a:t>
            </a:r>
            <a:endParaRPr lang="zh-CN" altLang="en-US" dirty="0"/>
          </a:p>
        </p:txBody>
      </p:sp>
      <p:sp>
        <p:nvSpPr>
          <p:cNvPr id="3" name="Content Placeholder 2"/>
          <p:cNvSpPr>
            <a:spLocks noGrp="1"/>
          </p:cNvSpPr>
          <p:nvPr>
            <p:ph idx="1"/>
          </p:nvPr>
        </p:nvSpPr>
        <p:spPr>
          <a:xfrm>
            <a:off x="228600" y="1371600"/>
            <a:ext cx="8610600" cy="4525963"/>
          </a:xfrm>
        </p:spPr>
        <p:txBody>
          <a:bodyPr>
            <a:normAutofit/>
          </a:bodyPr>
          <a:lstStyle/>
          <a:p>
            <a:r>
              <a:rPr lang="en-US" altLang="zh-CN" sz="2800" b="0" dirty="0" smtClean="0"/>
              <a:t>Lack of </a:t>
            </a:r>
            <a:r>
              <a:rPr lang="en-US" altLang="zh-CN" sz="2800" b="0" dirty="0"/>
              <a:t>data</a:t>
            </a:r>
            <a:r>
              <a:rPr lang="en-US" altLang="zh-CN" sz="2800" b="0" dirty="0" smtClean="0"/>
              <a:t>.</a:t>
            </a:r>
          </a:p>
          <a:p>
            <a:r>
              <a:rPr lang="en-US" altLang="zh-CN" sz="2800" b="0" dirty="0" smtClean="0"/>
              <a:t>When shareholders are individuals, the </a:t>
            </a:r>
            <a:r>
              <a:rPr lang="en-US" altLang="zh-CN" sz="2800" b="0" dirty="0"/>
              <a:t>incentives of the controlling shareholders are difficult to identify and </a:t>
            </a:r>
            <a:r>
              <a:rPr lang="en-US" altLang="zh-CN" sz="2800" b="0" dirty="0" smtClean="0"/>
              <a:t>measure.</a:t>
            </a:r>
          </a:p>
          <a:p>
            <a:r>
              <a:rPr lang="en-US" altLang="zh-CN" sz="2800" b="0" dirty="0" smtClean="0"/>
              <a:t>But in </a:t>
            </a:r>
            <a:r>
              <a:rPr lang="en-US" altLang="zh-CN" sz="2800" b="0" dirty="0"/>
              <a:t>China, </a:t>
            </a:r>
            <a:r>
              <a:rPr lang="en-US" altLang="zh-CN" sz="2800" b="0" dirty="0" smtClean="0"/>
              <a:t>most controlling </a:t>
            </a:r>
            <a:r>
              <a:rPr lang="en-US" altLang="zh-CN" sz="2800" b="0" dirty="0"/>
              <a:t>shareholders are non-listed state-owned enterprises (SOEs) whose </a:t>
            </a:r>
            <a:r>
              <a:rPr lang="en-US" altLang="zh-CN" sz="2800" b="0" dirty="0" smtClean="0"/>
              <a:t>operating </a:t>
            </a:r>
            <a:r>
              <a:rPr lang="en-US" altLang="zh-CN" sz="2800" b="0" dirty="0"/>
              <a:t>performance can be measured</a:t>
            </a:r>
            <a:r>
              <a:rPr lang="en-US" altLang="zh-CN" sz="2800" b="0" dirty="0" smtClean="0"/>
              <a:t>.</a:t>
            </a:r>
            <a:endParaRPr lang="zh-CN" altLang="en-US" sz="2800" b="0" dirty="0"/>
          </a:p>
        </p:txBody>
      </p:sp>
    </p:spTree>
    <p:extLst>
      <p:ext uri="{BB962C8B-B14F-4D97-AF65-F5344CB8AC3E}">
        <p14:creationId xmlns:p14="http://schemas.microsoft.com/office/powerpoint/2010/main" val="35611352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Our hypotheses</a:t>
            </a:r>
            <a:endParaRPr lang="zh-CN" altLang="en-US" dirty="0"/>
          </a:p>
        </p:txBody>
      </p:sp>
      <p:sp>
        <p:nvSpPr>
          <p:cNvPr id="3" name="Content Placeholder 2"/>
          <p:cNvSpPr>
            <a:spLocks noGrp="1"/>
          </p:cNvSpPr>
          <p:nvPr>
            <p:ph idx="1"/>
          </p:nvPr>
        </p:nvSpPr>
        <p:spPr>
          <a:xfrm>
            <a:off x="136002" y="1219200"/>
            <a:ext cx="8855597" cy="4709120"/>
          </a:xfrm>
        </p:spPr>
        <p:txBody>
          <a:bodyPr>
            <a:normAutofit fontScale="92500" lnSpcReduction="10000"/>
          </a:bodyPr>
          <a:lstStyle/>
          <a:p>
            <a:r>
              <a:rPr lang="en-US" altLang="zh-CN" sz="2800" dirty="0" smtClean="0"/>
              <a:t>Managers </a:t>
            </a:r>
            <a:r>
              <a:rPr lang="en-US" altLang="zh-CN" sz="2800" dirty="0"/>
              <a:t>of </a:t>
            </a:r>
            <a:r>
              <a:rPr lang="en-US" altLang="zh-CN" sz="2800" i="1" dirty="0"/>
              <a:t>under-performing</a:t>
            </a:r>
            <a:r>
              <a:rPr lang="en-US" altLang="zh-CN" sz="2800" dirty="0"/>
              <a:t> controlling parents have </a:t>
            </a:r>
            <a:r>
              <a:rPr lang="en-US" altLang="zh-CN" sz="2800" i="1" dirty="0"/>
              <a:t>higher </a:t>
            </a:r>
            <a:r>
              <a:rPr lang="en-US" altLang="zh-CN" sz="2800" dirty="0"/>
              <a:t>incentives to expropriate and tunnel resources out of the publicly listed subsidiaries they </a:t>
            </a:r>
            <a:r>
              <a:rPr lang="en-US" altLang="zh-CN" sz="2800" dirty="0" smtClean="0"/>
              <a:t>control.</a:t>
            </a:r>
          </a:p>
          <a:p>
            <a:r>
              <a:rPr lang="en-US" altLang="zh-CN" sz="2800" b="0" dirty="0" smtClean="0"/>
              <a:t>Why would </a:t>
            </a:r>
            <a:r>
              <a:rPr lang="en-US" altLang="zh-CN" sz="2800" b="0" dirty="0"/>
              <a:t>managers of non-listed state-owned firms (essentially government bureaucrats) care about the performance of the firms they manage? </a:t>
            </a:r>
            <a:endParaRPr lang="en-US" altLang="zh-CN" sz="2800" b="0" dirty="0" smtClean="0"/>
          </a:p>
          <a:p>
            <a:pPr lvl="1"/>
            <a:r>
              <a:rPr lang="en-US" altLang="zh-CN" sz="2400" dirty="0" smtClean="0"/>
              <a:t>In </a:t>
            </a:r>
            <a:r>
              <a:rPr lang="en-US" altLang="zh-CN" sz="2400" dirty="0"/>
              <a:t>China, the performance of these non-listed </a:t>
            </a:r>
            <a:r>
              <a:rPr lang="en-US" altLang="zh-CN" sz="2400" dirty="0" smtClean="0"/>
              <a:t>state-owned </a:t>
            </a:r>
            <a:r>
              <a:rPr lang="en-US" altLang="zh-CN" sz="2400" dirty="0"/>
              <a:t>controlling firms is extremely important for their </a:t>
            </a:r>
            <a:r>
              <a:rPr lang="en-US" altLang="zh-CN" sz="2400" dirty="0" smtClean="0"/>
              <a:t>managers.</a:t>
            </a:r>
          </a:p>
          <a:p>
            <a:pPr lvl="1"/>
            <a:r>
              <a:rPr lang="en-US" altLang="zh-CN" sz="2400" dirty="0" smtClean="0"/>
              <a:t>While </a:t>
            </a:r>
            <a:r>
              <a:rPr lang="en-US" altLang="zh-CN" sz="2400" dirty="0"/>
              <a:t>these managers may not obtain direct pecuniary benefits, indirect benefits such as political promotions are linked to the performance of the non-listed firms they manage.</a:t>
            </a:r>
            <a:endParaRPr lang="en-US" altLang="zh-CN" sz="2400" dirty="0" smtClean="0"/>
          </a:p>
          <a:p>
            <a:endParaRPr lang="en-US" altLang="zh-CN" sz="2800" dirty="0" smtClean="0"/>
          </a:p>
          <a:p>
            <a:endParaRPr lang="zh-CN" altLang="en-US" sz="2800" dirty="0"/>
          </a:p>
        </p:txBody>
      </p:sp>
      <p:sp>
        <p:nvSpPr>
          <p:cNvPr id="8" name="Rectangle 2"/>
          <p:cNvSpPr>
            <a:spLocks noChangeArrowheads="1"/>
          </p:cNvSpPr>
          <p:nvPr/>
        </p:nvSpPr>
        <p:spPr bwMode="auto">
          <a:xfrm>
            <a:off x="152400" y="-322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741506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Our approach</a:t>
            </a:r>
            <a:endParaRPr lang="zh-CN" altLang="en-US" dirty="0"/>
          </a:p>
        </p:txBody>
      </p:sp>
      <p:sp>
        <p:nvSpPr>
          <p:cNvPr id="3" name="Content Placeholder 2"/>
          <p:cNvSpPr>
            <a:spLocks noGrp="1"/>
          </p:cNvSpPr>
          <p:nvPr>
            <p:ph idx="1"/>
          </p:nvPr>
        </p:nvSpPr>
        <p:spPr>
          <a:xfrm>
            <a:off x="304800" y="1219200"/>
            <a:ext cx="8610600" cy="4925144"/>
          </a:xfrm>
        </p:spPr>
        <p:txBody>
          <a:bodyPr>
            <a:noAutofit/>
          </a:bodyPr>
          <a:lstStyle/>
          <a:p>
            <a:r>
              <a:rPr lang="en-US" altLang="zh-CN" sz="2400" dirty="0"/>
              <a:t>We obtain non-consolidated financial information for controlling shareholders from China’s National Bureau of Statistics’ (NBS) Annual Industrial Survey </a:t>
            </a:r>
            <a:r>
              <a:rPr lang="en-US" altLang="zh-CN" sz="2400" dirty="0" smtClean="0"/>
              <a:t>Database.</a:t>
            </a:r>
          </a:p>
          <a:p>
            <a:pPr lvl="1"/>
            <a:r>
              <a:rPr lang="en-US" altLang="zh-CN" sz="2400" dirty="0" smtClean="0"/>
              <a:t>Provides </a:t>
            </a:r>
            <a:r>
              <a:rPr lang="en-US" altLang="zh-CN" sz="2400" dirty="0"/>
              <a:t>financial statement information for all industrial firms, listed and non-listed. </a:t>
            </a:r>
            <a:endParaRPr lang="en-US" altLang="zh-CN" sz="2400" dirty="0" smtClean="0"/>
          </a:p>
          <a:p>
            <a:r>
              <a:rPr lang="en-US" altLang="zh-CN" sz="2400" dirty="0" smtClean="0"/>
              <a:t>We directly </a:t>
            </a:r>
            <a:r>
              <a:rPr lang="en-US" altLang="zh-CN" sz="2400" dirty="0"/>
              <a:t>link the magnitude of the expropriation of the publicly listed firm at the bottom of the pyramid to the financial performance of its parent higher up in the pyramid</a:t>
            </a:r>
            <a:r>
              <a:rPr lang="en-US" altLang="zh-CN" sz="2400" dirty="0" smtClean="0"/>
              <a:t>.</a:t>
            </a:r>
          </a:p>
          <a:p>
            <a:pPr lvl="1"/>
            <a:r>
              <a:rPr lang="en-US" altLang="zh-CN" sz="2400" dirty="0" smtClean="0"/>
              <a:t>Performance: The </a:t>
            </a:r>
            <a:r>
              <a:rPr lang="en-US" altLang="zh-CN" sz="2400" dirty="0"/>
              <a:t>operating performance </a:t>
            </a:r>
            <a:r>
              <a:rPr lang="en-US" altLang="zh-CN" sz="2400" dirty="0" smtClean="0"/>
              <a:t>(either the </a:t>
            </a:r>
            <a:r>
              <a:rPr lang="en-US" altLang="zh-CN" sz="2400" dirty="0"/>
              <a:t>return on assets (</a:t>
            </a:r>
            <a:r>
              <a:rPr lang="en-US" altLang="zh-CN" sz="2400" b="1" dirty="0"/>
              <a:t>ROA</a:t>
            </a:r>
            <a:r>
              <a:rPr lang="en-US" altLang="zh-CN" sz="2400" dirty="0"/>
              <a:t>) and the cash flow-to-asset </a:t>
            </a:r>
            <a:r>
              <a:rPr lang="en-US" altLang="zh-CN" sz="2400" dirty="0" smtClean="0"/>
              <a:t>ratio (</a:t>
            </a:r>
            <a:r>
              <a:rPr lang="en-US" altLang="zh-CN" sz="2400" b="1" dirty="0" smtClean="0"/>
              <a:t>CF</a:t>
            </a:r>
            <a:r>
              <a:rPr lang="en-US" altLang="zh-CN" sz="2400" dirty="0" smtClean="0"/>
              <a:t>)) of the </a:t>
            </a:r>
            <a:r>
              <a:rPr lang="en-US" altLang="zh-CN" sz="2400" i="1" dirty="0" smtClean="0"/>
              <a:t>non-listed </a:t>
            </a:r>
            <a:r>
              <a:rPr lang="en-US" altLang="zh-CN" sz="2400" i="1" dirty="0"/>
              <a:t>controlling shareholder</a:t>
            </a:r>
            <a:endParaRPr lang="zh-CN" altLang="en-US" sz="2400" dirty="0"/>
          </a:p>
        </p:txBody>
      </p:sp>
    </p:spTree>
    <p:extLst>
      <p:ext uri="{BB962C8B-B14F-4D97-AF65-F5344CB8AC3E}">
        <p14:creationId xmlns:p14="http://schemas.microsoft.com/office/powerpoint/2010/main" val="2255992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Proxies for expropriation</a:t>
            </a:r>
            <a:endParaRPr lang="zh-CN" altLang="en-US" dirty="0"/>
          </a:p>
        </p:txBody>
      </p:sp>
      <p:sp>
        <p:nvSpPr>
          <p:cNvPr id="3" name="Content Placeholder 2"/>
          <p:cNvSpPr>
            <a:spLocks noGrp="1"/>
          </p:cNvSpPr>
          <p:nvPr>
            <p:ph idx="1"/>
          </p:nvPr>
        </p:nvSpPr>
        <p:spPr>
          <a:xfrm>
            <a:off x="228600" y="1295400"/>
            <a:ext cx="8763000" cy="4525963"/>
          </a:xfrm>
        </p:spPr>
        <p:txBody>
          <a:bodyPr>
            <a:noAutofit/>
          </a:bodyPr>
          <a:lstStyle/>
          <a:p>
            <a:r>
              <a:rPr lang="en-US" altLang="zh-CN" sz="2800" dirty="0" smtClean="0"/>
              <a:t>We use two proxies for expropriation:</a:t>
            </a:r>
          </a:p>
          <a:p>
            <a:pPr lvl="1"/>
            <a:r>
              <a:rPr lang="en-US" altLang="zh-CN" sz="2400" u="sng" dirty="0"/>
              <a:t>Direct evidence </a:t>
            </a:r>
            <a:r>
              <a:rPr lang="en-US" altLang="zh-CN" sz="2400" dirty="0"/>
              <a:t>on the size of fund transfers (intra-group loans) from the publicly listed firm to its parent (Jiang, Lee, and Yue, 2010) and the market valuation of these intra-group loans.</a:t>
            </a:r>
          </a:p>
          <a:p>
            <a:pPr lvl="1"/>
            <a:r>
              <a:rPr lang="en-US" altLang="zh-CN" sz="2400" u="sng" dirty="0" smtClean="0"/>
              <a:t>Indirect evidence</a:t>
            </a:r>
            <a:r>
              <a:rPr lang="en-US" altLang="zh-CN" sz="2400" dirty="0" smtClean="0"/>
              <a:t>: The value of cash holdings on the publicly listed firm’s balance sheet</a:t>
            </a:r>
          </a:p>
        </p:txBody>
      </p:sp>
    </p:spTree>
    <p:extLst>
      <p:ext uri="{BB962C8B-B14F-4D97-AF65-F5344CB8AC3E}">
        <p14:creationId xmlns:p14="http://schemas.microsoft.com/office/powerpoint/2010/main" val="11796864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Direct flows</a:t>
            </a:r>
            <a:endParaRPr lang="zh-CN" altLang="en-US" dirty="0"/>
          </a:p>
        </p:txBody>
      </p:sp>
      <p:sp>
        <p:nvSpPr>
          <p:cNvPr id="3" name="Content Placeholder 2"/>
          <p:cNvSpPr>
            <a:spLocks noGrp="1"/>
          </p:cNvSpPr>
          <p:nvPr>
            <p:ph idx="1"/>
          </p:nvPr>
        </p:nvSpPr>
        <p:spPr>
          <a:xfrm>
            <a:off x="152400" y="1295400"/>
            <a:ext cx="8763000" cy="4525963"/>
          </a:xfrm>
        </p:spPr>
        <p:txBody>
          <a:bodyPr>
            <a:noAutofit/>
          </a:bodyPr>
          <a:lstStyle/>
          <a:p>
            <a:r>
              <a:rPr lang="en-US" altLang="zh-CN" sz="2400" dirty="0" smtClean="0"/>
              <a:t>What is the size of intra-group loans extended from the publicly listed firm to its non-listed parent?</a:t>
            </a:r>
          </a:p>
          <a:p>
            <a:r>
              <a:rPr lang="en-US" altLang="zh-CN" sz="2400" dirty="0" smtClean="0"/>
              <a:t>How does the </a:t>
            </a:r>
            <a:r>
              <a:rPr lang="en-US" altLang="zh-CN" sz="2400" dirty="0"/>
              <a:t>stock market values </a:t>
            </a:r>
            <a:r>
              <a:rPr lang="en-US" altLang="zh-CN" sz="2400" dirty="0" smtClean="0"/>
              <a:t>these </a:t>
            </a:r>
            <a:r>
              <a:rPr lang="en-US" altLang="zh-CN" sz="2400" dirty="0"/>
              <a:t>intra-group loans </a:t>
            </a:r>
            <a:r>
              <a:rPr lang="en-US" altLang="zh-CN" sz="2400" dirty="0" smtClean="0"/>
              <a:t>that </a:t>
            </a:r>
            <a:r>
              <a:rPr lang="en-US" altLang="zh-CN" sz="2400" dirty="0"/>
              <a:t>appear on the publicly listed firm’s balance </a:t>
            </a:r>
            <a:r>
              <a:rPr lang="en-US" altLang="zh-CN" sz="2400" dirty="0" smtClean="0"/>
              <a:t>sheet?</a:t>
            </a:r>
            <a:endParaRPr lang="en-US" altLang="zh-CN" sz="2400" dirty="0"/>
          </a:p>
          <a:p>
            <a:r>
              <a:rPr lang="en-US" altLang="zh-CN" sz="2400" b="0" dirty="0" smtClean="0"/>
              <a:t>This </a:t>
            </a:r>
            <a:r>
              <a:rPr lang="en-US" altLang="zh-CN" sz="2400" b="0" dirty="0"/>
              <a:t>proxy measures the </a:t>
            </a:r>
            <a:r>
              <a:rPr lang="en-US" altLang="zh-CN" sz="2400" b="0" i="1" dirty="0"/>
              <a:t>ex ante </a:t>
            </a:r>
            <a:r>
              <a:rPr lang="en-US" altLang="zh-CN" sz="2400" b="0" dirty="0"/>
              <a:t>likelihood that investors place on the event </a:t>
            </a:r>
            <a:r>
              <a:rPr lang="en-US" altLang="zh-CN" sz="2400" b="0" dirty="0" smtClean="0"/>
              <a:t>these intra-group loans will not be repaid.</a:t>
            </a:r>
          </a:p>
          <a:p>
            <a:r>
              <a:rPr lang="en-US" altLang="zh-CN" sz="2400" b="0" dirty="0" smtClean="0"/>
              <a:t>Intra-group loans are current assets (</a:t>
            </a:r>
            <a:r>
              <a:rPr lang="en-US" altLang="zh-CN" sz="2400" b="0" dirty="0"/>
              <a:t>as </a:t>
            </a:r>
            <a:r>
              <a:rPr lang="en-US" altLang="zh-CN" sz="2400" b="0" i="1" dirty="0"/>
              <a:t>Other receivables</a:t>
            </a:r>
            <a:r>
              <a:rPr lang="en-US" altLang="zh-CN" sz="2400" b="0" dirty="0"/>
              <a:t>) </a:t>
            </a:r>
            <a:r>
              <a:rPr lang="en-US" altLang="zh-CN" sz="2400" b="0" dirty="0" smtClean="0"/>
              <a:t>and can be valued in the same way that we value cash holdings. </a:t>
            </a:r>
            <a:endParaRPr lang="en-US" altLang="zh-CN" sz="2400" b="0" dirty="0"/>
          </a:p>
        </p:txBody>
      </p:sp>
    </p:spTree>
    <p:extLst>
      <p:ext uri="{BB962C8B-B14F-4D97-AF65-F5344CB8AC3E}">
        <p14:creationId xmlns:p14="http://schemas.microsoft.com/office/powerpoint/2010/main" val="14407346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Indirect evidence</a:t>
            </a:r>
            <a:endParaRPr lang="zh-CN" altLang="en-US" dirty="0"/>
          </a:p>
        </p:txBody>
      </p:sp>
      <p:sp>
        <p:nvSpPr>
          <p:cNvPr id="3" name="Content Placeholder 2"/>
          <p:cNvSpPr>
            <a:spLocks noGrp="1"/>
          </p:cNvSpPr>
          <p:nvPr>
            <p:ph idx="1"/>
          </p:nvPr>
        </p:nvSpPr>
        <p:spPr>
          <a:xfrm>
            <a:off x="76200" y="1219200"/>
            <a:ext cx="8915400" cy="4648200"/>
          </a:xfrm>
        </p:spPr>
        <p:txBody>
          <a:bodyPr>
            <a:noAutofit/>
          </a:bodyPr>
          <a:lstStyle/>
          <a:p>
            <a:r>
              <a:rPr lang="en-US" altLang="zh-CN" sz="2400" dirty="0"/>
              <a:t>How </a:t>
            </a:r>
            <a:r>
              <a:rPr lang="en-US" altLang="zh-CN" sz="2400" dirty="0" smtClean="0"/>
              <a:t>does the </a:t>
            </a:r>
            <a:r>
              <a:rPr lang="en-US" altLang="zh-CN" sz="2400" dirty="0"/>
              <a:t>stock market </a:t>
            </a:r>
            <a:r>
              <a:rPr lang="en-US" altLang="zh-CN" sz="2400" dirty="0" smtClean="0"/>
              <a:t>value </a:t>
            </a:r>
            <a:r>
              <a:rPr lang="en-US" altLang="zh-CN" sz="2400" dirty="0"/>
              <a:t>the cash holdings </a:t>
            </a:r>
            <a:r>
              <a:rPr lang="en-US" altLang="zh-CN" sz="2400" dirty="0" smtClean="0"/>
              <a:t>that </a:t>
            </a:r>
            <a:r>
              <a:rPr lang="en-US" altLang="zh-CN" sz="2400" dirty="0"/>
              <a:t>appear on the publicly listed firm’s balance </a:t>
            </a:r>
            <a:r>
              <a:rPr lang="en-US" altLang="zh-CN" sz="2400" dirty="0" smtClean="0"/>
              <a:t>sheet?</a:t>
            </a:r>
            <a:endParaRPr lang="en-US" altLang="zh-CN" sz="2400" dirty="0"/>
          </a:p>
          <a:p>
            <a:r>
              <a:rPr lang="en-US" altLang="zh-CN" sz="2400" dirty="0" smtClean="0"/>
              <a:t>This </a:t>
            </a:r>
            <a:r>
              <a:rPr lang="en-US" altLang="zh-CN" sz="2400" dirty="0"/>
              <a:t>proxy measures the </a:t>
            </a:r>
            <a:r>
              <a:rPr lang="en-US" altLang="zh-CN" sz="2400" i="1" dirty="0"/>
              <a:t>ex ante </a:t>
            </a:r>
            <a:r>
              <a:rPr lang="en-US" altLang="zh-CN" sz="2400" dirty="0"/>
              <a:t>likelihood that investors place on the event of the assets later being expropriated. </a:t>
            </a:r>
          </a:p>
          <a:p>
            <a:pPr lvl="1">
              <a:spcAft>
                <a:spcPts val="600"/>
              </a:spcAft>
            </a:pPr>
            <a:r>
              <a:rPr lang="en-US" altLang="zh-CN" sz="2000" dirty="0" smtClean="0"/>
              <a:t>“(</a:t>
            </a:r>
            <a:r>
              <a:rPr lang="en-US" altLang="zh-CN" sz="2000" dirty="0"/>
              <a:t>a)</a:t>
            </a:r>
            <a:r>
              <a:rPr lang="en-US" altLang="zh-CN" sz="2000" dirty="0" err="1"/>
              <a:t>nonymous</a:t>
            </a:r>
            <a:r>
              <a:rPr lang="en-US" altLang="zh-CN" sz="2000" dirty="0"/>
              <a:t>, transportable assets, such as cash, bearer bonds, or commodities, are </a:t>
            </a:r>
            <a:r>
              <a:rPr lang="en-US" altLang="zh-CN" sz="2000" b="1" dirty="0"/>
              <a:t>easier to steal</a:t>
            </a:r>
            <a:r>
              <a:rPr lang="en-US" altLang="zh-CN" sz="2000" dirty="0"/>
              <a:t> than fixed assets” (Myers and </a:t>
            </a:r>
            <a:r>
              <a:rPr lang="en-US" altLang="zh-CN" sz="2000" dirty="0" err="1"/>
              <a:t>Rajan</a:t>
            </a:r>
            <a:r>
              <a:rPr lang="en-US" altLang="zh-CN" sz="2000" dirty="0"/>
              <a:t>, 1998). </a:t>
            </a:r>
            <a:endParaRPr lang="en-US" altLang="zh-CN" sz="2000" dirty="0" smtClean="0"/>
          </a:p>
          <a:p>
            <a:pPr lvl="1">
              <a:spcAft>
                <a:spcPts val="600"/>
              </a:spcAft>
            </a:pPr>
            <a:r>
              <a:rPr lang="en-US" altLang="zh-CN" sz="2000" dirty="0" smtClean="0"/>
              <a:t>The value of cash </a:t>
            </a:r>
            <a:r>
              <a:rPr lang="en-US" altLang="zh-CN" sz="2000" dirty="0"/>
              <a:t>is likely to be sensitive to the likelihood of expropriation (</a:t>
            </a:r>
            <a:r>
              <a:rPr lang="en-US" altLang="zh-CN" sz="2000" dirty="0" err="1"/>
              <a:t>Dittmar</a:t>
            </a:r>
            <a:r>
              <a:rPr lang="en-US" altLang="zh-CN" sz="2000" dirty="0"/>
              <a:t> and </a:t>
            </a:r>
            <a:r>
              <a:rPr lang="en-US" altLang="zh-CN" sz="2000" dirty="0" err="1"/>
              <a:t>Mahrt</a:t>
            </a:r>
            <a:r>
              <a:rPr lang="en-US" altLang="zh-CN" sz="2000" dirty="0"/>
              <a:t>-Smith, 2007). </a:t>
            </a:r>
            <a:endParaRPr lang="en-US" altLang="zh-CN" sz="2000" dirty="0" smtClean="0"/>
          </a:p>
          <a:p>
            <a:pPr lvl="1">
              <a:spcAft>
                <a:spcPts val="600"/>
              </a:spcAft>
            </a:pPr>
            <a:r>
              <a:rPr lang="en-US" altLang="zh-CN" sz="2000" dirty="0" smtClean="0"/>
              <a:t>There are good </a:t>
            </a:r>
            <a:r>
              <a:rPr lang="en-US" altLang="zh-CN" sz="2000" dirty="0"/>
              <a:t>models for estimating the value of cash </a:t>
            </a:r>
            <a:r>
              <a:rPr lang="en-US" altLang="zh-CN" sz="2000" dirty="0" smtClean="0"/>
              <a:t>holdings.</a:t>
            </a:r>
          </a:p>
          <a:p>
            <a:pPr lvl="1">
              <a:spcAft>
                <a:spcPts val="600"/>
              </a:spcAft>
            </a:pPr>
            <a:r>
              <a:rPr lang="en-US" altLang="zh-CN" sz="2000" dirty="0" smtClean="0"/>
              <a:t>This is indirect: The </a:t>
            </a:r>
            <a:r>
              <a:rPr lang="en-US" altLang="zh-CN" sz="2000" dirty="0" smtClean="0"/>
              <a:t>value of cash may reflect many avenues for expropriation that are difficult to value </a:t>
            </a:r>
            <a:r>
              <a:rPr lang="en-US" altLang="zh-CN" sz="2000" dirty="0"/>
              <a:t>individually (e.g. </a:t>
            </a:r>
            <a:r>
              <a:rPr lang="en-US" altLang="zh-CN" sz="2000" dirty="0" smtClean="0"/>
              <a:t>different </a:t>
            </a:r>
            <a:r>
              <a:rPr lang="en-US" altLang="zh-CN" sz="2000" dirty="0"/>
              <a:t>types of related party transactions </a:t>
            </a:r>
            <a:r>
              <a:rPr lang="en-US" altLang="zh-CN" sz="2000" dirty="0" err="1"/>
              <a:t>etc</a:t>
            </a:r>
            <a:r>
              <a:rPr lang="en-US" altLang="zh-CN" sz="2000" dirty="0"/>
              <a:t>).</a:t>
            </a:r>
            <a:endParaRPr lang="zh-CN" altLang="en-US" sz="2000" dirty="0"/>
          </a:p>
        </p:txBody>
      </p:sp>
    </p:spTree>
    <p:extLst>
      <p:ext uri="{BB962C8B-B14F-4D97-AF65-F5344CB8AC3E}">
        <p14:creationId xmlns:p14="http://schemas.microsoft.com/office/powerpoint/2010/main" val="1873590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8229600" cy="1143000"/>
          </a:xfrm>
        </p:spPr>
        <p:txBody>
          <a:bodyPr/>
          <a:lstStyle/>
          <a:p>
            <a:r>
              <a:rPr lang="en-US" altLang="zh-CN" dirty="0" smtClean="0"/>
              <a:t>Hypothetical example</a:t>
            </a:r>
            <a:endParaRPr lang="zh-CN" altLang="en-US" dirty="0"/>
          </a:p>
        </p:txBody>
      </p:sp>
      <p:sp>
        <p:nvSpPr>
          <p:cNvPr id="5" name="Rounded Rectangle 4"/>
          <p:cNvSpPr/>
          <p:nvPr/>
        </p:nvSpPr>
        <p:spPr>
          <a:xfrm>
            <a:off x="2681644" y="4796361"/>
            <a:ext cx="3816424" cy="151216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3200" u="sng" dirty="0" smtClean="0"/>
              <a:t>Subsidiary Inc.</a:t>
            </a:r>
          </a:p>
          <a:p>
            <a:pPr algn="ctr"/>
            <a:r>
              <a:rPr lang="en-US" altLang="zh-CN" sz="3200" dirty="0" smtClean="0"/>
              <a:t>(Publicly listed firm)</a:t>
            </a:r>
          </a:p>
        </p:txBody>
      </p:sp>
      <p:sp>
        <p:nvSpPr>
          <p:cNvPr id="6" name="Oval 5"/>
          <p:cNvSpPr/>
          <p:nvPr/>
        </p:nvSpPr>
        <p:spPr>
          <a:xfrm>
            <a:off x="2555776" y="1268760"/>
            <a:ext cx="4032448" cy="216024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sz="2400" b="1" u="sng" dirty="0" smtClean="0"/>
              <a:t>Parent Inc.</a:t>
            </a:r>
          </a:p>
          <a:p>
            <a:pPr algn="ctr"/>
            <a:r>
              <a:rPr lang="en-US" altLang="zh-CN" sz="2400" dirty="0" smtClean="0"/>
              <a:t>(</a:t>
            </a:r>
            <a:r>
              <a:rPr lang="en-US" altLang="zh-CN" sz="2400" dirty="0"/>
              <a:t>non-listed parent and controlling </a:t>
            </a:r>
            <a:r>
              <a:rPr lang="en-US" altLang="zh-CN" sz="2400" dirty="0" smtClean="0"/>
              <a:t>shareholder)</a:t>
            </a:r>
            <a:endParaRPr lang="zh-CN" altLang="en-US" sz="2400" dirty="0"/>
          </a:p>
        </p:txBody>
      </p:sp>
      <p:cxnSp>
        <p:nvCxnSpPr>
          <p:cNvPr id="8" name="Straight Arrow Connector 7"/>
          <p:cNvCxnSpPr>
            <a:endCxn id="6" idx="4"/>
          </p:cNvCxnSpPr>
          <p:nvPr/>
        </p:nvCxnSpPr>
        <p:spPr>
          <a:xfrm flipH="1" flipV="1">
            <a:off x="4572000" y="3429000"/>
            <a:ext cx="17856" cy="139544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6200" y="2117368"/>
            <a:ext cx="2521052" cy="3477875"/>
          </a:xfrm>
          <a:prstGeom prst="rect">
            <a:avLst/>
          </a:prstGeom>
          <a:noFill/>
        </p:spPr>
        <p:txBody>
          <a:bodyPr wrap="square" rtlCol="0">
            <a:spAutoFit/>
          </a:bodyPr>
          <a:lstStyle/>
          <a:p>
            <a:r>
              <a:rPr lang="en-US" altLang="zh-CN" sz="2000" dirty="0"/>
              <a:t>If assets on the balance sheet of </a:t>
            </a:r>
            <a:r>
              <a:rPr lang="en-US" altLang="zh-CN" sz="2000" i="1" dirty="0"/>
              <a:t>Subsidiary </a:t>
            </a:r>
            <a:r>
              <a:rPr lang="en-US" altLang="zh-CN" sz="2000" i="1" dirty="0" smtClean="0"/>
              <a:t>Inc.</a:t>
            </a:r>
            <a:r>
              <a:rPr lang="en-US" altLang="zh-CN" sz="2000" dirty="0" smtClean="0"/>
              <a:t> </a:t>
            </a:r>
            <a:r>
              <a:rPr lang="en-US" altLang="zh-CN" sz="2000" dirty="0"/>
              <a:t>are likely to be expropriated by its parent and transferred to </a:t>
            </a:r>
            <a:r>
              <a:rPr lang="en-US" altLang="zh-CN" sz="2000" i="1" dirty="0"/>
              <a:t>Parent </a:t>
            </a:r>
            <a:r>
              <a:rPr lang="en-US" altLang="zh-CN" sz="2000" i="1" dirty="0" smtClean="0"/>
              <a:t>Inc.</a:t>
            </a:r>
            <a:r>
              <a:rPr lang="en-US" altLang="zh-CN" sz="2000" dirty="0" smtClean="0"/>
              <a:t>, the value of cash and cash-like assets is likely to be lower.</a:t>
            </a:r>
            <a:endParaRPr lang="en-US" altLang="zh-CN" sz="2000" i="1" dirty="0" smtClean="0"/>
          </a:p>
        </p:txBody>
      </p:sp>
      <p:sp>
        <p:nvSpPr>
          <p:cNvPr id="11" name="TextBox 10"/>
          <p:cNvSpPr txBox="1"/>
          <p:nvPr/>
        </p:nvSpPr>
        <p:spPr>
          <a:xfrm>
            <a:off x="4644008" y="3876074"/>
            <a:ext cx="1680592" cy="461665"/>
          </a:xfrm>
          <a:prstGeom prst="rect">
            <a:avLst/>
          </a:prstGeom>
          <a:noFill/>
        </p:spPr>
        <p:txBody>
          <a:bodyPr vert="horz" wrap="square" rtlCol="0">
            <a:spAutoFit/>
          </a:bodyPr>
          <a:lstStyle/>
          <a:p>
            <a:r>
              <a:rPr lang="en-US" altLang="zh-CN" sz="2400" dirty="0" smtClean="0"/>
              <a:t>Resources</a:t>
            </a:r>
            <a:endParaRPr lang="zh-CN" altLang="en-US" sz="2400" dirty="0"/>
          </a:p>
        </p:txBody>
      </p:sp>
      <p:sp>
        <p:nvSpPr>
          <p:cNvPr id="13" name="Rectangle 12"/>
          <p:cNvSpPr/>
          <p:nvPr/>
        </p:nvSpPr>
        <p:spPr>
          <a:xfrm>
            <a:off x="6447675" y="3333041"/>
            <a:ext cx="2627784" cy="3170099"/>
          </a:xfrm>
          <a:prstGeom prst="rect">
            <a:avLst/>
          </a:prstGeom>
        </p:spPr>
        <p:txBody>
          <a:bodyPr wrap="square">
            <a:spAutoFit/>
          </a:bodyPr>
          <a:lstStyle/>
          <a:p>
            <a:r>
              <a:rPr lang="en-US" altLang="zh-CN" sz="2000" dirty="0" smtClean="0"/>
              <a:t>We </a:t>
            </a:r>
            <a:r>
              <a:rPr lang="en-US" altLang="zh-CN" sz="2000" dirty="0"/>
              <a:t>expect a link between the operating performance of </a:t>
            </a:r>
            <a:r>
              <a:rPr lang="en-US" altLang="zh-CN" sz="2000" i="1" dirty="0"/>
              <a:t>Parent </a:t>
            </a:r>
            <a:r>
              <a:rPr lang="en-US" altLang="zh-CN" sz="2000" i="1" dirty="0" err="1"/>
              <a:t>Inc</a:t>
            </a:r>
            <a:r>
              <a:rPr lang="en-US" altLang="zh-CN" sz="2000" dirty="0"/>
              <a:t> and the market valuation of $1 of </a:t>
            </a:r>
            <a:r>
              <a:rPr lang="en-US" altLang="zh-CN" sz="2000" dirty="0" smtClean="0"/>
              <a:t>cash and other  receivables on </a:t>
            </a:r>
            <a:r>
              <a:rPr lang="en-US" altLang="zh-CN" sz="2000" i="1" dirty="0"/>
              <a:t>Subsidiary </a:t>
            </a:r>
            <a:r>
              <a:rPr lang="en-US" altLang="zh-CN" sz="2000" i="1" dirty="0" err="1"/>
              <a:t>Inc</a:t>
            </a:r>
            <a:r>
              <a:rPr lang="en-US" altLang="zh-CN" sz="2000" dirty="0" err="1"/>
              <a:t>’s</a:t>
            </a:r>
            <a:r>
              <a:rPr lang="en-US" altLang="zh-CN" sz="2000" dirty="0"/>
              <a:t> balance sheet.</a:t>
            </a:r>
            <a:endParaRPr lang="zh-CN" altLang="en-US" sz="2000" dirty="0"/>
          </a:p>
        </p:txBody>
      </p:sp>
      <p:sp>
        <p:nvSpPr>
          <p:cNvPr id="14" name="Oval Callout 13"/>
          <p:cNvSpPr/>
          <p:nvPr/>
        </p:nvSpPr>
        <p:spPr>
          <a:xfrm>
            <a:off x="6588224" y="1104917"/>
            <a:ext cx="2124000" cy="865584"/>
          </a:xfrm>
          <a:prstGeom prst="wedgeEllipseCallout">
            <a:avLst>
              <a:gd name="adj1" fmla="val -77905"/>
              <a:gd name="adj2" fmla="val 72012"/>
            </a:avLst>
          </a:prstGeom>
        </p:spPr>
        <p:style>
          <a:lnRef idx="2">
            <a:schemeClr val="accent3"/>
          </a:lnRef>
          <a:fillRef idx="1">
            <a:schemeClr val="lt1"/>
          </a:fillRef>
          <a:effectRef idx="0">
            <a:schemeClr val="accent3"/>
          </a:effectRef>
          <a:fontRef idx="minor">
            <a:schemeClr val="dk1"/>
          </a:fontRef>
        </p:style>
        <p:txBody>
          <a:bodyPr lIns="0" tIns="0" rIns="0" bIns="0" rtlCol="0" anchor="ctr">
            <a:spAutoFit/>
          </a:bodyPr>
          <a:lstStyle/>
          <a:p>
            <a:pPr algn="ctr"/>
            <a:r>
              <a:rPr lang="en-US" altLang="zh-CN" sz="2000" dirty="0" smtClean="0"/>
              <a:t>Operating performance</a:t>
            </a:r>
            <a:endParaRPr lang="zh-CN" altLang="en-US" sz="2000" dirty="0"/>
          </a:p>
        </p:txBody>
      </p:sp>
    </p:spTree>
    <p:extLst>
      <p:ext uri="{BB962C8B-B14F-4D97-AF65-F5344CB8AC3E}">
        <p14:creationId xmlns:p14="http://schemas.microsoft.com/office/powerpoint/2010/main" val="18674703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What we do and do not do?</a:t>
            </a:r>
            <a:endParaRPr lang="en-US" dirty="0"/>
          </a:p>
        </p:txBody>
      </p:sp>
      <p:sp>
        <p:nvSpPr>
          <p:cNvPr id="3" name="Content Placeholder 2"/>
          <p:cNvSpPr>
            <a:spLocks noGrp="1"/>
          </p:cNvSpPr>
          <p:nvPr>
            <p:ph idx="1"/>
          </p:nvPr>
        </p:nvSpPr>
        <p:spPr>
          <a:xfrm>
            <a:off x="381000" y="1371600"/>
            <a:ext cx="7481887" cy="4525963"/>
          </a:xfrm>
        </p:spPr>
        <p:txBody>
          <a:bodyPr/>
          <a:lstStyle/>
          <a:p>
            <a:r>
              <a:rPr lang="en-US" sz="2400" dirty="0" smtClean="0"/>
              <a:t>We are </a:t>
            </a:r>
            <a:r>
              <a:rPr lang="en-US" sz="2400" i="1" dirty="0" smtClean="0"/>
              <a:t>not</a:t>
            </a:r>
            <a:r>
              <a:rPr lang="en-US" sz="2400" dirty="0" smtClean="0"/>
              <a:t> interested in documenting that there is expropriation.</a:t>
            </a:r>
          </a:p>
          <a:p>
            <a:r>
              <a:rPr lang="en-US" sz="2400" dirty="0" smtClean="0"/>
              <a:t>This has been shown in many other studies.</a:t>
            </a:r>
          </a:p>
          <a:p>
            <a:r>
              <a:rPr lang="en-US" sz="2400" dirty="0" smtClean="0"/>
              <a:t>We are interested in the </a:t>
            </a:r>
            <a:r>
              <a:rPr lang="en-US" sz="2400" b="1" i="1" dirty="0" smtClean="0"/>
              <a:t>timing</a:t>
            </a:r>
            <a:r>
              <a:rPr lang="en-US" sz="2400" dirty="0" smtClean="0"/>
              <a:t> of the expropriation.</a:t>
            </a:r>
          </a:p>
          <a:p>
            <a:pPr lvl="1"/>
            <a:r>
              <a:rPr lang="en-US" sz="2400" dirty="0" smtClean="0"/>
              <a:t>When and Why?</a:t>
            </a:r>
            <a:endParaRPr lang="en-US" sz="2400" dirty="0"/>
          </a:p>
        </p:txBody>
      </p:sp>
    </p:spTree>
    <p:extLst>
      <p:ext uri="{BB962C8B-B14F-4D97-AF65-F5344CB8AC3E}">
        <p14:creationId xmlns:p14="http://schemas.microsoft.com/office/powerpoint/2010/main" val="34444904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Data sources</a:t>
            </a:r>
            <a:endParaRPr lang="zh-CN" altLang="en-US" dirty="0"/>
          </a:p>
        </p:txBody>
      </p:sp>
      <p:sp>
        <p:nvSpPr>
          <p:cNvPr id="3" name="Content Placeholder 2"/>
          <p:cNvSpPr>
            <a:spLocks noGrp="1"/>
          </p:cNvSpPr>
          <p:nvPr>
            <p:ph idx="1"/>
          </p:nvPr>
        </p:nvSpPr>
        <p:spPr>
          <a:xfrm>
            <a:off x="304800" y="1295400"/>
            <a:ext cx="8458200" cy="4525963"/>
          </a:xfrm>
        </p:spPr>
        <p:txBody>
          <a:bodyPr>
            <a:normAutofit/>
          </a:bodyPr>
          <a:lstStyle/>
          <a:p>
            <a:r>
              <a:rPr lang="en-US" altLang="zh-CN" sz="2400" b="0" dirty="0"/>
              <a:t>Our sample consists of 488 firms listed on the Shanghai and Shenzhen stock exchanges during 1999-2007 and their non-listed controlling shareholders (parents), representing 2,209 paired firm-year observations for listed firms and their parents</a:t>
            </a:r>
            <a:r>
              <a:rPr lang="en-US" altLang="zh-CN" sz="2400" b="0" dirty="0" smtClean="0"/>
              <a:t>.</a:t>
            </a:r>
          </a:p>
          <a:p>
            <a:r>
              <a:rPr lang="en-US" altLang="zh-CN" sz="2400" b="0" dirty="0"/>
              <a:t>We end our sample period in 2007 in order to avoid any contaminating effects from the global financial crisis</a:t>
            </a:r>
            <a:r>
              <a:rPr lang="en-US" altLang="zh-CN" sz="2400" b="0" dirty="0" smtClean="0"/>
              <a:t>.</a:t>
            </a:r>
          </a:p>
          <a:p>
            <a:r>
              <a:rPr lang="en-US" altLang="zh-CN" sz="2400" b="0" dirty="0" smtClean="0"/>
              <a:t>We </a:t>
            </a:r>
            <a:r>
              <a:rPr lang="en-US" altLang="zh-CN" sz="2400" b="0" dirty="0"/>
              <a:t>obtain financial information, governance, and return data for China’s listed firms from the China Stock Market and Accounting Research (CSMAR) </a:t>
            </a:r>
            <a:r>
              <a:rPr lang="en-US" altLang="zh-CN" sz="2400" b="0" dirty="0" smtClean="0"/>
              <a:t>database.</a:t>
            </a:r>
            <a:endParaRPr lang="zh-CN" altLang="en-US" sz="2400" b="0" dirty="0"/>
          </a:p>
        </p:txBody>
      </p:sp>
    </p:spTree>
    <p:extLst>
      <p:ext uri="{BB962C8B-B14F-4D97-AF65-F5344CB8AC3E}">
        <p14:creationId xmlns:p14="http://schemas.microsoft.com/office/powerpoint/2010/main" val="17948753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Intra-group loans and the performance of the controlling shareholder</a:t>
            </a:r>
            <a:endParaRPr lang="en-US" dirty="0"/>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1376247"/>
            <a:ext cx="7315200" cy="1802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Straight Arrow Connector 7"/>
          <p:cNvCxnSpPr/>
          <p:nvPr/>
        </p:nvCxnSpPr>
        <p:spPr>
          <a:xfrm flipV="1">
            <a:off x="1600200" y="2057400"/>
            <a:ext cx="19050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85800" y="3352800"/>
            <a:ext cx="1981200" cy="646331"/>
          </a:xfrm>
          <a:prstGeom prst="rect">
            <a:avLst/>
          </a:prstGeom>
          <a:noFill/>
        </p:spPr>
        <p:txBody>
          <a:bodyPr wrap="square" rtlCol="0">
            <a:spAutoFit/>
          </a:bodyPr>
          <a:lstStyle/>
          <a:p>
            <a:r>
              <a:rPr lang="en-US" dirty="0" smtClean="0">
                <a:latin typeface="Calibri" panose="020F0502020204030204" pitchFamily="34" charset="0"/>
              </a:rPr>
              <a:t>Listed firm cash balance</a:t>
            </a:r>
            <a:endParaRPr lang="en-US" dirty="0">
              <a:latin typeface="Calibri" panose="020F0502020204030204" pitchFamily="34" charset="0"/>
            </a:endParaRPr>
          </a:p>
        </p:txBody>
      </p:sp>
      <p:sp>
        <p:nvSpPr>
          <p:cNvPr id="12" name="TextBox 11"/>
          <p:cNvSpPr txBox="1"/>
          <p:nvPr/>
        </p:nvSpPr>
        <p:spPr>
          <a:xfrm>
            <a:off x="2819400" y="2855089"/>
            <a:ext cx="1981200" cy="646331"/>
          </a:xfrm>
          <a:prstGeom prst="rect">
            <a:avLst/>
          </a:prstGeom>
          <a:noFill/>
        </p:spPr>
        <p:txBody>
          <a:bodyPr wrap="square" rtlCol="0">
            <a:spAutoFit/>
          </a:bodyPr>
          <a:lstStyle/>
          <a:p>
            <a:r>
              <a:rPr lang="en-US" dirty="0" smtClean="0">
                <a:latin typeface="Calibri" panose="020F0502020204030204" pitchFamily="34" charset="0"/>
              </a:rPr>
              <a:t>Change in listed firm cash balance</a:t>
            </a:r>
            <a:endParaRPr lang="en-US" dirty="0">
              <a:latin typeface="Calibri" panose="020F0502020204030204" pitchFamily="34" charset="0"/>
            </a:endParaRPr>
          </a:p>
        </p:txBody>
      </p:sp>
      <p:cxnSp>
        <p:nvCxnSpPr>
          <p:cNvPr id="13" name="Straight Arrow Connector 12"/>
          <p:cNvCxnSpPr/>
          <p:nvPr/>
        </p:nvCxnSpPr>
        <p:spPr>
          <a:xfrm flipH="1" flipV="1">
            <a:off x="2971800" y="2057400"/>
            <a:ext cx="381000" cy="7976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flipV="1">
            <a:off x="5334000" y="2514600"/>
            <a:ext cx="152400" cy="9868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105400" y="3429000"/>
            <a:ext cx="1981200" cy="369332"/>
          </a:xfrm>
          <a:prstGeom prst="rect">
            <a:avLst/>
          </a:prstGeom>
          <a:noFill/>
        </p:spPr>
        <p:txBody>
          <a:bodyPr wrap="square" rtlCol="0">
            <a:spAutoFit/>
          </a:bodyPr>
          <a:lstStyle/>
          <a:p>
            <a:r>
              <a:rPr lang="en-US" dirty="0" smtClean="0">
                <a:latin typeface="Calibri" panose="020F0502020204030204" pitchFamily="34" charset="0"/>
              </a:rPr>
              <a:t>Parent ROA</a:t>
            </a:r>
            <a:endParaRPr lang="en-US" dirty="0">
              <a:latin typeface="Calibri" panose="020F0502020204030204" pitchFamily="34" charset="0"/>
            </a:endParaRPr>
          </a:p>
        </p:txBody>
      </p:sp>
      <p:cxnSp>
        <p:nvCxnSpPr>
          <p:cNvPr id="19" name="Straight Arrow Connector 18"/>
          <p:cNvCxnSpPr/>
          <p:nvPr/>
        </p:nvCxnSpPr>
        <p:spPr>
          <a:xfrm flipH="1" flipV="1">
            <a:off x="6858000" y="2715399"/>
            <a:ext cx="3810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629400" y="3629799"/>
            <a:ext cx="1981200" cy="1200329"/>
          </a:xfrm>
          <a:prstGeom prst="rect">
            <a:avLst/>
          </a:prstGeom>
          <a:noFill/>
        </p:spPr>
        <p:txBody>
          <a:bodyPr wrap="square" rtlCol="0">
            <a:spAutoFit/>
          </a:bodyPr>
          <a:lstStyle/>
          <a:p>
            <a:r>
              <a:rPr lang="en-US" dirty="0" smtClean="0">
                <a:latin typeface="Calibri" panose="020F0502020204030204" pitchFamily="34" charset="0"/>
              </a:rPr>
              <a:t>Interaction between Parent ROA and listed firm cash balance</a:t>
            </a:r>
            <a:endParaRPr lang="en-US" dirty="0">
              <a:latin typeface="Calibri" panose="020F0502020204030204" pitchFamily="34" charset="0"/>
            </a:endParaRPr>
          </a:p>
        </p:txBody>
      </p:sp>
      <p:cxnSp>
        <p:nvCxnSpPr>
          <p:cNvPr id="21" name="Straight Arrow Connector 20"/>
          <p:cNvCxnSpPr/>
          <p:nvPr/>
        </p:nvCxnSpPr>
        <p:spPr>
          <a:xfrm flipV="1">
            <a:off x="5231757" y="2514600"/>
            <a:ext cx="788043" cy="20880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622157" y="4678864"/>
            <a:ext cx="1981200" cy="646331"/>
          </a:xfrm>
          <a:prstGeom prst="rect">
            <a:avLst/>
          </a:prstGeom>
          <a:noFill/>
        </p:spPr>
        <p:txBody>
          <a:bodyPr wrap="square" rtlCol="0">
            <a:spAutoFit/>
          </a:bodyPr>
          <a:lstStyle/>
          <a:p>
            <a:r>
              <a:rPr lang="en-US" dirty="0" smtClean="0">
                <a:latin typeface="Calibri" panose="020F0502020204030204" pitchFamily="34" charset="0"/>
              </a:rPr>
              <a:t>Our variable of interest</a:t>
            </a:r>
            <a:endParaRPr lang="en-US" dirty="0">
              <a:latin typeface="Calibri" panose="020F0502020204030204" pitchFamily="34" charset="0"/>
            </a:endParaRPr>
          </a:p>
        </p:txBody>
      </p:sp>
      <p:cxnSp>
        <p:nvCxnSpPr>
          <p:cNvPr id="24" name="Straight Arrow Connector 23"/>
          <p:cNvCxnSpPr>
            <a:stCxn id="25" idx="1"/>
          </p:cNvCxnSpPr>
          <p:nvPr/>
        </p:nvCxnSpPr>
        <p:spPr>
          <a:xfrm flipH="1">
            <a:off x="6553200" y="1147465"/>
            <a:ext cx="595132" cy="6051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148332" y="685800"/>
            <a:ext cx="1981200" cy="923330"/>
          </a:xfrm>
          <a:prstGeom prst="rect">
            <a:avLst/>
          </a:prstGeom>
          <a:noFill/>
        </p:spPr>
        <p:txBody>
          <a:bodyPr wrap="square" rtlCol="0">
            <a:spAutoFit/>
          </a:bodyPr>
          <a:lstStyle/>
          <a:p>
            <a:r>
              <a:rPr lang="en-US" dirty="0" smtClean="0">
                <a:latin typeface="Calibri" panose="020F0502020204030204" pitchFamily="34" charset="0"/>
              </a:rPr>
              <a:t>Other factors identified in Jiang, Lee and Yue (2010)</a:t>
            </a:r>
            <a:endParaRPr lang="en-US" dirty="0">
              <a:latin typeface="Calibri" panose="020F0502020204030204" pitchFamily="34" charset="0"/>
            </a:endParaRPr>
          </a:p>
        </p:txBody>
      </p:sp>
      <p:cxnSp>
        <p:nvCxnSpPr>
          <p:cNvPr id="33" name="Straight Arrow Connector 32"/>
          <p:cNvCxnSpPr/>
          <p:nvPr/>
        </p:nvCxnSpPr>
        <p:spPr>
          <a:xfrm flipH="1">
            <a:off x="5660502" y="1115938"/>
            <a:ext cx="1426098" cy="6051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H="1">
            <a:off x="3581400" y="914400"/>
            <a:ext cx="3566932" cy="1371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7" name="Table 36"/>
          <p:cNvGraphicFramePr>
            <a:graphicFrameLocks noGrp="1"/>
          </p:cNvGraphicFramePr>
          <p:nvPr>
            <p:extLst>
              <p:ext uri="{D42A27DB-BD31-4B8C-83A1-F6EECF244321}">
                <p14:modId xmlns:p14="http://schemas.microsoft.com/office/powerpoint/2010/main" val="204094101"/>
              </p:ext>
            </p:extLst>
          </p:nvPr>
        </p:nvGraphicFramePr>
        <p:xfrm>
          <a:off x="685800" y="2989898"/>
          <a:ext cx="8091485" cy="3680460"/>
        </p:xfrm>
        <a:graphic>
          <a:graphicData uri="http://schemas.openxmlformats.org/drawingml/2006/table">
            <a:tbl>
              <a:tblPr firstRow="1" firstCol="1" bandRow="1" bandCol="1">
                <a:tableStyleId>{5C22544A-7EE6-4342-B048-85BDC9FD1C3A}</a:tableStyleId>
              </a:tblPr>
              <a:tblGrid>
                <a:gridCol w="2438400"/>
                <a:gridCol w="934093"/>
                <a:gridCol w="1179748"/>
                <a:gridCol w="1179748"/>
                <a:gridCol w="1179748"/>
                <a:gridCol w="1179748"/>
              </a:tblGrid>
              <a:tr h="144145">
                <a:tc>
                  <a:txBody>
                    <a:bodyPr/>
                    <a:lstStyle/>
                    <a:p>
                      <a:pPr marL="0" marR="0">
                        <a:lnSpc>
                          <a:spcPct val="115000"/>
                        </a:lnSpc>
                        <a:spcBef>
                          <a:spcPts val="0"/>
                        </a:spcBef>
                        <a:spcAft>
                          <a:spcPts val="0"/>
                        </a:spcAft>
                      </a:pPr>
                      <a:r>
                        <a:rPr lang="en-US" sz="1000" dirty="0">
                          <a:effectLst/>
                        </a:rPr>
                        <a:t> </a:t>
                      </a:r>
                      <a:endParaRPr lang="en-US" sz="1100" dirty="0">
                        <a:effectLst/>
                        <a:latin typeface="Calibri"/>
                        <a:ea typeface="SimSun"/>
                        <a:cs typeface="Times New Roman"/>
                      </a:endParaRPr>
                    </a:p>
                  </a:txBody>
                  <a:tcPr marL="68580" marR="68580" marT="0" marB="0" anchor="ctr"/>
                </a:tc>
                <a:tc>
                  <a:txBody>
                    <a:bodyPr/>
                    <a:lstStyle/>
                    <a:p>
                      <a:pPr marL="0" marR="0" algn="ctr">
                        <a:lnSpc>
                          <a:spcPct val="115000"/>
                        </a:lnSpc>
                        <a:spcBef>
                          <a:spcPts val="0"/>
                        </a:spcBef>
                        <a:spcAft>
                          <a:spcPts val="0"/>
                        </a:spcAft>
                      </a:pPr>
                      <a:r>
                        <a:rPr lang="en-US" sz="1000">
                          <a:effectLst/>
                        </a:rPr>
                        <a:t>ΔOREC</a:t>
                      </a:r>
                      <a:r>
                        <a:rPr lang="en-US" sz="1000" baseline="-25000">
                          <a:effectLst/>
                        </a:rPr>
                        <a:t>t+1</a:t>
                      </a:r>
                      <a:r>
                        <a:rPr lang="en-US" sz="1000">
                          <a:effectLst/>
                        </a:rPr>
                        <a:t>/M</a:t>
                      </a:r>
                      <a:r>
                        <a:rPr lang="en-US" sz="1000" baseline="-25000">
                          <a:effectLst/>
                        </a:rPr>
                        <a:t>t</a:t>
                      </a:r>
                      <a:endParaRPr lang="en-US" sz="1100">
                        <a:effectLst/>
                        <a:latin typeface="Calibri"/>
                        <a:ea typeface="SimSun"/>
                        <a:cs typeface="Times New Roman"/>
                      </a:endParaRPr>
                    </a:p>
                  </a:txBody>
                  <a:tcPr marL="68580" marR="68580" marT="0" marB="0" anchor="ctr"/>
                </a:tc>
                <a:tc>
                  <a:txBody>
                    <a:bodyPr/>
                    <a:lstStyle/>
                    <a:p>
                      <a:pPr marL="0" marR="0" algn="ctr">
                        <a:lnSpc>
                          <a:spcPct val="115000"/>
                        </a:lnSpc>
                        <a:spcBef>
                          <a:spcPts val="0"/>
                        </a:spcBef>
                        <a:spcAft>
                          <a:spcPts val="0"/>
                        </a:spcAft>
                      </a:pPr>
                      <a:r>
                        <a:rPr lang="en-US" sz="1000">
                          <a:effectLst/>
                        </a:rPr>
                        <a:t>ΔOREC</a:t>
                      </a:r>
                      <a:r>
                        <a:rPr lang="en-US" sz="1000" baseline="-25000">
                          <a:effectLst/>
                        </a:rPr>
                        <a:t>t+1</a:t>
                      </a:r>
                      <a:r>
                        <a:rPr lang="en-US" sz="1000">
                          <a:effectLst/>
                        </a:rPr>
                        <a:t>/M</a:t>
                      </a:r>
                      <a:r>
                        <a:rPr lang="en-US" sz="1000" baseline="-25000">
                          <a:effectLst/>
                        </a:rPr>
                        <a:t>t</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0"/>
                        </a:spcAft>
                      </a:pPr>
                      <a:r>
                        <a:rPr lang="en-US" sz="1000">
                          <a:effectLst/>
                        </a:rPr>
                        <a:t>ΔOREC</a:t>
                      </a:r>
                      <a:r>
                        <a:rPr lang="en-US" sz="1000" baseline="-25000">
                          <a:effectLst/>
                        </a:rPr>
                        <a:t>t+1</a:t>
                      </a:r>
                      <a:r>
                        <a:rPr lang="en-US" sz="1000">
                          <a:effectLst/>
                        </a:rPr>
                        <a:t>/M</a:t>
                      </a:r>
                      <a:r>
                        <a:rPr lang="en-US" sz="1000" baseline="-25000">
                          <a:effectLst/>
                        </a:rPr>
                        <a:t>t</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0"/>
                        </a:spcAft>
                      </a:pPr>
                      <a:r>
                        <a:rPr lang="en-US" sz="1000">
                          <a:effectLst/>
                        </a:rPr>
                        <a:t>ΔOREC</a:t>
                      </a:r>
                      <a:r>
                        <a:rPr lang="en-US" sz="1000" baseline="-25000">
                          <a:effectLst/>
                        </a:rPr>
                        <a:t>t+1</a:t>
                      </a:r>
                      <a:r>
                        <a:rPr lang="en-US" sz="1000">
                          <a:effectLst/>
                        </a:rPr>
                        <a:t>/M</a:t>
                      </a:r>
                      <a:r>
                        <a:rPr lang="en-US" sz="1000" baseline="-25000">
                          <a:effectLst/>
                        </a:rPr>
                        <a:t>t</a:t>
                      </a:r>
                      <a:endParaRPr lang="en-US" sz="1100">
                        <a:effectLst/>
                        <a:latin typeface="Calibri"/>
                        <a:ea typeface="SimSun"/>
                        <a:cs typeface="Times New Roman"/>
                      </a:endParaRPr>
                    </a:p>
                  </a:txBody>
                  <a:tcPr marL="68580" marR="68580" marT="0" marB="0" anchor="ctr"/>
                </a:tc>
                <a:tc>
                  <a:txBody>
                    <a:bodyPr/>
                    <a:lstStyle/>
                    <a:p>
                      <a:pPr marL="0" marR="0" algn="ctr">
                        <a:lnSpc>
                          <a:spcPct val="115000"/>
                        </a:lnSpc>
                        <a:spcBef>
                          <a:spcPts val="0"/>
                        </a:spcBef>
                        <a:spcAft>
                          <a:spcPts val="0"/>
                        </a:spcAft>
                      </a:pPr>
                      <a:r>
                        <a:rPr lang="en-US" sz="1000">
                          <a:effectLst/>
                        </a:rPr>
                        <a:t>ΔOREC</a:t>
                      </a:r>
                      <a:r>
                        <a:rPr lang="en-US" sz="1000" baseline="-25000">
                          <a:effectLst/>
                        </a:rPr>
                        <a:t>t+1</a:t>
                      </a:r>
                      <a:r>
                        <a:rPr lang="en-US" sz="1000">
                          <a:effectLst/>
                        </a:rPr>
                        <a:t>/M</a:t>
                      </a:r>
                      <a:r>
                        <a:rPr lang="en-US" sz="1000" baseline="-25000">
                          <a:effectLst/>
                        </a:rPr>
                        <a:t>t</a:t>
                      </a:r>
                      <a:endParaRPr lang="en-US" sz="1100">
                        <a:effectLst/>
                        <a:latin typeface="Calibri"/>
                        <a:ea typeface="SimSun"/>
                        <a:cs typeface="Times New Roman"/>
                      </a:endParaRPr>
                    </a:p>
                  </a:txBody>
                  <a:tcPr marL="68580" marR="68580" marT="0" marB="0" anchor="ctr"/>
                </a:tc>
              </a:tr>
              <a:tr h="144145">
                <a:tc>
                  <a:txBody>
                    <a:bodyPr/>
                    <a:lstStyle/>
                    <a:p>
                      <a:pPr marL="0" marR="0">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68580" marR="68580" marT="0" marB="0" anchor="ctr"/>
                </a:tc>
                <a:tc>
                  <a:txBody>
                    <a:bodyPr/>
                    <a:lstStyle/>
                    <a:p>
                      <a:pPr marL="0" marR="0" algn="ctr">
                        <a:lnSpc>
                          <a:spcPct val="115000"/>
                        </a:lnSpc>
                        <a:spcBef>
                          <a:spcPts val="0"/>
                        </a:spcBef>
                        <a:spcAft>
                          <a:spcPts val="0"/>
                        </a:spcAft>
                      </a:pPr>
                      <a:r>
                        <a:rPr lang="en-US" sz="1000">
                          <a:effectLst/>
                        </a:rPr>
                        <a:t>(1)</a:t>
                      </a:r>
                      <a:endParaRPr lang="en-US" sz="1100">
                        <a:effectLst/>
                        <a:latin typeface="Calibri"/>
                        <a:ea typeface="SimSun"/>
                        <a:cs typeface="Times New Roman"/>
                      </a:endParaRPr>
                    </a:p>
                  </a:txBody>
                  <a:tcPr marL="68580" marR="68580" marT="0" marB="0" anchor="ctr"/>
                </a:tc>
                <a:tc>
                  <a:txBody>
                    <a:bodyPr/>
                    <a:lstStyle/>
                    <a:p>
                      <a:pPr marL="0" marR="0" algn="ctr">
                        <a:lnSpc>
                          <a:spcPct val="115000"/>
                        </a:lnSpc>
                        <a:spcBef>
                          <a:spcPts val="0"/>
                        </a:spcBef>
                        <a:spcAft>
                          <a:spcPts val="0"/>
                        </a:spcAft>
                      </a:pPr>
                      <a:r>
                        <a:rPr lang="en-US" sz="1000">
                          <a:effectLst/>
                        </a:rPr>
                        <a:t>(2)</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0"/>
                        </a:spcAft>
                      </a:pPr>
                      <a:r>
                        <a:rPr lang="en-US" sz="1000">
                          <a:effectLst/>
                        </a:rPr>
                        <a:t>(3)</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0"/>
                        </a:spcAft>
                      </a:pPr>
                      <a:r>
                        <a:rPr lang="en-US" sz="1000">
                          <a:effectLst/>
                        </a:rPr>
                        <a:t>(4)</a:t>
                      </a:r>
                      <a:endParaRPr lang="en-US" sz="1100">
                        <a:effectLst/>
                        <a:latin typeface="Calibri"/>
                        <a:ea typeface="SimSun"/>
                        <a:cs typeface="Times New Roman"/>
                      </a:endParaRPr>
                    </a:p>
                  </a:txBody>
                  <a:tcPr marL="68580" marR="68580" marT="0" marB="0" anchor="ctr"/>
                </a:tc>
                <a:tc>
                  <a:txBody>
                    <a:bodyPr/>
                    <a:lstStyle/>
                    <a:p>
                      <a:pPr marL="0" marR="0" algn="ctr">
                        <a:lnSpc>
                          <a:spcPct val="115000"/>
                        </a:lnSpc>
                        <a:spcBef>
                          <a:spcPts val="0"/>
                        </a:spcBef>
                        <a:spcAft>
                          <a:spcPts val="0"/>
                        </a:spcAft>
                      </a:pPr>
                      <a:r>
                        <a:rPr lang="en-US" sz="1000">
                          <a:effectLst/>
                        </a:rPr>
                        <a:t>(5)</a:t>
                      </a:r>
                      <a:endParaRPr lang="en-US" sz="1100">
                        <a:effectLst/>
                        <a:latin typeface="Calibri"/>
                        <a:ea typeface="SimSun"/>
                        <a:cs typeface="Times New Roman"/>
                      </a:endParaRPr>
                    </a:p>
                  </a:txBody>
                  <a:tcPr marL="68580" marR="68580" marT="0" marB="0" anchor="ctr"/>
                </a:tc>
              </a:tr>
              <a:tr h="144145">
                <a:tc>
                  <a:txBody>
                    <a:bodyPr/>
                    <a:lstStyle/>
                    <a:p>
                      <a:pPr marL="0" marR="0">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tc>
              </a:tr>
              <a:tr h="144145">
                <a:tc>
                  <a:txBody>
                    <a:bodyPr/>
                    <a:lstStyle/>
                    <a:p>
                      <a:pPr marL="0" marR="0">
                        <a:lnSpc>
                          <a:spcPct val="115000"/>
                        </a:lnSpc>
                        <a:spcBef>
                          <a:spcPts val="0"/>
                        </a:spcBef>
                        <a:spcAft>
                          <a:spcPts val="0"/>
                        </a:spcAft>
                      </a:pPr>
                      <a:r>
                        <a:rPr lang="en-US" sz="1000">
                          <a:effectLst/>
                        </a:rPr>
                        <a:t>Parent characteristics</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r>
              <a:tr h="144145">
                <a:tc>
                  <a:txBody>
                    <a:bodyPr/>
                    <a:lstStyle/>
                    <a:p>
                      <a:pPr marL="0" marR="0">
                        <a:lnSpc>
                          <a:spcPct val="115000"/>
                        </a:lnSpc>
                        <a:spcBef>
                          <a:spcPts val="0"/>
                        </a:spcBef>
                        <a:spcAft>
                          <a:spcPts val="0"/>
                        </a:spcAft>
                      </a:pPr>
                      <a:r>
                        <a:rPr lang="en-US" sz="1000">
                          <a:effectLst/>
                        </a:rPr>
                        <a:t>(1) Parent ROA</a:t>
                      </a:r>
                      <a:r>
                        <a:rPr lang="en-US" sz="1000" baseline="-25000">
                          <a:effectLst/>
                        </a:rPr>
                        <a:t>t</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a:effectLst/>
                        </a:rPr>
                        <a:t>-0.018 (-0.89)</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a:effectLst/>
                        </a:rPr>
                        <a:t>-0.017 (-0.81)</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r>
              <a:tr h="144145">
                <a:tc>
                  <a:txBody>
                    <a:bodyPr/>
                    <a:lstStyle/>
                    <a:p>
                      <a:pPr marL="0" marR="0">
                        <a:lnSpc>
                          <a:spcPct val="115000"/>
                        </a:lnSpc>
                        <a:spcBef>
                          <a:spcPts val="0"/>
                        </a:spcBef>
                        <a:spcAft>
                          <a:spcPts val="0"/>
                        </a:spcAft>
                      </a:pPr>
                      <a:r>
                        <a:rPr lang="en-US" sz="1000">
                          <a:effectLst/>
                        </a:rPr>
                        <a:t>(2) Parent ROA</a:t>
                      </a:r>
                      <a:r>
                        <a:rPr lang="en-US" sz="1000" baseline="-25000">
                          <a:effectLst/>
                        </a:rPr>
                        <a:t>t</a:t>
                      </a:r>
                      <a:r>
                        <a:rPr lang="en-US" sz="1000">
                          <a:effectLst/>
                        </a:rPr>
                        <a:t> × ΔC</a:t>
                      </a:r>
                      <a:r>
                        <a:rPr lang="en-US" sz="1000" baseline="-25000">
                          <a:effectLst/>
                        </a:rPr>
                        <a:t>t</a:t>
                      </a:r>
                      <a:r>
                        <a:rPr lang="en-US" sz="1000">
                          <a:effectLst/>
                        </a:rPr>
                        <a:t>/M</a:t>
                      </a:r>
                      <a:r>
                        <a:rPr lang="en-US" sz="1000" baseline="-25000">
                          <a:effectLst/>
                        </a:rPr>
                        <a:t>t</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b="1" dirty="0">
                          <a:solidFill>
                            <a:srgbClr val="FF0000"/>
                          </a:solidFill>
                          <a:effectLst/>
                        </a:rPr>
                        <a:t>-0.428 (-1.82</a:t>
                      </a:r>
                      <a:r>
                        <a:rPr lang="en-US" sz="1000" b="1" dirty="0" smtClean="0">
                          <a:solidFill>
                            <a:srgbClr val="FF0000"/>
                          </a:solidFill>
                          <a:effectLst/>
                        </a:rPr>
                        <a:t>)</a:t>
                      </a:r>
                      <a:endParaRPr lang="en-US" sz="1100" b="1" dirty="0">
                        <a:solidFill>
                          <a:srgbClr val="FF0000"/>
                        </a:solidFill>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r>
              <a:tr h="144145">
                <a:tc>
                  <a:txBody>
                    <a:bodyPr/>
                    <a:lstStyle/>
                    <a:p>
                      <a:pPr marL="0" marR="0">
                        <a:lnSpc>
                          <a:spcPct val="115000"/>
                        </a:lnSpc>
                        <a:spcBef>
                          <a:spcPts val="0"/>
                        </a:spcBef>
                        <a:spcAft>
                          <a:spcPts val="0"/>
                        </a:spcAft>
                      </a:pPr>
                      <a:r>
                        <a:rPr lang="en-US" sz="1000">
                          <a:effectLst/>
                        </a:rPr>
                        <a:t>(3) Parent CF</a:t>
                      </a:r>
                      <a:r>
                        <a:rPr lang="en-US" sz="1000" baseline="-25000">
                          <a:effectLst/>
                        </a:rPr>
                        <a:t>t</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a:effectLst/>
                        </a:rPr>
                        <a:t>-0.020 (-1.39)</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-0.015 (-1.05)</a:t>
                      </a:r>
                      <a:endParaRPr lang="en-US" sz="110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(4) Parent CF</a:t>
                      </a:r>
                      <a:r>
                        <a:rPr lang="en-US" sz="1000" baseline="-25000">
                          <a:effectLst/>
                        </a:rPr>
                        <a:t>t</a:t>
                      </a:r>
                      <a:r>
                        <a:rPr lang="en-US" sz="1000">
                          <a:effectLst/>
                        </a:rPr>
                        <a:t> ×Δ C</a:t>
                      </a:r>
                      <a:r>
                        <a:rPr lang="en-US" sz="1000" baseline="-25000">
                          <a:effectLst/>
                        </a:rPr>
                        <a:t>t</a:t>
                      </a:r>
                      <a:r>
                        <a:rPr lang="en-US" sz="1000">
                          <a:effectLst/>
                        </a:rPr>
                        <a:t>/M</a:t>
                      </a:r>
                      <a:r>
                        <a:rPr lang="en-US" sz="1000" baseline="-25000">
                          <a:effectLst/>
                        </a:rPr>
                        <a:t>t</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b="1" dirty="0">
                          <a:solidFill>
                            <a:srgbClr val="FF0000"/>
                          </a:solidFill>
                          <a:effectLst/>
                        </a:rPr>
                        <a:t>-0.342 (-2.30</a:t>
                      </a:r>
                      <a:r>
                        <a:rPr lang="en-US" sz="1000" b="1" dirty="0" smtClean="0">
                          <a:solidFill>
                            <a:srgbClr val="FF0000"/>
                          </a:solidFill>
                          <a:effectLst/>
                        </a:rPr>
                        <a:t>)</a:t>
                      </a:r>
                      <a:endParaRPr lang="en-US" sz="1100" b="1" dirty="0">
                        <a:solidFill>
                          <a:srgbClr val="FF0000"/>
                        </a:solidFill>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(5) SOE</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a:effectLst/>
                        </a:rPr>
                        <a:t> </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-0.001 (-0.44)</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-0.001 (-0.44)</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-0.002 (-0.69)</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-0.002 (-0.61)</a:t>
                      </a:r>
                      <a:endParaRPr lang="en-US" sz="110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r>
              <a:tr h="144145">
                <a:tc>
                  <a:txBody>
                    <a:bodyPr/>
                    <a:lstStyle/>
                    <a:p>
                      <a:pPr marL="0" marR="0">
                        <a:lnSpc>
                          <a:spcPct val="115000"/>
                        </a:lnSpc>
                        <a:spcBef>
                          <a:spcPts val="0"/>
                        </a:spcBef>
                        <a:spcAft>
                          <a:spcPts val="0"/>
                        </a:spcAft>
                      </a:pPr>
                      <a:r>
                        <a:rPr lang="en-US" sz="1000">
                          <a:effectLst/>
                        </a:rPr>
                        <a:t>Listed firm characteristics</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r>
              <a:tr h="144145">
                <a:tc>
                  <a:txBody>
                    <a:bodyPr/>
                    <a:lstStyle/>
                    <a:p>
                      <a:pPr marL="0" marR="0">
                        <a:lnSpc>
                          <a:spcPct val="115000"/>
                        </a:lnSpc>
                        <a:spcBef>
                          <a:spcPts val="0"/>
                        </a:spcBef>
                        <a:spcAft>
                          <a:spcPts val="0"/>
                        </a:spcAft>
                      </a:pPr>
                      <a:r>
                        <a:rPr lang="en-US" sz="1000">
                          <a:effectLst/>
                        </a:rPr>
                        <a:t>(6) Δ Ct/Mt</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b="1" dirty="0">
                          <a:effectLst/>
                        </a:rPr>
                        <a:t>0.022 (1.92</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0.022 (1.92</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0.024 (2.11</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0.022 (1.85</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0.053 (2.95</a:t>
                      </a:r>
                      <a:r>
                        <a:rPr lang="en-US" sz="1000" b="1" dirty="0" smtClean="0">
                          <a:effectLst/>
                        </a:rPr>
                        <a:t>)</a:t>
                      </a:r>
                      <a:endParaRPr lang="en-US" sz="1100" b="1" dirty="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(7) C</a:t>
                      </a:r>
                      <a:r>
                        <a:rPr lang="en-US" sz="1000" baseline="-25000">
                          <a:effectLst/>
                        </a:rPr>
                        <a:t>t</a:t>
                      </a:r>
                      <a:r>
                        <a:rPr lang="en-US" sz="1000">
                          <a:effectLst/>
                        </a:rPr>
                        <a:t>/M</a:t>
                      </a:r>
                      <a:r>
                        <a:rPr lang="en-US" sz="1000" baseline="-25000">
                          <a:effectLst/>
                        </a:rPr>
                        <a:t>t</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b="1" dirty="0">
                          <a:effectLst/>
                        </a:rPr>
                        <a:t>0.023 (2.77</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0.023 (2.81</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0.024 (2.84</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0.022 (2.53</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0.023 (2.63</a:t>
                      </a:r>
                      <a:r>
                        <a:rPr lang="en-US" sz="1000" b="1" dirty="0" smtClean="0">
                          <a:effectLst/>
                        </a:rPr>
                        <a:t>)</a:t>
                      </a:r>
                      <a:endParaRPr lang="en-US" sz="1100" b="1" dirty="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(8) Log(TA</a:t>
                      </a:r>
                      <a:r>
                        <a:rPr lang="en-US" sz="1000" baseline="-25000">
                          <a:effectLst/>
                        </a:rPr>
                        <a:t> t</a:t>
                      </a:r>
                      <a:r>
                        <a:rPr lang="en-US" sz="1000">
                          <a:effectLst/>
                        </a:rPr>
                        <a:t>)</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dirty="0">
                          <a:effectLst/>
                        </a:rPr>
                        <a:t>-0.000 (-0.03)</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0.000 (0.01)</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-0.000 (-0.00)</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-0.000 (-0.16)</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-0.000 (-0.19)</a:t>
                      </a:r>
                      <a:endParaRPr lang="en-US" sz="1100" dirty="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(9) ROA</a:t>
                      </a:r>
                      <a:r>
                        <a:rPr lang="en-US" sz="1000" baseline="-25000">
                          <a:effectLst/>
                        </a:rPr>
                        <a:t>t</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b="1" dirty="0">
                          <a:effectLst/>
                        </a:rPr>
                        <a:t>0.089 (5.87</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0.095 (5.91</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0.093 (5.81</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0.119 (7.04</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0.116 (6.83</a:t>
                      </a:r>
                      <a:r>
                        <a:rPr lang="en-US" sz="1000" b="1" dirty="0" smtClean="0">
                          <a:effectLst/>
                        </a:rPr>
                        <a:t>)</a:t>
                      </a:r>
                      <a:endParaRPr lang="en-US" sz="1100" b="1" dirty="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(10) Marketization index</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dirty="0">
                          <a:effectLst/>
                        </a:rPr>
                        <a:t>-0.000 (-0.46)</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-0.000 (-0.40)</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-0.000 (-0.42)</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-0.000 (-0.40)</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-0.000 (-0.43)</a:t>
                      </a:r>
                      <a:endParaRPr lang="en-US" sz="1100" dirty="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(11) Ownership by largest shareholder</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a:effectLst/>
                        </a:rPr>
                        <a:t>-0.000 (-0.36)</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-0.000 (-0.43)</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-0.000 (-0.43)</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-0.000 (-0.61)</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-0.000 (-0.62)</a:t>
                      </a:r>
                      <a:endParaRPr lang="en-US" sz="110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r>
              <a:tr h="144145">
                <a:tc>
                  <a:txBody>
                    <a:bodyPr/>
                    <a:lstStyle/>
                    <a:p>
                      <a:pPr marL="0" marR="0">
                        <a:lnSpc>
                          <a:spcPct val="115000"/>
                        </a:lnSpc>
                        <a:spcBef>
                          <a:spcPts val="0"/>
                        </a:spcBef>
                        <a:spcAft>
                          <a:spcPts val="0"/>
                        </a:spcAft>
                      </a:pPr>
                      <a:r>
                        <a:rPr lang="en-US" sz="1000">
                          <a:effectLst/>
                        </a:rPr>
                        <a:t>Observations</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a:effectLst/>
                        </a:rPr>
                        <a:t>2490</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2480</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2480</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2254</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2254</a:t>
                      </a:r>
                      <a:endParaRPr lang="en-US" sz="110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Adj. R</a:t>
                      </a:r>
                      <a:r>
                        <a:rPr lang="en-US" sz="1000" baseline="30000">
                          <a:effectLst/>
                        </a:rPr>
                        <a:t>2</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a:effectLst/>
                        </a:rPr>
                        <a:t>0.034</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0.035</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0.036</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0.040</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0.042</a:t>
                      </a:r>
                      <a:endParaRPr lang="en-US" sz="110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F</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dirty="0">
                          <a:effectLst/>
                        </a:rPr>
                        <a:t>4.396</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4.318</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4.286</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4.458</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4.497</a:t>
                      </a:r>
                      <a:endParaRPr lang="en-US" sz="1100" dirty="0">
                        <a:effectLst/>
                        <a:latin typeface="Calibri"/>
                        <a:ea typeface="SimSun"/>
                        <a:cs typeface="Times New Roman"/>
                      </a:endParaRPr>
                    </a:p>
                  </a:txBody>
                  <a:tcPr marL="0" marR="0" marT="0" marB="0" anchor="ctr"/>
                </a:tc>
              </a:tr>
            </a:tbl>
          </a:graphicData>
        </a:graphic>
      </p:graphicFrame>
    </p:spTree>
    <p:extLst>
      <p:ext uri="{BB962C8B-B14F-4D97-AF65-F5344CB8AC3E}">
        <p14:creationId xmlns:p14="http://schemas.microsoft.com/office/powerpoint/2010/main" val="20255747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subTnLst>
                                    <p:set>
                                      <p:cBhvr override="childStyle">
                                        <p:cTn dur="1" fill="hold" display="0" masterRel="nextClick" afterEffect="1"/>
                                        <p:tgtEl>
                                          <p:spTgt spid="25"/>
                                        </p:tgtEl>
                                        <p:attrNameLst>
                                          <p:attrName>style.visibility</p:attrName>
                                        </p:attrNameLst>
                                      </p:cBhvr>
                                      <p:to>
                                        <p:strVal val="hidden"/>
                                      </p:to>
                                    </p:set>
                                  </p:sub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subTnLst>
                                    <p:set>
                                      <p:cBhvr override="childStyle">
                                        <p:cTn dur="1" fill="hold" display="0" masterRel="nextClick" afterEffect="1"/>
                                        <p:tgtEl>
                                          <p:spTgt spid="24"/>
                                        </p:tgtEl>
                                        <p:attrNameLst>
                                          <p:attrName>style.visibility</p:attrName>
                                        </p:attrNameLst>
                                      </p:cBhvr>
                                      <p:to>
                                        <p:strVal val="hidden"/>
                                      </p:to>
                                    </p:set>
                                  </p:subTnLst>
                                </p:cTn>
                              </p:par>
                              <p:par>
                                <p:cTn id="21" presetID="1" presetClass="entr" presetSubtype="0" fill="hold"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subTnLst>
                                    <p:set>
                                      <p:cBhvr override="childStyle">
                                        <p:cTn dur="1" fill="hold" display="0" masterRel="nextClick" afterEffect="1"/>
                                        <p:tgtEl>
                                          <p:spTgt spid="33"/>
                                        </p:tgtEl>
                                        <p:attrNameLst>
                                          <p:attrName>style.visibility</p:attrName>
                                        </p:attrNameLst>
                                      </p:cBhvr>
                                      <p:to>
                                        <p:strVal val="hidden"/>
                                      </p:to>
                                    </p:set>
                                  </p:subTnLst>
                                </p:cTn>
                              </p:par>
                              <p:par>
                                <p:cTn id="23" presetID="1"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subTnLst>
                                    <p:set>
                                      <p:cBhvr override="childStyle">
                                        <p:cTn dur="1" fill="hold" display="0" masterRel="nextClick" afterEffect="1"/>
                                        <p:tgtEl>
                                          <p:spTgt spid="35"/>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subTnLst>
                                    <p:set>
                                      <p:cBhvr override="childStyle">
                                        <p:cTn dur="1" fill="hold" display="0" masterRel="nextClick" afterEffect="1"/>
                                        <p:tgtEl>
                                          <p:spTgt spid="22"/>
                                        </p:tgtEl>
                                        <p:attrNameLst>
                                          <p:attrName>style.visibility</p:attrName>
                                        </p:attrNameLst>
                                      </p:cBhvr>
                                      <p:to>
                                        <p:strVal val="hidden"/>
                                      </p:to>
                                    </p:set>
                                  </p:sub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8" grpId="0"/>
      <p:bldP spid="20" grpId="0"/>
      <p:bldP spid="22" grpId="0"/>
      <p:bldP spid="2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 name="Table 36"/>
          <p:cNvGraphicFramePr>
            <a:graphicFrameLocks noGrp="1"/>
          </p:cNvGraphicFramePr>
          <p:nvPr>
            <p:extLst>
              <p:ext uri="{D42A27DB-BD31-4B8C-83A1-F6EECF244321}">
                <p14:modId xmlns:p14="http://schemas.microsoft.com/office/powerpoint/2010/main" val="2505671092"/>
              </p:ext>
            </p:extLst>
          </p:nvPr>
        </p:nvGraphicFramePr>
        <p:xfrm>
          <a:off x="685800" y="2989898"/>
          <a:ext cx="8091485" cy="3680460"/>
        </p:xfrm>
        <a:graphic>
          <a:graphicData uri="http://schemas.openxmlformats.org/drawingml/2006/table">
            <a:tbl>
              <a:tblPr firstRow="1" firstCol="1" bandRow="1" bandCol="1">
                <a:tableStyleId>{5C22544A-7EE6-4342-B048-85BDC9FD1C3A}</a:tableStyleId>
              </a:tblPr>
              <a:tblGrid>
                <a:gridCol w="2438400"/>
                <a:gridCol w="934093"/>
                <a:gridCol w="1179748"/>
                <a:gridCol w="1179748"/>
                <a:gridCol w="1179748"/>
                <a:gridCol w="1179748"/>
              </a:tblGrid>
              <a:tr h="144145">
                <a:tc>
                  <a:txBody>
                    <a:bodyPr/>
                    <a:lstStyle/>
                    <a:p>
                      <a:pPr marL="0" marR="0">
                        <a:lnSpc>
                          <a:spcPct val="115000"/>
                        </a:lnSpc>
                        <a:spcBef>
                          <a:spcPts val="0"/>
                        </a:spcBef>
                        <a:spcAft>
                          <a:spcPts val="0"/>
                        </a:spcAft>
                      </a:pPr>
                      <a:r>
                        <a:rPr lang="en-US" sz="1000" dirty="0">
                          <a:effectLst/>
                        </a:rPr>
                        <a:t> </a:t>
                      </a:r>
                      <a:endParaRPr lang="en-US" sz="1100" dirty="0">
                        <a:effectLst/>
                        <a:latin typeface="Calibri"/>
                        <a:ea typeface="SimSun"/>
                        <a:cs typeface="Times New Roman"/>
                      </a:endParaRPr>
                    </a:p>
                  </a:txBody>
                  <a:tcPr marL="68580" marR="68580" marT="0" marB="0" anchor="ctr"/>
                </a:tc>
                <a:tc>
                  <a:txBody>
                    <a:bodyPr/>
                    <a:lstStyle/>
                    <a:p>
                      <a:pPr marL="0" marR="0" algn="ctr">
                        <a:lnSpc>
                          <a:spcPct val="115000"/>
                        </a:lnSpc>
                        <a:spcBef>
                          <a:spcPts val="0"/>
                        </a:spcBef>
                        <a:spcAft>
                          <a:spcPts val="0"/>
                        </a:spcAft>
                      </a:pPr>
                      <a:r>
                        <a:rPr lang="en-US" sz="1000">
                          <a:effectLst/>
                        </a:rPr>
                        <a:t>ΔOREC</a:t>
                      </a:r>
                      <a:r>
                        <a:rPr lang="en-US" sz="1000" baseline="-25000">
                          <a:effectLst/>
                        </a:rPr>
                        <a:t>t+1</a:t>
                      </a:r>
                      <a:r>
                        <a:rPr lang="en-US" sz="1000">
                          <a:effectLst/>
                        </a:rPr>
                        <a:t>/M</a:t>
                      </a:r>
                      <a:r>
                        <a:rPr lang="en-US" sz="1000" baseline="-25000">
                          <a:effectLst/>
                        </a:rPr>
                        <a:t>t</a:t>
                      </a:r>
                      <a:endParaRPr lang="en-US" sz="1100">
                        <a:effectLst/>
                        <a:latin typeface="Calibri"/>
                        <a:ea typeface="SimSun"/>
                        <a:cs typeface="Times New Roman"/>
                      </a:endParaRPr>
                    </a:p>
                  </a:txBody>
                  <a:tcPr marL="68580" marR="68580" marT="0" marB="0" anchor="ctr"/>
                </a:tc>
                <a:tc>
                  <a:txBody>
                    <a:bodyPr/>
                    <a:lstStyle/>
                    <a:p>
                      <a:pPr marL="0" marR="0" algn="ctr">
                        <a:lnSpc>
                          <a:spcPct val="115000"/>
                        </a:lnSpc>
                        <a:spcBef>
                          <a:spcPts val="0"/>
                        </a:spcBef>
                        <a:spcAft>
                          <a:spcPts val="0"/>
                        </a:spcAft>
                      </a:pPr>
                      <a:r>
                        <a:rPr lang="en-US" sz="1000">
                          <a:effectLst/>
                        </a:rPr>
                        <a:t>ΔOREC</a:t>
                      </a:r>
                      <a:r>
                        <a:rPr lang="en-US" sz="1000" baseline="-25000">
                          <a:effectLst/>
                        </a:rPr>
                        <a:t>t+1</a:t>
                      </a:r>
                      <a:r>
                        <a:rPr lang="en-US" sz="1000">
                          <a:effectLst/>
                        </a:rPr>
                        <a:t>/M</a:t>
                      </a:r>
                      <a:r>
                        <a:rPr lang="en-US" sz="1000" baseline="-25000">
                          <a:effectLst/>
                        </a:rPr>
                        <a:t>t</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0"/>
                        </a:spcAft>
                      </a:pPr>
                      <a:r>
                        <a:rPr lang="en-US" sz="1000">
                          <a:effectLst/>
                        </a:rPr>
                        <a:t>ΔOREC</a:t>
                      </a:r>
                      <a:r>
                        <a:rPr lang="en-US" sz="1000" baseline="-25000">
                          <a:effectLst/>
                        </a:rPr>
                        <a:t>t+1</a:t>
                      </a:r>
                      <a:r>
                        <a:rPr lang="en-US" sz="1000">
                          <a:effectLst/>
                        </a:rPr>
                        <a:t>/M</a:t>
                      </a:r>
                      <a:r>
                        <a:rPr lang="en-US" sz="1000" baseline="-25000">
                          <a:effectLst/>
                        </a:rPr>
                        <a:t>t</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0"/>
                        </a:spcAft>
                      </a:pPr>
                      <a:r>
                        <a:rPr lang="en-US" sz="1000">
                          <a:effectLst/>
                        </a:rPr>
                        <a:t>ΔOREC</a:t>
                      </a:r>
                      <a:r>
                        <a:rPr lang="en-US" sz="1000" baseline="-25000">
                          <a:effectLst/>
                        </a:rPr>
                        <a:t>t+1</a:t>
                      </a:r>
                      <a:r>
                        <a:rPr lang="en-US" sz="1000">
                          <a:effectLst/>
                        </a:rPr>
                        <a:t>/M</a:t>
                      </a:r>
                      <a:r>
                        <a:rPr lang="en-US" sz="1000" baseline="-25000">
                          <a:effectLst/>
                        </a:rPr>
                        <a:t>t</a:t>
                      </a:r>
                      <a:endParaRPr lang="en-US" sz="1100">
                        <a:effectLst/>
                        <a:latin typeface="Calibri"/>
                        <a:ea typeface="SimSun"/>
                        <a:cs typeface="Times New Roman"/>
                      </a:endParaRPr>
                    </a:p>
                  </a:txBody>
                  <a:tcPr marL="68580" marR="68580" marT="0" marB="0" anchor="ctr"/>
                </a:tc>
                <a:tc>
                  <a:txBody>
                    <a:bodyPr/>
                    <a:lstStyle/>
                    <a:p>
                      <a:pPr marL="0" marR="0" algn="ctr">
                        <a:lnSpc>
                          <a:spcPct val="115000"/>
                        </a:lnSpc>
                        <a:spcBef>
                          <a:spcPts val="0"/>
                        </a:spcBef>
                        <a:spcAft>
                          <a:spcPts val="0"/>
                        </a:spcAft>
                      </a:pPr>
                      <a:r>
                        <a:rPr lang="en-US" sz="1000">
                          <a:effectLst/>
                        </a:rPr>
                        <a:t>ΔOREC</a:t>
                      </a:r>
                      <a:r>
                        <a:rPr lang="en-US" sz="1000" baseline="-25000">
                          <a:effectLst/>
                        </a:rPr>
                        <a:t>t+1</a:t>
                      </a:r>
                      <a:r>
                        <a:rPr lang="en-US" sz="1000">
                          <a:effectLst/>
                        </a:rPr>
                        <a:t>/M</a:t>
                      </a:r>
                      <a:r>
                        <a:rPr lang="en-US" sz="1000" baseline="-25000">
                          <a:effectLst/>
                        </a:rPr>
                        <a:t>t</a:t>
                      </a:r>
                      <a:endParaRPr lang="en-US" sz="1100">
                        <a:effectLst/>
                        <a:latin typeface="Calibri"/>
                        <a:ea typeface="SimSun"/>
                        <a:cs typeface="Times New Roman"/>
                      </a:endParaRPr>
                    </a:p>
                  </a:txBody>
                  <a:tcPr marL="68580" marR="68580" marT="0" marB="0" anchor="ctr"/>
                </a:tc>
              </a:tr>
              <a:tr h="144145">
                <a:tc>
                  <a:txBody>
                    <a:bodyPr/>
                    <a:lstStyle/>
                    <a:p>
                      <a:pPr marL="0" marR="0">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68580" marR="68580" marT="0" marB="0" anchor="ctr"/>
                </a:tc>
                <a:tc>
                  <a:txBody>
                    <a:bodyPr/>
                    <a:lstStyle/>
                    <a:p>
                      <a:pPr marL="0" marR="0" algn="ctr">
                        <a:lnSpc>
                          <a:spcPct val="115000"/>
                        </a:lnSpc>
                        <a:spcBef>
                          <a:spcPts val="0"/>
                        </a:spcBef>
                        <a:spcAft>
                          <a:spcPts val="0"/>
                        </a:spcAft>
                      </a:pPr>
                      <a:r>
                        <a:rPr lang="en-US" sz="1000">
                          <a:effectLst/>
                        </a:rPr>
                        <a:t>(1)</a:t>
                      </a:r>
                      <a:endParaRPr lang="en-US" sz="1100">
                        <a:effectLst/>
                        <a:latin typeface="Calibri"/>
                        <a:ea typeface="SimSun"/>
                        <a:cs typeface="Times New Roman"/>
                      </a:endParaRPr>
                    </a:p>
                  </a:txBody>
                  <a:tcPr marL="68580" marR="68580" marT="0" marB="0" anchor="ctr"/>
                </a:tc>
                <a:tc>
                  <a:txBody>
                    <a:bodyPr/>
                    <a:lstStyle/>
                    <a:p>
                      <a:pPr marL="0" marR="0" algn="ctr">
                        <a:lnSpc>
                          <a:spcPct val="115000"/>
                        </a:lnSpc>
                        <a:spcBef>
                          <a:spcPts val="0"/>
                        </a:spcBef>
                        <a:spcAft>
                          <a:spcPts val="0"/>
                        </a:spcAft>
                      </a:pPr>
                      <a:r>
                        <a:rPr lang="en-US" sz="1000">
                          <a:effectLst/>
                        </a:rPr>
                        <a:t>(2)</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0"/>
                        </a:spcAft>
                      </a:pPr>
                      <a:r>
                        <a:rPr lang="en-US" sz="1000">
                          <a:effectLst/>
                        </a:rPr>
                        <a:t>(3)</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0"/>
                        </a:spcAft>
                      </a:pPr>
                      <a:r>
                        <a:rPr lang="en-US" sz="1000">
                          <a:effectLst/>
                        </a:rPr>
                        <a:t>(4)</a:t>
                      </a:r>
                      <a:endParaRPr lang="en-US" sz="1100">
                        <a:effectLst/>
                        <a:latin typeface="Calibri"/>
                        <a:ea typeface="SimSun"/>
                        <a:cs typeface="Times New Roman"/>
                      </a:endParaRPr>
                    </a:p>
                  </a:txBody>
                  <a:tcPr marL="68580" marR="68580" marT="0" marB="0" anchor="ctr"/>
                </a:tc>
                <a:tc>
                  <a:txBody>
                    <a:bodyPr/>
                    <a:lstStyle/>
                    <a:p>
                      <a:pPr marL="0" marR="0" algn="ctr">
                        <a:lnSpc>
                          <a:spcPct val="115000"/>
                        </a:lnSpc>
                        <a:spcBef>
                          <a:spcPts val="0"/>
                        </a:spcBef>
                        <a:spcAft>
                          <a:spcPts val="0"/>
                        </a:spcAft>
                      </a:pPr>
                      <a:r>
                        <a:rPr lang="en-US" sz="1000">
                          <a:effectLst/>
                        </a:rPr>
                        <a:t>(5)</a:t>
                      </a:r>
                      <a:endParaRPr lang="en-US" sz="1100">
                        <a:effectLst/>
                        <a:latin typeface="Calibri"/>
                        <a:ea typeface="SimSun"/>
                        <a:cs typeface="Times New Roman"/>
                      </a:endParaRPr>
                    </a:p>
                  </a:txBody>
                  <a:tcPr marL="68580" marR="68580" marT="0" marB="0" anchor="ctr"/>
                </a:tc>
              </a:tr>
              <a:tr h="144145">
                <a:tc>
                  <a:txBody>
                    <a:bodyPr/>
                    <a:lstStyle/>
                    <a:p>
                      <a:pPr marL="0" marR="0">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tc>
              </a:tr>
              <a:tr h="144145">
                <a:tc>
                  <a:txBody>
                    <a:bodyPr/>
                    <a:lstStyle/>
                    <a:p>
                      <a:pPr marL="0" marR="0">
                        <a:lnSpc>
                          <a:spcPct val="115000"/>
                        </a:lnSpc>
                        <a:spcBef>
                          <a:spcPts val="0"/>
                        </a:spcBef>
                        <a:spcAft>
                          <a:spcPts val="0"/>
                        </a:spcAft>
                      </a:pPr>
                      <a:r>
                        <a:rPr lang="en-US" sz="1000">
                          <a:effectLst/>
                        </a:rPr>
                        <a:t>Parent characteristics</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dirty="0">
                          <a:effectLst/>
                        </a:rPr>
                        <a:t> </a:t>
                      </a:r>
                      <a:endParaRPr lang="en-US" sz="1100" dirty="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dirty="0">
                          <a:effectLst/>
                        </a:rPr>
                        <a:t> </a:t>
                      </a:r>
                      <a:endParaRPr lang="en-US" sz="1100" dirty="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r>
              <a:tr h="144145">
                <a:tc>
                  <a:txBody>
                    <a:bodyPr/>
                    <a:lstStyle/>
                    <a:p>
                      <a:pPr marL="0" marR="0">
                        <a:lnSpc>
                          <a:spcPct val="115000"/>
                        </a:lnSpc>
                        <a:spcBef>
                          <a:spcPts val="0"/>
                        </a:spcBef>
                        <a:spcAft>
                          <a:spcPts val="0"/>
                        </a:spcAft>
                      </a:pPr>
                      <a:r>
                        <a:rPr lang="en-US" sz="1000">
                          <a:effectLst/>
                        </a:rPr>
                        <a:t>(1) Parent ROA</a:t>
                      </a:r>
                      <a:r>
                        <a:rPr lang="en-US" sz="1000" baseline="-25000">
                          <a:effectLst/>
                        </a:rPr>
                        <a:t>t</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a:effectLst/>
                        </a:rPr>
                        <a:t>-0.018 (-0.89)</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a:effectLst/>
                        </a:rPr>
                        <a:t>-0.017 (-0.81)</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r>
              <a:tr h="144145">
                <a:tc>
                  <a:txBody>
                    <a:bodyPr/>
                    <a:lstStyle/>
                    <a:p>
                      <a:pPr marL="0" marR="0">
                        <a:lnSpc>
                          <a:spcPct val="115000"/>
                        </a:lnSpc>
                        <a:spcBef>
                          <a:spcPts val="0"/>
                        </a:spcBef>
                        <a:spcAft>
                          <a:spcPts val="0"/>
                        </a:spcAft>
                      </a:pPr>
                      <a:r>
                        <a:rPr lang="en-US" sz="1000">
                          <a:effectLst/>
                        </a:rPr>
                        <a:t>(2) Parent ROA</a:t>
                      </a:r>
                      <a:r>
                        <a:rPr lang="en-US" sz="1000" baseline="-25000">
                          <a:effectLst/>
                        </a:rPr>
                        <a:t>t</a:t>
                      </a:r>
                      <a:r>
                        <a:rPr lang="en-US" sz="1000">
                          <a:effectLst/>
                        </a:rPr>
                        <a:t> × ΔC</a:t>
                      </a:r>
                      <a:r>
                        <a:rPr lang="en-US" sz="1000" baseline="-25000">
                          <a:effectLst/>
                        </a:rPr>
                        <a:t>t</a:t>
                      </a:r>
                      <a:r>
                        <a:rPr lang="en-US" sz="1000">
                          <a:effectLst/>
                        </a:rPr>
                        <a:t>/M</a:t>
                      </a:r>
                      <a:r>
                        <a:rPr lang="en-US" sz="1000" baseline="-25000">
                          <a:effectLst/>
                        </a:rPr>
                        <a:t>t</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dirty="0">
                          <a:effectLst/>
                        </a:rPr>
                        <a:t> </a:t>
                      </a:r>
                      <a:endParaRPr lang="en-US" sz="1100" dirty="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b="1" dirty="0">
                          <a:solidFill>
                            <a:srgbClr val="FF0000"/>
                          </a:solidFill>
                          <a:effectLst/>
                        </a:rPr>
                        <a:t>-0.428 (-1.82</a:t>
                      </a:r>
                      <a:r>
                        <a:rPr lang="en-US" sz="1000" b="1" dirty="0" smtClean="0">
                          <a:solidFill>
                            <a:srgbClr val="FF0000"/>
                          </a:solidFill>
                          <a:effectLst/>
                        </a:rPr>
                        <a:t>)</a:t>
                      </a:r>
                      <a:endParaRPr lang="en-US" sz="1100" b="1" dirty="0">
                        <a:solidFill>
                          <a:srgbClr val="FF0000"/>
                        </a:solidFill>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r>
              <a:tr h="144145">
                <a:tc>
                  <a:txBody>
                    <a:bodyPr/>
                    <a:lstStyle/>
                    <a:p>
                      <a:pPr marL="0" marR="0">
                        <a:lnSpc>
                          <a:spcPct val="115000"/>
                        </a:lnSpc>
                        <a:spcBef>
                          <a:spcPts val="0"/>
                        </a:spcBef>
                        <a:spcAft>
                          <a:spcPts val="0"/>
                        </a:spcAft>
                      </a:pPr>
                      <a:r>
                        <a:rPr lang="en-US" sz="1000">
                          <a:effectLst/>
                        </a:rPr>
                        <a:t>(3) Parent CF</a:t>
                      </a:r>
                      <a:r>
                        <a:rPr lang="en-US" sz="1000" baseline="-25000">
                          <a:effectLst/>
                        </a:rPr>
                        <a:t>t</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a:effectLst/>
                        </a:rPr>
                        <a:t>-0.020 (-1.39)</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-0.015 (-1.05)</a:t>
                      </a:r>
                      <a:endParaRPr lang="en-US" sz="110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(4) Parent CF</a:t>
                      </a:r>
                      <a:r>
                        <a:rPr lang="en-US" sz="1000" baseline="-25000">
                          <a:effectLst/>
                        </a:rPr>
                        <a:t>t</a:t>
                      </a:r>
                      <a:r>
                        <a:rPr lang="en-US" sz="1000">
                          <a:effectLst/>
                        </a:rPr>
                        <a:t> ×Δ C</a:t>
                      </a:r>
                      <a:r>
                        <a:rPr lang="en-US" sz="1000" baseline="-25000">
                          <a:effectLst/>
                        </a:rPr>
                        <a:t>t</a:t>
                      </a:r>
                      <a:r>
                        <a:rPr lang="en-US" sz="1000">
                          <a:effectLst/>
                        </a:rPr>
                        <a:t>/M</a:t>
                      </a:r>
                      <a:r>
                        <a:rPr lang="en-US" sz="1000" baseline="-25000">
                          <a:effectLst/>
                        </a:rPr>
                        <a:t>t</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b="1" dirty="0">
                          <a:solidFill>
                            <a:srgbClr val="FF0000"/>
                          </a:solidFill>
                          <a:effectLst/>
                        </a:rPr>
                        <a:t>-0.342 (-2.30</a:t>
                      </a:r>
                      <a:r>
                        <a:rPr lang="en-US" sz="1000" b="1" dirty="0" smtClean="0">
                          <a:solidFill>
                            <a:srgbClr val="FF0000"/>
                          </a:solidFill>
                          <a:effectLst/>
                        </a:rPr>
                        <a:t>)</a:t>
                      </a:r>
                      <a:endParaRPr lang="en-US" sz="1100" b="1" dirty="0">
                        <a:solidFill>
                          <a:srgbClr val="FF0000"/>
                        </a:solidFill>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(5) SOE</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a:effectLst/>
                        </a:rPr>
                        <a:t> </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-0.001 (-0.44)</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-0.001 (-0.44)</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-0.002 (-0.69)</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-0.002 (-0.61)</a:t>
                      </a:r>
                      <a:endParaRPr lang="en-US" sz="110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r>
              <a:tr h="144145">
                <a:tc>
                  <a:txBody>
                    <a:bodyPr/>
                    <a:lstStyle/>
                    <a:p>
                      <a:pPr marL="0" marR="0">
                        <a:lnSpc>
                          <a:spcPct val="115000"/>
                        </a:lnSpc>
                        <a:spcBef>
                          <a:spcPts val="0"/>
                        </a:spcBef>
                        <a:spcAft>
                          <a:spcPts val="0"/>
                        </a:spcAft>
                      </a:pPr>
                      <a:r>
                        <a:rPr lang="en-US" sz="1000">
                          <a:effectLst/>
                        </a:rPr>
                        <a:t>Listed firm characteristics</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r>
              <a:tr h="144145">
                <a:tc>
                  <a:txBody>
                    <a:bodyPr/>
                    <a:lstStyle/>
                    <a:p>
                      <a:pPr marL="0" marR="0">
                        <a:lnSpc>
                          <a:spcPct val="115000"/>
                        </a:lnSpc>
                        <a:spcBef>
                          <a:spcPts val="0"/>
                        </a:spcBef>
                        <a:spcAft>
                          <a:spcPts val="0"/>
                        </a:spcAft>
                      </a:pPr>
                      <a:r>
                        <a:rPr lang="en-US" sz="1000">
                          <a:effectLst/>
                        </a:rPr>
                        <a:t>(6) Δ Ct/Mt</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b="1" dirty="0">
                          <a:effectLst/>
                        </a:rPr>
                        <a:t>0.022 (1.92</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0.022 (1.92</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0.024 (2.11</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0.022 (1.85</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0.053 (2.95</a:t>
                      </a:r>
                      <a:r>
                        <a:rPr lang="en-US" sz="1000" b="1" dirty="0" smtClean="0">
                          <a:effectLst/>
                        </a:rPr>
                        <a:t>)</a:t>
                      </a:r>
                      <a:endParaRPr lang="en-US" sz="1100" b="1" dirty="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(7) C</a:t>
                      </a:r>
                      <a:r>
                        <a:rPr lang="en-US" sz="1000" baseline="-25000">
                          <a:effectLst/>
                        </a:rPr>
                        <a:t>t</a:t>
                      </a:r>
                      <a:r>
                        <a:rPr lang="en-US" sz="1000">
                          <a:effectLst/>
                        </a:rPr>
                        <a:t>/M</a:t>
                      </a:r>
                      <a:r>
                        <a:rPr lang="en-US" sz="1000" baseline="-25000">
                          <a:effectLst/>
                        </a:rPr>
                        <a:t>t</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b="1" dirty="0">
                          <a:effectLst/>
                        </a:rPr>
                        <a:t>0.023 (2.77</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0.023 (2.81</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0.024 (2.84</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0.022 (2.53</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0.023 (2.63</a:t>
                      </a:r>
                      <a:r>
                        <a:rPr lang="en-US" sz="1000" b="1" dirty="0" smtClean="0">
                          <a:effectLst/>
                        </a:rPr>
                        <a:t>)</a:t>
                      </a:r>
                      <a:endParaRPr lang="en-US" sz="1100" b="1" dirty="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(8) Log(TA</a:t>
                      </a:r>
                      <a:r>
                        <a:rPr lang="en-US" sz="1000" baseline="-25000">
                          <a:effectLst/>
                        </a:rPr>
                        <a:t> t</a:t>
                      </a:r>
                      <a:r>
                        <a:rPr lang="en-US" sz="1000">
                          <a:effectLst/>
                        </a:rPr>
                        <a:t>)</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dirty="0">
                          <a:effectLst/>
                        </a:rPr>
                        <a:t>-0.000 (-0.03)</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0.000 (0.01)</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-0.000 (-0.00)</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-0.000 (-0.16)</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-0.000 (-0.19)</a:t>
                      </a:r>
                      <a:endParaRPr lang="en-US" sz="1100" dirty="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(9) ROA</a:t>
                      </a:r>
                      <a:r>
                        <a:rPr lang="en-US" sz="1000" baseline="-25000">
                          <a:effectLst/>
                        </a:rPr>
                        <a:t>t</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b="1" dirty="0">
                          <a:effectLst/>
                        </a:rPr>
                        <a:t>0.089 (5.87</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0.095 (5.91</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0.093 (5.81</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0.119 (7.04</a:t>
                      </a:r>
                      <a:r>
                        <a:rPr lang="en-US" sz="1000" b="1" dirty="0" smtClean="0">
                          <a:effectLst/>
                        </a:rPr>
                        <a:t>)</a:t>
                      </a:r>
                      <a:endParaRPr lang="en-US" sz="1100" b="1"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b="1" dirty="0">
                          <a:effectLst/>
                        </a:rPr>
                        <a:t>0.116 (6.83</a:t>
                      </a:r>
                      <a:r>
                        <a:rPr lang="en-US" sz="1000" b="1" dirty="0" smtClean="0">
                          <a:effectLst/>
                        </a:rPr>
                        <a:t>)</a:t>
                      </a:r>
                      <a:endParaRPr lang="en-US" sz="1100" b="1" dirty="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(10) Marketization index</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dirty="0">
                          <a:effectLst/>
                        </a:rPr>
                        <a:t>-0.000 (-0.46)</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-0.000 (-0.40)</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-0.000 (-0.42)</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-0.000 (-0.40)</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-0.000 (-0.43)</a:t>
                      </a:r>
                      <a:endParaRPr lang="en-US" sz="1100" dirty="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(11) Ownership by largest shareholder</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a:effectLst/>
                        </a:rPr>
                        <a:t>-0.000 (-0.36)</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-0.000 (-0.43)</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-0.000 (-0.43)</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-0.000 (-0.61)</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-0.000 (-0.62)</a:t>
                      </a:r>
                      <a:endParaRPr lang="en-US" sz="110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100">
                        <a:effectLst/>
                        <a:latin typeface="Calibri"/>
                        <a:ea typeface="SimSun"/>
                        <a:cs typeface="Times New Roman"/>
                      </a:endParaRPr>
                    </a:p>
                  </a:txBody>
                  <a:tcPr marL="0" marR="0" marT="0" marB="0" anchor="b"/>
                </a:tc>
              </a:tr>
              <a:tr h="144145">
                <a:tc>
                  <a:txBody>
                    <a:bodyPr/>
                    <a:lstStyle/>
                    <a:p>
                      <a:pPr marL="0" marR="0">
                        <a:lnSpc>
                          <a:spcPct val="115000"/>
                        </a:lnSpc>
                        <a:spcBef>
                          <a:spcPts val="0"/>
                        </a:spcBef>
                        <a:spcAft>
                          <a:spcPts val="0"/>
                        </a:spcAft>
                      </a:pPr>
                      <a:r>
                        <a:rPr lang="en-US" sz="1000">
                          <a:effectLst/>
                        </a:rPr>
                        <a:t>Observations</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a:effectLst/>
                        </a:rPr>
                        <a:t>2490</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2480</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2480</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2254</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2254</a:t>
                      </a:r>
                      <a:endParaRPr lang="en-US" sz="110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a:effectLst/>
                        </a:rPr>
                        <a:t>Adj. R</a:t>
                      </a:r>
                      <a:r>
                        <a:rPr lang="en-US" sz="1000" baseline="30000">
                          <a:effectLst/>
                        </a:rPr>
                        <a:t>2</a:t>
                      </a:r>
                      <a:endParaRPr lang="en-US" sz="110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a:effectLst/>
                        </a:rPr>
                        <a:t>0.034</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0.035</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0.036</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0.040</a:t>
                      </a:r>
                      <a:endParaRPr lang="en-US" sz="110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a:effectLst/>
                        </a:rPr>
                        <a:t>0.042</a:t>
                      </a:r>
                      <a:endParaRPr lang="en-US" sz="1100">
                        <a:effectLst/>
                        <a:latin typeface="Calibri"/>
                        <a:ea typeface="SimSun"/>
                        <a:cs typeface="Times New Roman"/>
                      </a:endParaRPr>
                    </a:p>
                  </a:txBody>
                  <a:tcPr marL="0" marR="0" marT="0" marB="0" anchor="ctr"/>
                </a:tc>
              </a:tr>
              <a:tr h="144145">
                <a:tc>
                  <a:txBody>
                    <a:bodyPr/>
                    <a:lstStyle/>
                    <a:p>
                      <a:pPr marL="0" marR="0">
                        <a:lnSpc>
                          <a:spcPct val="115000"/>
                        </a:lnSpc>
                        <a:spcBef>
                          <a:spcPts val="0"/>
                        </a:spcBef>
                        <a:spcAft>
                          <a:spcPts val="0"/>
                        </a:spcAft>
                      </a:pPr>
                      <a:r>
                        <a:rPr lang="en-US" sz="1000" dirty="0">
                          <a:effectLst/>
                        </a:rPr>
                        <a:t>F</a:t>
                      </a:r>
                      <a:endParaRPr lang="en-US" sz="1100" dirty="0">
                        <a:effectLst/>
                        <a:latin typeface="Calibri"/>
                        <a:ea typeface="SimSun"/>
                        <a:cs typeface="Times New Roman"/>
                      </a:endParaRPr>
                    </a:p>
                  </a:txBody>
                  <a:tcPr marL="0" marR="0" marT="0" marB="0" anchor="b"/>
                </a:tc>
                <a:tc>
                  <a:txBody>
                    <a:bodyPr/>
                    <a:lstStyle/>
                    <a:p>
                      <a:pPr marL="0" marR="0" algn="ctr">
                        <a:lnSpc>
                          <a:spcPct val="115000"/>
                        </a:lnSpc>
                        <a:spcBef>
                          <a:spcPts val="0"/>
                        </a:spcBef>
                        <a:spcAft>
                          <a:spcPts val="1000"/>
                        </a:spcAft>
                      </a:pPr>
                      <a:r>
                        <a:rPr lang="en-US" sz="1000" dirty="0">
                          <a:effectLst/>
                        </a:rPr>
                        <a:t>4.396</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4.318</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4.286</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4.458</a:t>
                      </a:r>
                      <a:endParaRPr lang="en-US" sz="1100" dirty="0">
                        <a:effectLst/>
                        <a:latin typeface="Calibri"/>
                        <a:ea typeface="SimSun"/>
                        <a:cs typeface="Times New Roman"/>
                      </a:endParaRPr>
                    </a:p>
                  </a:txBody>
                  <a:tcPr marL="0" marR="0" marT="0" marB="0" anchor="ctr"/>
                </a:tc>
                <a:tc>
                  <a:txBody>
                    <a:bodyPr/>
                    <a:lstStyle/>
                    <a:p>
                      <a:pPr marL="0" marR="0" algn="ctr">
                        <a:lnSpc>
                          <a:spcPct val="115000"/>
                        </a:lnSpc>
                        <a:spcBef>
                          <a:spcPts val="0"/>
                        </a:spcBef>
                        <a:spcAft>
                          <a:spcPts val="1000"/>
                        </a:spcAft>
                      </a:pPr>
                      <a:r>
                        <a:rPr lang="en-US" sz="1000" dirty="0">
                          <a:effectLst/>
                        </a:rPr>
                        <a:t>4.497</a:t>
                      </a:r>
                      <a:endParaRPr lang="en-US" sz="1100" dirty="0">
                        <a:effectLst/>
                        <a:latin typeface="Calibri"/>
                        <a:ea typeface="SimSun"/>
                        <a:cs typeface="Times New Roman"/>
                      </a:endParaRPr>
                    </a:p>
                  </a:txBody>
                  <a:tcPr marL="0" marR="0" marT="0" marB="0" anchor="ctr"/>
                </a:tc>
              </a:tr>
            </a:tbl>
          </a:graphicData>
        </a:graphic>
      </p:graphicFrame>
      <p:sp>
        <p:nvSpPr>
          <p:cNvPr id="2" name="Title 1"/>
          <p:cNvSpPr>
            <a:spLocks noGrp="1"/>
          </p:cNvSpPr>
          <p:nvPr>
            <p:ph type="title"/>
          </p:nvPr>
        </p:nvSpPr>
        <p:spPr/>
        <p:txBody>
          <a:bodyPr/>
          <a:lstStyle/>
          <a:p>
            <a:r>
              <a:rPr lang="en-US" dirty="0"/>
              <a:t>Intra-group loans and the performance of the controlling shareholder</a:t>
            </a:r>
            <a:endParaRPr lang="en-US" dirty="0"/>
          </a:p>
        </p:txBody>
      </p:sp>
      <p:cxnSp>
        <p:nvCxnSpPr>
          <p:cNvPr id="5" name="Straight Arrow Connector 4"/>
          <p:cNvCxnSpPr/>
          <p:nvPr/>
        </p:nvCxnSpPr>
        <p:spPr>
          <a:xfrm flipH="1" flipV="1">
            <a:off x="3276600" y="2274332"/>
            <a:ext cx="228600" cy="6212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057400" y="1905000"/>
            <a:ext cx="2200411" cy="369332"/>
          </a:xfrm>
          <a:prstGeom prst="rect">
            <a:avLst/>
          </a:prstGeom>
          <a:noFill/>
        </p:spPr>
        <p:txBody>
          <a:bodyPr wrap="none" rtlCol="0">
            <a:spAutoFit/>
          </a:bodyPr>
          <a:lstStyle/>
          <a:p>
            <a:r>
              <a:rPr lang="en-US" dirty="0" smtClean="0">
                <a:latin typeface="Calibri" panose="020F0502020204030204" pitchFamily="34" charset="0"/>
              </a:rPr>
              <a:t>Baseline specification</a:t>
            </a:r>
            <a:endParaRPr lang="en-US" dirty="0">
              <a:latin typeface="Calibri" panose="020F0502020204030204" pitchFamily="34" charset="0"/>
            </a:endParaRPr>
          </a:p>
        </p:txBody>
      </p:sp>
      <p:sp>
        <p:nvSpPr>
          <p:cNvPr id="27" name="TextBox 26"/>
          <p:cNvSpPr txBox="1"/>
          <p:nvPr/>
        </p:nvSpPr>
        <p:spPr>
          <a:xfrm>
            <a:off x="4495800" y="990600"/>
            <a:ext cx="4343400" cy="1815882"/>
          </a:xfrm>
          <a:prstGeom prst="rect">
            <a:avLst/>
          </a:prstGeom>
          <a:noFill/>
        </p:spPr>
        <p:txBody>
          <a:bodyPr wrap="square" rtlCol="0">
            <a:spAutoFit/>
          </a:bodyPr>
          <a:lstStyle/>
          <a:p>
            <a:r>
              <a:rPr lang="en-US" sz="1600" dirty="0">
                <a:latin typeface="Calibri" panose="020F0502020204030204" pitchFamily="34" charset="0"/>
              </a:rPr>
              <a:t>A</a:t>
            </a:r>
            <a:r>
              <a:rPr lang="en-US" sz="1600" dirty="0" smtClean="0">
                <a:latin typeface="Calibri" panose="020F0502020204030204" pitchFamily="34" charset="0"/>
              </a:rPr>
              <a:t> </a:t>
            </a:r>
            <a:r>
              <a:rPr lang="en-US" sz="1600" dirty="0">
                <a:latin typeface="Calibri" panose="020F0502020204030204" pitchFamily="34" charset="0"/>
              </a:rPr>
              <a:t>publicly listed firm with average cash balances </a:t>
            </a:r>
            <a:r>
              <a:rPr lang="en-US" sz="1600" dirty="0" smtClean="0">
                <a:latin typeface="Calibri" panose="020F0502020204030204" pitchFamily="34" charset="0"/>
              </a:rPr>
              <a:t>whose </a:t>
            </a:r>
            <a:r>
              <a:rPr lang="en-US" sz="1600" dirty="0">
                <a:latin typeface="Calibri" panose="020F0502020204030204" pitchFamily="34" charset="0"/>
              </a:rPr>
              <a:t>parent performs on the cut-off for the </a:t>
            </a:r>
            <a:r>
              <a:rPr lang="en-US" sz="1600" dirty="0">
                <a:solidFill>
                  <a:srgbClr val="FF0000"/>
                </a:solidFill>
                <a:latin typeface="Calibri" panose="020F0502020204030204" pitchFamily="34" charset="0"/>
              </a:rPr>
              <a:t>bottom</a:t>
            </a:r>
            <a:r>
              <a:rPr lang="en-US" sz="1600" dirty="0">
                <a:latin typeface="Calibri" panose="020F0502020204030204" pitchFamily="34" charset="0"/>
              </a:rPr>
              <a:t> 25% quartile compared to other parents (</a:t>
            </a:r>
            <a:r>
              <a:rPr lang="en-US" sz="1600" i="1" dirty="0">
                <a:latin typeface="Calibri" panose="020F0502020204030204" pitchFamily="34" charset="0"/>
              </a:rPr>
              <a:t>Parent ROA</a:t>
            </a:r>
            <a:r>
              <a:rPr lang="en-US" sz="1600" dirty="0">
                <a:latin typeface="Calibri" panose="020F0502020204030204" pitchFamily="34" charset="0"/>
              </a:rPr>
              <a:t>=−2.1%) </a:t>
            </a:r>
            <a:r>
              <a:rPr lang="en-US" sz="1600" i="1" dirty="0">
                <a:latin typeface="Calibri" panose="020F0502020204030204" pitchFamily="34" charset="0"/>
              </a:rPr>
              <a:t>increases</a:t>
            </a:r>
            <a:r>
              <a:rPr lang="en-US" sz="1600" dirty="0">
                <a:latin typeface="Calibri" panose="020F0502020204030204" pitchFamily="34" charset="0"/>
              </a:rPr>
              <a:t> intra-group loans to its controlling shareholder the following year </a:t>
            </a:r>
            <a:r>
              <a:rPr lang="en-US" sz="1600" dirty="0" smtClean="0">
                <a:latin typeface="Calibri" panose="020F0502020204030204" pitchFamily="34" charset="0"/>
              </a:rPr>
              <a:t>by </a:t>
            </a:r>
            <a:r>
              <a:rPr lang="en-US" sz="1600" dirty="0">
                <a:latin typeface="Calibri" panose="020F0502020204030204" pitchFamily="34" charset="0"/>
              </a:rPr>
              <a:t>almost 4 cents [= (0.024×14.1%) + 0.024 + (−0.017)×(−2.1%) + (−0.428)×(−2.1%)]. </a:t>
            </a:r>
            <a:endParaRPr lang="en-US" sz="1600" dirty="0">
              <a:latin typeface="Calibri" panose="020F0502020204030204" pitchFamily="34" charset="0"/>
            </a:endParaRPr>
          </a:p>
        </p:txBody>
      </p:sp>
      <p:cxnSp>
        <p:nvCxnSpPr>
          <p:cNvPr id="26" name="Straight Arrow Connector 25"/>
          <p:cNvCxnSpPr/>
          <p:nvPr/>
        </p:nvCxnSpPr>
        <p:spPr>
          <a:xfrm flipV="1">
            <a:off x="6248400" y="2795343"/>
            <a:ext cx="228600" cy="10908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52400" y="1143000"/>
            <a:ext cx="4343400" cy="1815882"/>
          </a:xfrm>
          <a:prstGeom prst="rect">
            <a:avLst/>
          </a:prstGeom>
          <a:noFill/>
        </p:spPr>
        <p:txBody>
          <a:bodyPr wrap="square" rtlCol="0">
            <a:spAutoFit/>
          </a:bodyPr>
          <a:lstStyle/>
          <a:p>
            <a:r>
              <a:rPr lang="en-US" sz="1600" dirty="0">
                <a:latin typeface="Calibri" panose="020F0502020204030204" pitchFamily="34" charset="0"/>
              </a:rPr>
              <a:t>A</a:t>
            </a:r>
            <a:r>
              <a:rPr lang="en-US" sz="1600" dirty="0" smtClean="0">
                <a:latin typeface="Calibri" panose="020F0502020204030204" pitchFamily="34" charset="0"/>
              </a:rPr>
              <a:t> </a:t>
            </a:r>
            <a:r>
              <a:rPr lang="en-US" sz="1600" dirty="0">
                <a:latin typeface="Calibri" panose="020F0502020204030204" pitchFamily="34" charset="0"/>
              </a:rPr>
              <a:t>publicly listed firm with average cash balances </a:t>
            </a:r>
            <a:r>
              <a:rPr lang="en-US" sz="1600" dirty="0" smtClean="0">
                <a:latin typeface="Calibri" panose="020F0502020204030204" pitchFamily="34" charset="0"/>
              </a:rPr>
              <a:t>whose </a:t>
            </a:r>
            <a:r>
              <a:rPr lang="en-US" sz="1600" dirty="0">
                <a:latin typeface="Calibri" panose="020F0502020204030204" pitchFamily="34" charset="0"/>
              </a:rPr>
              <a:t>parent performs on the cut-off for the </a:t>
            </a:r>
            <a:r>
              <a:rPr lang="en-US" sz="1600" dirty="0" smtClean="0">
                <a:solidFill>
                  <a:srgbClr val="FF0000"/>
                </a:solidFill>
                <a:latin typeface="Calibri" panose="020F0502020204030204" pitchFamily="34" charset="0"/>
              </a:rPr>
              <a:t>top</a:t>
            </a:r>
            <a:r>
              <a:rPr lang="en-US" sz="1600" dirty="0" smtClean="0">
                <a:latin typeface="Calibri" panose="020F0502020204030204" pitchFamily="34" charset="0"/>
              </a:rPr>
              <a:t> </a:t>
            </a:r>
            <a:r>
              <a:rPr lang="en-US" sz="1600" dirty="0">
                <a:latin typeface="Calibri" panose="020F0502020204030204" pitchFamily="34" charset="0"/>
              </a:rPr>
              <a:t>25% quartile compared to other parents (</a:t>
            </a:r>
            <a:r>
              <a:rPr lang="en-US" sz="1600" i="1" dirty="0">
                <a:latin typeface="Calibri" panose="020F0502020204030204" pitchFamily="34" charset="0"/>
              </a:rPr>
              <a:t>Parent ROA</a:t>
            </a:r>
            <a:r>
              <a:rPr lang="en-US" sz="1600" dirty="0" smtClean="0">
                <a:latin typeface="Calibri" panose="020F0502020204030204" pitchFamily="34" charset="0"/>
              </a:rPr>
              <a:t>=+2.3%) </a:t>
            </a:r>
            <a:r>
              <a:rPr lang="en-US" sz="1600" dirty="0">
                <a:latin typeface="Calibri" panose="020F0502020204030204" pitchFamily="34" charset="0"/>
              </a:rPr>
              <a:t>increases intra-group loans to its controlling shareholder the following year </a:t>
            </a:r>
            <a:r>
              <a:rPr lang="en-US" sz="1600" dirty="0" smtClean="0">
                <a:latin typeface="Calibri" panose="020F0502020204030204" pitchFamily="34" charset="0"/>
              </a:rPr>
              <a:t>by less than 2 </a:t>
            </a:r>
            <a:r>
              <a:rPr lang="en-US" sz="1600" dirty="0">
                <a:latin typeface="Calibri" panose="020F0502020204030204" pitchFamily="34" charset="0"/>
              </a:rPr>
              <a:t>cents [= (0.024×14.1%) + 0.024 + (−0.017</a:t>
            </a:r>
            <a:r>
              <a:rPr lang="en-US" sz="1600" dirty="0" smtClean="0">
                <a:latin typeface="Calibri" panose="020F0502020204030204" pitchFamily="34" charset="0"/>
              </a:rPr>
              <a:t>)×(2.3%) </a:t>
            </a:r>
            <a:r>
              <a:rPr lang="en-US" sz="1600" dirty="0">
                <a:latin typeface="Calibri" panose="020F0502020204030204" pitchFamily="34" charset="0"/>
              </a:rPr>
              <a:t>+ (−0.428</a:t>
            </a:r>
            <a:r>
              <a:rPr lang="en-US" sz="1600" dirty="0" smtClean="0">
                <a:latin typeface="Calibri" panose="020F0502020204030204" pitchFamily="34" charset="0"/>
              </a:rPr>
              <a:t>)×(2.3%)]. </a:t>
            </a:r>
            <a:endParaRPr lang="en-US" sz="1600" dirty="0">
              <a:latin typeface="Calibri" panose="020F0502020204030204" pitchFamily="34" charset="0"/>
            </a:endParaRPr>
          </a:p>
        </p:txBody>
      </p:sp>
      <p:cxnSp>
        <p:nvCxnSpPr>
          <p:cNvPr id="29" name="Straight Arrow Connector 28"/>
          <p:cNvCxnSpPr/>
          <p:nvPr/>
        </p:nvCxnSpPr>
        <p:spPr>
          <a:xfrm flipH="1" flipV="1">
            <a:off x="3886200" y="2514600"/>
            <a:ext cx="2133600" cy="1371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283827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subTnLst>
                                    <p:set>
                                      <p:cBhvr override="childStyle">
                                        <p:cTn dur="1" fill="hold" display="0" masterRel="nextClick" afterEffect="1"/>
                                        <p:tgtEl>
                                          <p:spTgt spid="27"/>
                                        </p:tgtEl>
                                        <p:attrNameLst>
                                          <p:attrName>style.visibility</p:attrName>
                                        </p:attrNameLst>
                                      </p:cBhvr>
                                      <p:to>
                                        <p:strVal val="hidden"/>
                                      </p:to>
                                    </p:set>
                                  </p:sub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subTnLst>
                                    <p:set>
                                      <p:cBhvr override="childStyle">
                                        <p:cTn dur="1" fill="hold" display="0" masterRel="nextClick" afterEffect="1"/>
                                        <p:tgtEl>
                                          <p:spTgt spid="28"/>
                                        </p:tgtEl>
                                        <p:attrNameLst>
                                          <p:attrName>style.visibility</p:attrName>
                                        </p:attrNameLst>
                                      </p:cBhvr>
                                      <p:to>
                                        <p:strVal val="hidden"/>
                                      </p:to>
                                    </p:set>
                                  </p:sub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7" grpId="0"/>
      <p:bldP spid="2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 this just another aspect of being in a business group?</a:t>
            </a:r>
            <a:endParaRPr lang="en-US" dirty="0"/>
          </a:p>
        </p:txBody>
      </p:sp>
      <p:sp>
        <p:nvSpPr>
          <p:cNvPr id="3" name="Content Placeholder 2"/>
          <p:cNvSpPr>
            <a:spLocks noGrp="1"/>
          </p:cNvSpPr>
          <p:nvPr>
            <p:ph idx="1"/>
          </p:nvPr>
        </p:nvSpPr>
        <p:spPr/>
        <p:txBody>
          <a:bodyPr/>
          <a:lstStyle/>
          <a:p>
            <a:r>
              <a:rPr lang="en-US" dirty="0" smtClean="0"/>
              <a:t>No.</a:t>
            </a:r>
          </a:p>
          <a:p>
            <a:r>
              <a:rPr lang="en-US" dirty="0" smtClean="0"/>
              <a:t>In </a:t>
            </a:r>
            <a:r>
              <a:rPr lang="en-US" dirty="0"/>
              <a:t>the traditional view of business groups or pyramids, the minority shareholders of </a:t>
            </a:r>
            <a:r>
              <a:rPr lang="en-US" dirty="0" smtClean="0"/>
              <a:t>the </a:t>
            </a:r>
            <a:r>
              <a:rPr lang="en-US" dirty="0"/>
              <a:t>firm </a:t>
            </a:r>
            <a:r>
              <a:rPr lang="en-US" dirty="0" smtClean="0"/>
              <a:t>at </a:t>
            </a:r>
            <a:r>
              <a:rPr lang="en-US" dirty="0"/>
              <a:t>the bottom of the pyramid can protect themselves from potential expropriation by purchasing shares in </a:t>
            </a:r>
            <a:r>
              <a:rPr lang="en-US" i="1" dirty="0"/>
              <a:t>all</a:t>
            </a:r>
            <a:r>
              <a:rPr lang="en-US" dirty="0"/>
              <a:t> other firms in the </a:t>
            </a:r>
            <a:r>
              <a:rPr lang="en-US" dirty="0" smtClean="0"/>
              <a:t>group.</a:t>
            </a:r>
          </a:p>
          <a:p>
            <a:r>
              <a:rPr lang="en-US" dirty="0"/>
              <a:t>I</a:t>
            </a:r>
            <a:r>
              <a:rPr lang="en-US" dirty="0" smtClean="0"/>
              <a:t>n </a:t>
            </a:r>
            <a:r>
              <a:rPr lang="en-US" dirty="0"/>
              <a:t>Chinese business groups, minority shareholders cannot protect themselves, because the firms at the top of the pyramids (like in our sample) are not publicly listed. </a:t>
            </a:r>
            <a:endParaRPr lang="en-US" dirty="0" smtClean="0"/>
          </a:p>
          <a:p>
            <a:r>
              <a:rPr lang="en-US" dirty="0" smtClean="0"/>
              <a:t>Most </a:t>
            </a:r>
            <a:r>
              <a:rPr lang="en-US" dirty="0"/>
              <a:t>business groups in China control only a single publicly listed firm. Less than 4% of the publicly listed firms in our sample share common controlling shareholders.</a:t>
            </a:r>
            <a:endParaRPr lang="en-US" dirty="0"/>
          </a:p>
        </p:txBody>
      </p:sp>
    </p:spTree>
    <p:extLst>
      <p:ext uri="{BB962C8B-B14F-4D97-AF65-F5344CB8AC3E}">
        <p14:creationId xmlns:p14="http://schemas.microsoft.com/office/powerpoint/2010/main" val="38502868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market valuation of intra-group loans</a:t>
            </a:r>
            <a:endParaRPr lang="en-US"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295400"/>
            <a:ext cx="76962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81000" y="4105870"/>
            <a:ext cx="1981200" cy="923330"/>
          </a:xfrm>
          <a:prstGeom prst="rect">
            <a:avLst/>
          </a:prstGeom>
          <a:noFill/>
        </p:spPr>
        <p:txBody>
          <a:bodyPr wrap="square" rtlCol="0">
            <a:spAutoFit/>
          </a:bodyPr>
          <a:lstStyle/>
          <a:p>
            <a:r>
              <a:rPr lang="en-US" dirty="0" smtClean="0">
                <a:latin typeface="Calibri" panose="020F0502020204030204" pitchFamily="34" charset="0"/>
              </a:rPr>
              <a:t>Excess returns relative to </a:t>
            </a:r>
            <a:r>
              <a:rPr lang="en-US" dirty="0" err="1" smtClean="0">
                <a:latin typeface="Calibri" panose="020F0502020204030204" pitchFamily="34" charset="0"/>
              </a:rPr>
              <a:t>Carhart</a:t>
            </a:r>
            <a:r>
              <a:rPr lang="en-US" dirty="0" smtClean="0">
                <a:latin typeface="Calibri" panose="020F0502020204030204" pitchFamily="34" charset="0"/>
              </a:rPr>
              <a:t> 4-factor model</a:t>
            </a:r>
            <a:endParaRPr lang="en-US" dirty="0">
              <a:latin typeface="Calibri" panose="020F0502020204030204" pitchFamily="34" charset="0"/>
            </a:endParaRPr>
          </a:p>
        </p:txBody>
      </p:sp>
      <p:cxnSp>
        <p:nvCxnSpPr>
          <p:cNvPr id="6" name="Straight Arrow Connector 5"/>
          <p:cNvCxnSpPr/>
          <p:nvPr/>
        </p:nvCxnSpPr>
        <p:spPr>
          <a:xfrm flipV="1">
            <a:off x="1066800" y="2057400"/>
            <a:ext cx="228600" cy="1981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2820365" y="5657671"/>
            <a:ext cx="6096000" cy="1200329"/>
          </a:xfrm>
          <a:prstGeom prst="rect">
            <a:avLst/>
          </a:prstGeom>
          <a:noFill/>
        </p:spPr>
        <p:txBody>
          <a:bodyPr wrap="square" rtlCol="0">
            <a:spAutoFit/>
          </a:bodyPr>
          <a:lstStyle/>
          <a:p>
            <a:r>
              <a:rPr lang="en-US" dirty="0" smtClean="0">
                <a:latin typeface="Calibri" panose="020F0502020204030204" pitchFamily="34" charset="0"/>
              </a:rPr>
              <a:t>Model adapted from </a:t>
            </a:r>
            <a:r>
              <a:rPr lang="en-US" dirty="0" err="1" smtClean="0">
                <a:latin typeface="Calibri" panose="020F0502020204030204" pitchFamily="34" charset="0"/>
              </a:rPr>
              <a:t>Faulkender</a:t>
            </a:r>
            <a:r>
              <a:rPr lang="en-US" dirty="0" smtClean="0">
                <a:latin typeface="Calibri" panose="020F0502020204030204" pitchFamily="34" charset="0"/>
              </a:rPr>
              <a:t> and Wang (2006). Estimated coefficients can be </a:t>
            </a:r>
            <a:r>
              <a:rPr lang="en-GB" dirty="0">
                <a:latin typeface="Calibri" panose="020F0502020204030204" pitchFamily="34" charset="0"/>
              </a:rPr>
              <a:t>interpreted as the dollar change in the firm’s market value that results from a one dollar change in the explanatory variable</a:t>
            </a:r>
            <a:endParaRPr lang="en-US" dirty="0">
              <a:latin typeface="Calibri" panose="020F0502020204030204" pitchFamily="34" charset="0"/>
            </a:endParaRPr>
          </a:p>
        </p:txBody>
      </p:sp>
      <p:sp>
        <p:nvSpPr>
          <p:cNvPr id="11" name="TextBox 10"/>
          <p:cNvSpPr txBox="1"/>
          <p:nvPr/>
        </p:nvSpPr>
        <p:spPr>
          <a:xfrm>
            <a:off x="7162800" y="2111166"/>
            <a:ext cx="1981200" cy="923330"/>
          </a:xfrm>
          <a:prstGeom prst="rect">
            <a:avLst/>
          </a:prstGeom>
          <a:noFill/>
        </p:spPr>
        <p:txBody>
          <a:bodyPr wrap="square" rtlCol="0">
            <a:spAutoFit/>
          </a:bodyPr>
          <a:lstStyle/>
          <a:p>
            <a:r>
              <a:rPr lang="en-US" dirty="0" smtClean="0">
                <a:latin typeface="Calibri" panose="020F0502020204030204" pitchFamily="34" charset="0"/>
              </a:rPr>
              <a:t>Original </a:t>
            </a:r>
            <a:r>
              <a:rPr lang="en-US" dirty="0" err="1" smtClean="0">
                <a:latin typeface="Calibri" panose="020F0502020204030204" pitchFamily="34" charset="0"/>
              </a:rPr>
              <a:t>Faulkender</a:t>
            </a:r>
            <a:r>
              <a:rPr lang="en-US" dirty="0" smtClean="0">
                <a:latin typeface="Calibri" panose="020F0502020204030204" pitchFamily="34" charset="0"/>
              </a:rPr>
              <a:t> and Wang model</a:t>
            </a:r>
            <a:endParaRPr lang="en-US" dirty="0">
              <a:latin typeface="Calibri" panose="020F0502020204030204" pitchFamily="34" charset="0"/>
            </a:endParaRPr>
          </a:p>
        </p:txBody>
      </p:sp>
      <p:cxnSp>
        <p:nvCxnSpPr>
          <p:cNvPr id="12" name="Straight Arrow Connector 11"/>
          <p:cNvCxnSpPr/>
          <p:nvPr/>
        </p:nvCxnSpPr>
        <p:spPr>
          <a:xfrm flipH="1" flipV="1">
            <a:off x="6248400" y="2133600"/>
            <a:ext cx="8001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7162800" y="3576935"/>
            <a:ext cx="1981200" cy="646331"/>
          </a:xfrm>
          <a:prstGeom prst="rect">
            <a:avLst/>
          </a:prstGeom>
          <a:noFill/>
        </p:spPr>
        <p:txBody>
          <a:bodyPr wrap="square" rtlCol="0">
            <a:spAutoFit/>
          </a:bodyPr>
          <a:lstStyle/>
          <a:p>
            <a:r>
              <a:rPr lang="en-US" dirty="0" smtClean="0">
                <a:latin typeface="Calibri" panose="020F0502020204030204" pitchFamily="34" charset="0"/>
              </a:rPr>
              <a:t>Our additional variables</a:t>
            </a:r>
            <a:endParaRPr lang="en-US" dirty="0">
              <a:latin typeface="Calibri" panose="020F0502020204030204" pitchFamily="34" charset="0"/>
            </a:endParaRPr>
          </a:p>
        </p:txBody>
      </p:sp>
      <p:cxnSp>
        <p:nvCxnSpPr>
          <p:cNvPr id="16" name="Straight Arrow Connector 15"/>
          <p:cNvCxnSpPr>
            <a:stCxn id="15" idx="1"/>
          </p:cNvCxnSpPr>
          <p:nvPr/>
        </p:nvCxnSpPr>
        <p:spPr>
          <a:xfrm flipH="1" flipV="1">
            <a:off x="6324600" y="3429001"/>
            <a:ext cx="838200" cy="471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188352" y="4270094"/>
            <a:ext cx="1981200" cy="923330"/>
          </a:xfrm>
          <a:prstGeom prst="rect">
            <a:avLst/>
          </a:prstGeom>
          <a:noFill/>
        </p:spPr>
        <p:txBody>
          <a:bodyPr wrap="square" rtlCol="0">
            <a:spAutoFit/>
          </a:bodyPr>
          <a:lstStyle/>
          <a:p>
            <a:r>
              <a:rPr lang="en-US" dirty="0" smtClean="0">
                <a:latin typeface="Calibri" panose="020F0502020204030204" pitchFamily="34" charset="0"/>
              </a:rPr>
              <a:t>The sign of this coefficient is what we want to analyze</a:t>
            </a:r>
            <a:endParaRPr lang="en-US" dirty="0">
              <a:latin typeface="Calibri" panose="020F0502020204030204" pitchFamily="34" charset="0"/>
            </a:endParaRPr>
          </a:p>
        </p:txBody>
      </p:sp>
      <p:cxnSp>
        <p:nvCxnSpPr>
          <p:cNvPr id="21" name="Straight Arrow Connector 20"/>
          <p:cNvCxnSpPr/>
          <p:nvPr/>
        </p:nvCxnSpPr>
        <p:spPr>
          <a:xfrm flipH="1" flipV="1">
            <a:off x="4114800" y="3917603"/>
            <a:ext cx="1073552" cy="73059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52665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5" grpId="0"/>
      <p:bldP spid="2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94849939"/>
              </p:ext>
            </p:extLst>
          </p:nvPr>
        </p:nvGraphicFramePr>
        <p:xfrm>
          <a:off x="228600" y="1295400"/>
          <a:ext cx="8610600" cy="5105391"/>
        </p:xfrm>
        <a:graphic>
          <a:graphicData uri="http://schemas.openxmlformats.org/drawingml/2006/table">
            <a:tbl>
              <a:tblPr firstRow="1" firstCol="1" bandRow="1">
                <a:tableStyleId>{5C22544A-7EE6-4342-B048-85BDC9FD1C3A}</a:tableStyleId>
              </a:tblPr>
              <a:tblGrid>
                <a:gridCol w="2321769"/>
                <a:gridCol w="1258128"/>
                <a:gridCol w="1257525"/>
                <a:gridCol w="1257525"/>
                <a:gridCol w="1257525"/>
                <a:gridCol w="1258128"/>
              </a:tblGrid>
              <a:tr h="180467">
                <a:tc>
                  <a:txBody>
                    <a:bodyPr/>
                    <a:lstStyle/>
                    <a:p>
                      <a:endParaRPr lang="en-US" sz="1000" dirty="0">
                        <a:effectLst/>
                        <a:latin typeface="Calibri"/>
                      </a:endParaRPr>
                    </a:p>
                  </a:txBody>
                  <a:tcPr marL="62603" marR="62603" marT="0" marB="0" anchor="ctr"/>
                </a:tc>
                <a:tc>
                  <a:txBody>
                    <a:bodyPr/>
                    <a:lstStyle/>
                    <a:p>
                      <a:pPr marL="0" marR="0" algn="ctr">
                        <a:lnSpc>
                          <a:spcPct val="115000"/>
                        </a:lnSpc>
                        <a:spcBef>
                          <a:spcPts val="0"/>
                        </a:spcBef>
                        <a:spcAft>
                          <a:spcPts val="0"/>
                        </a:spcAft>
                      </a:pPr>
                      <a:r>
                        <a:rPr lang="en-US" sz="900" dirty="0">
                          <a:effectLst/>
                        </a:rPr>
                        <a:t>(1)</a:t>
                      </a:r>
                      <a:endParaRPr lang="en-US" sz="1000" dirty="0">
                        <a:effectLst/>
                        <a:latin typeface="Calibri"/>
                        <a:ea typeface="SimSun"/>
                        <a:cs typeface="Times New Roman"/>
                      </a:endParaRPr>
                    </a:p>
                  </a:txBody>
                  <a:tcPr marL="62603" marR="62603" marT="0" marB="0"/>
                </a:tc>
                <a:tc>
                  <a:txBody>
                    <a:bodyPr/>
                    <a:lstStyle/>
                    <a:p>
                      <a:pPr marL="0" marR="0" algn="ctr">
                        <a:lnSpc>
                          <a:spcPct val="115000"/>
                        </a:lnSpc>
                        <a:spcBef>
                          <a:spcPts val="0"/>
                        </a:spcBef>
                        <a:spcAft>
                          <a:spcPts val="0"/>
                        </a:spcAft>
                      </a:pPr>
                      <a:r>
                        <a:rPr lang="en-US" sz="900">
                          <a:effectLst/>
                        </a:rPr>
                        <a:t>(2)</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(3)</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(4)</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(5)</a:t>
                      </a:r>
                      <a:endParaRPr lang="en-US" sz="1000">
                        <a:effectLst/>
                        <a:latin typeface="Calibri"/>
                        <a:ea typeface="SimSun"/>
                        <a:cs typeface="Times New Roman"/>
                      </a:endParaRPr>
                    </a:p>
                  </a:txBody>
                  <a:tcPr marL="62603" marR="62603" marT="0" marB="0" anchor="ctr"/>
                </a:tc>
              </a:tr>
              <a:tr h="180467">
                <a:tc>
                  <a:txBody>
                    <a:bodyPr/>
                    <a:lstStyle/>
                    <a:p>
                      <a:pPr marL="0" marR="0">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r>
              <a:tr h="180467">
                <a:tc>
                  <a:txBody>
                    <a:bodyPr/>
                    <a:lstStyle/>
                    <a:p>
                      <a:pPr marL="0" marR="0">
                        <a:lnSpc>
                          <a:spcPct val="115000"/>
                        </a:lnSpc>
                        <a:spcBef>
                          <a:spcPts val="0"/>
                        </a:spcBef>
                        <a:spcAft>
                          <a:spcPts val="0"/>
                        </a:spcAft>
                      </a:pPr>
                      <a:r>
                        <a:rPr lang="en-US" sz="900">
                          <a:effectLst/>
                        </a:rPr>
                        <a:t>Parent characteristics</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r>
              <a:tr h="187007">
                <a:tc>
                  <a:txBody>
                    <a:bodyPr/>
                    <a:lstStyle/>
                    <a:p>
                      <a:pPr marL="0" marR="0">
                        <a:lnSpc>
                          <a:spcPct val="115000"/>
                        </a:lnSpc>
                        <a:spcBef>
                          <a:spcPts val="0"/>
                        </a:spcBef>
                        <a:spcAft>
                          <a:spcPts val="0"/>
                        </a:spcAft>
                      </a:pPr>
                      <a:r>
                        <a:rPr lang="en-US" sz="900">
                          <a:effectLst/>
                        </a:rPr>
                        <a:t>(1) Parent ROA</a:t>
                      </a:r>
                      <a:r>
                        <a:rPr lang="en-US" sz="900" baseline="-25000">
                          <a:effectLst/>
                        </a:rPr>
                        <a:t>t</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tc>
                <a:tc>
                  <a:txBody>
                    <a:bodyPr/>
                    <a:lstStyle/>
                    <a:p>
                      <a:pPr marL="0" marR="0" algn="ctr">
                        <a:lnSpc>
                          <a:spcPct val="115000"/>
                        </a:lnSpc>
                        <a:spcBef>
                          <a:spcPts val="0"/>
                        </a:spcBef>
                        <a:spcAft>
                          <a:spcPts val="0"/>
                        </a:spcAft>
                      </a:pPr>
                      <a:r>
                        <a:rPr lang="en-US" sz="900">
                          <a:effectLst/>
                        </a:rPr>
                        <a:t>1.040 (5.77)***</a:t>
                      </a:r>
                      <a:endParaRPr lang="en-US" sz="1000">
                        <a:effectLst/>
                        <a:latin typeface="Calibri"/>
                        <a:ea typeface="SimSun"/>
                        <a:cs typeface="Times New Roman"/>
                      </a:endParaRPr>
                    </a:p>
                  </a:txBody>
                  <a:tcPr marL="62603" marR="62603" marT="0" marB="0" anchor="ctr"/>
                </a:tc>
                <a:tc>
                  <a:txBody>
                    <a:bodyPr/>
                    <a:lstStyle/>
                    <a:p>
                      <a:pPr algn="ctr"/>
                      <a:endParaRPr lang="en-US" sz="1000">
                        <a:effectLst/>
                        <a:latin typeface="Calibri"/>
                      </a:endParaRPr>
                    </a:p>
                  </a:txBody>
                  <a:tcPr marL="62603" marR="62603" marT="0" marB="0" anchor="ctr"/>
                </a:tc>
                <a:tc>
                  <a:txBody>
                    <a:bodyPr/>
                    <a:lstStyle/>
                    <a:p>
                      <a:pPr marL="0" marR="0" algn="ctr">
                        <a:lnSpc>
                          <a:spcPct val="115000"/>
                        </a:lnSpc>
                        <a:spcBef>
                          <a:spcPts val="0"/>
                        </a:spcBef>
                        <a:spcAft>
                          <a:spcPts val="0"/>
                        </a:spcAft>
                      </a:pPr>
                      <a:r>
                        <a:rPr lang="en-US" sz="900">
                          <a:effectLst/>
                        </a:rPr>
                        <a:t>1.104 (4.60)***</a:t>
                      </a:r>
                      <a:endParaRPr lang="en-US" sz="1000">
                        <a:effectLst/>
                        <a:latin typeface="Calibri"/>
                        <a:ea typeface="SimSun"/>
                        <a:cs typeface="Times New Roman"/>
                      </a:endParaRPr>
                    </a:p>
                  </a:txBody>
                  <a:tcPr marL="62603" marR="62603" marT="0" marB="0" anchor="ctr"/>
                </a:tc>
                <a:tc>
                  <a:txBody>
                    <a:bodyPr/>
                    <a:lstStyle/>
                    <a:p>
                      <a:pPr algn="ctr"/>
                      <a:endParaRPr lang="en-US" sz="1000">
                        <a:effectLst/>
                        <a:latin typeface="Calibri"/>
                      </a:endParaRPr>
                    </a:p>
                  </a:txBody>
                  <a:tcPr marL="62603" marR="62603" marT="0" marB="0" anchor="ctr"/>
                </a:tc>
              </a:tr>
              <a:tr h="187007">
                <a:tc>
                  <a:txBody>
                    <a:bodyPr/>
                    <a:lstStyle/>
                    <a:p>
                      <a:pPr marL="0" marR="0">
                        <a:lnSpc>
                          <a:spcPct val="115000"/>
                        </a:lnSpc>
                        <a:spcBef>
                          <a:spcPts val="0"/>
                        </a:spcBef>
                        <a:spcAft>
                          <a:spcPts val="0"/>
                        </a:spcAft>
                      </a:pPr>
                      <a:r>
                        <a:rPr lang="en-US" sz="900">
                          <a:effectLst/>
                        </a:rPr>
                        <a:t>(2) Parent ROA</a:t>
                      </a:r>
                      <a:r>
                        <a:rPr lang="en-US" sz="900" baseline="-25000">
                          <a:effectLst/>
                        </a:rPr>
                        <a:t>t</a:t>
                      </a:r>
                      <a:r>
                        <a:rPr lang="en-US" sz="900">
                          <a:effectLst/>
                        </a:rPr>
                        <a:t> × ΔOREC</a:t>
                      </a:r>
                      <a:r>
                        <a:rPr lang="en-US" sz="900" baseline="-25000">
                          <a:effectLst/>
                        </a:rPr>
                        <a:t>t</a:t>
                      </a:r>
                      <a:r>
                        <a:rPr lang="en-US" sz="900">
                          <a:effectLst/>
                        </a:rPr>
                        <a:t>/M</a:t>
                      </a:r>
                      <a:r>
                        <a:rPr lang="en-US" sz="900" baseline="-25000">
                          <a:effectLst/>
                        </a:rPr>
                        <a:t>t-1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tc>
                <a:tc>
                  <a:txBody>
                    <a:bodyPr/>
                    <a:lstStyle/>
                    <a:p>
                      <a:pPr marL="0" marR="0" algn="ctr">
                        <a:lnSpc>
                          <a:spcPct val="115000"/>
                        </a:lnSpc>
                        <a:spcBef>
                          <a:spcPts val="0"/>
                        </a:spcBef>
                        <a:spcAft>
                          <a:spcPts val="0"/>
                        </a:spcAft>
                      </a:pPr>
                      <a:r>
                        <a:rPr lang="en-US" sz="900" dirty="0">
                          <a:solidFill>
                            <a:srgbClr val="FF0000"/>
                          </a:solidFill>
                          <a:effectLst/>
                        </a:rPr>
                        <a:t>8.634 (3.30)***</a:t>
                      </a:r>
                      <a:endParaRPr lang="en-US" sz="1000" dirty="0">
                        <a:solidFill>
                          <a:srgbClr val="FF0000"/>
                        </a:solidFill>
                        <a:effectLst/>
                        <a:latin typeface="Calibri"/>
                        <a:ea typeface="SimSun"/>
                        <a:cs typeface="Times New Roman"/>
                      </a:endParaRPr>
                    </a:p>
                  </a:txBody>
                  <a:tcPr marL="62603" marR="62603" marT="0" marB="0" anchor="ctr"/>
                </a:tc>
                <a:tc>
                  <a:txBody>
                    <a:bodyPr/>
                    <a:lstStyle/>
                    <a:p>
                      <a:pPr algn="ctr"/>
                      <a:endParaRPr lang="en-US" sz="1000" dirty="0">
                        <a:solidFill>
                          <a:srgbClr val="FF0000"/>
                        </a:solidFill>
                        <a:effectLst/>
                        <a:latin typeface="Calibri"/>
                      </a:endParaRPr>
                    </a:p>
                  </a:txBody>
                  <a:tcPr marL="62603" marR="62603" marT="0" marB="0" anchor="ctr"/>
                </a:tc>
                <a:tc>
                  <a:txBody>
                    <a:bodyPr/>
                    <a:lstStyle/>
                    <a:p>
                      <a:pPr marL="0" marR="0" algn="ctr">
                        <a:lnSpc>
                          <a:spcPct val="115000"/>
                        </a:lnSpc>
                        <a:spcBef>
                          <a:spcPts val="0"/>
                        </a:spcBef>
                        <a:spcAft>
                          <a:spcPts val="0"/>
                        </a:spcAft>
                      </a:pPr>
                      <a:r>
                        <a:rPr lang="en-US" sz="900" dirty="0">
                          <a:solidFill>
                            <a:srgbClr val="FF0000"/>
                          </a:solidFill>
                          <a:effectLst/>
                        </a:rPr>
                        <a:t>9.426 (2.79)***</a:t>
                      </a:r>
                      <a:endParaRPr lang="en-US" sz="1000" dirty="0">
                        <a:solidFill>
                          <a:srgbClr val="FF0000"/>
                        </a:solidFill>
                        <a:effectLst/>
                        <a:latin typeface="Calibri"/>
                        <a:ea typeface="SimSun"/>
                        <a:cs typeface="Times New Roman"/>
                      </a:endParaRPr>
                    </a:p>
                  </a:txBody>
                  <a:tcPr marL="62603" marR="62603" marT="0" marB="0" anchor="ctr"/>
                </a:tc>
                <a:tc>
                  <a:txBody>
                    <a:bodyPr/>
                    <a:lstStyle/>
                    <a:p>
                      <a:pPr algn="ctr"/>
                      <a:endParaRPr lang="en-US" sz="1000">
                        <a:effectLst/>
                        <a:latin typeface="Calibri"/>
                      </a:endParaRPr>
                    </a:p>
                  </a:txBody>
                  <a:tcPr marL="62603" marR="62603" marT="0" marB="0" anchor="ctr"/>
                </a:tc>
              </a:tr>
              <a:tr h="195506">
                <a:tc>
                  <a:txBody>
                    <a:bodyPr/>
                    <a:lstStyle/>
                    <a:p>
                      <a:pPr marL="0" marR="0">
                        <a:lnSpc>
                          <a:spcPct val="115000"/>
                        </a:lnSpc>
                        <a:spcBef>
                          <a:spcPts val="0"/>
                        </a:spcBef>
                        <a:spcAft>
                          <a:spcPts val="0"/>
                        </a:spcAft>
                      </a:pPr>
                      <a:r>
                        <a:rPr lang="en-US" sz="900">
                          <a:effectLst/>
                        </a:rPr>
                        <a:t>(3) Parent CF</a:t>
                      </a:r>
                      <a:r>
                        <a:rPr lang="en-US" sz="900" baseline="-25000">
                          <a:effectLst/>
                        </a:rPr>
                        <a:t>t</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tc>
                <a:tc>
                  <a:txBody>
                    <a:bodyPr/>
                    <a:lstStyle/>
                    <a:p>
                      <a:pPr algn="ctr"/>
                      <a:endParaRPr lang="en-US" sz="1000">
                        <a:effectLst/>
                        <a:latin typeface="Calibri"/>
                      </a:endParaRPr>
                    </a:p>
                  </a:txBody>
                  <a:tcPr marL="62603" marR="62603" marT="0" marB="0" anchor="ctr"/>
                </a:tc>
                <a:tc>
                  <a:txBody>
                    <a:bodyPr/>
                    <a:lstStyle/>
                    <a:p>
                      <a:pPr marL="0" marR="0" algn="ctr">
                        <a:lnSpc>
                          <a:spcPct val="115000"/>
                        </a:lnSpc>
                        <a:spcBef>
                          <a:spcPts val="0"/>
                        </a:spcBef>
                        <a:spcAft>
                          <a:spcPts val="0"/>
                        </a:spcAft>
                      </a:pPr>
                      <a:r>
                        <a:rPr lang="en-US" sz="900">
                          <a:effectLst/>
                        </a:rPr>
                        <a:t>0.946 (4.93)***</a:t>
                      </a:r>
                      <a:endParaRPr lang="en-US" sz="1000">
                        <a:effectLst/>
                        <a:latin typeface="Calibri"/>
                        <a:ea typeface="SimSun"/>
                        <a:cs typeface="Times New Roman"/>
                      </a:endParaRPr>
                    </a:p>
                  </a:txBody>
                  <a:tcPr marL="62603" marR="62603" marT="0" marB="0" anchor="ctr"/>
                </a:tc>
                <a:tc>
                  <a:txBody>
                    <a:bodyPr/>
                    <a:lstStyle/>
                    <a:p>
                      <a:pPr algn="ctr"/>
                      <a:endParaRPr lang="en-US" sz="1000">
                        <a:effectLst/>
                        <a:latin typeface="Calibri"/>
                      </a:endParaRPr>
                    </a:p>
                  </a:txBody>
                  <a:tcPr marL="62603" marR="62603" marT="0" marB="0" anchor="ctr"/>
                </a:tc>
                <a:tc>
                  <a:txBody>
                    <a:bodyPr/>
                    <a:lstStyle/>
                    <a:p>
                      <a:pPr marL="0" marR="0" algn="ctr">
                        <a:lnSpc>
                          <a:spcPct val="115000"/>
                        </a:lnSpc>
                        <a:spcBef>
                          <a:spcPts val="0"/>
                        </a:spcBef>
                        <a:spcAft>
                          <a:spcPts val="0"/>
                        </a:spcAft>
                      </a:pPr>
                      <a:r>
                        <a:rPr lang="en-US" sz="900">
                          <a:effectLst/>
                        </a:rPr>
                        <a:t>1.009 (4.37)***</a:t>
                      </a:r>
                      <a:endParaRPr lang="en-US" sz="1000">
                        <a:effectLst/>
                        <a:latin typeface="Calibri"/>
                        <a:ea typeface="SimSun"/>
                        <a:cs typeface="Times New Roman"/>
                      </a:endParaRPr>
                    </a:p>
                  </a:txBody>
                  <a:tcPr marL="62603" marR="62603" marT="0" marB="0" anchor="ctr"/>
                </a:tc>
              </a:tr>
              <a:tr h="195506">
                <a:tc>
                  <a:txBody>
                    <a:bodyPr/>
                    <a:lstStyle/>
                    <a:p>
                      <a:pPr marL="0" marR="0">
                        <a:lnSpc>
                          <a:spcPct val="115000"/>
                        </a:lnSpc>
                        <a:spcBef>
                          <a:spcPts val="0"/>
                        </a:spcBef>
                        <a:spcAft>
                          <a:spcPts val="0"/>
                        </a:spcAft>
                      </a:pPr>
                      <a:r>
                        <a:rPr lang="en-US" sz="900">
                          <a:effectLst/>
                        </a:rPr>
                        <a:t>(4) Parent CF</a:t>
                      </a:r>
                      <a:r>
                        <a:rPr lang="en-US" sz="900" baseline="-25000">
                          <a:effectLst/>
                        </a:rPr>
                        <a:t>t</a:t>
                      </a:r>
                      <a:r>
                        <a:rPr lang="en-US" sz="900">
                          <a:effectLst/>
                        </a:rPr>
                        <a:t> × ΔOREC</a:t>
                      </a:r>
                      <a:r>
                        <a:rPr lang="en-US" sz="900" baseline="-25000">
                          <a:effectLst/>
                        </a:rPr>
                        <a:t>t</a:t>
                      </a:r>
                      <a:r>
                        <a:rPr lang="en-US" sz="900">
                          <a:effectLst/>
                        </a:rPr>
                        <a:t>/M</a:t>
                      </a:r>
                      <a:r>
                        <a:rPr lang="en-US" sz="900" baseline="-25000">
                          <a:effectLst/>
                        </a:rPr>
                        <a:t>t-1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tc>
                <a:tc>
                  <a:txBody>
                    <a:bodyPr/>
                    <a:lstStyle/>
                    <a:p>
                      <a:pPr algn="ctr"/>
                      <a:endParaRPr lang="en-US" sz="1000">
                        <a:effectLst/>
                        <a:latin typeface="Calibri"/>
                      </a:endParaRPr>
                    </a:p>
                  </a:txBody>
                  <a:tcPr marL="62603" marR="62603" marT="0" marB="0" anchor="ctr"/>
                </a:tc>
                <a:tc>
                  <a:txBody>
                    <a:bodyPr/>
                    <a:lstStyle/>
                    <a:p>
                      <a:pPr marL="0" marR="0" algn="ctr">
                        <a:lnSpc>
                          <a:spcPct val="115000"/>
                        </a:lnSpc>
                        <a:spcBef>
                          <a:spcPts val="0"/>
                        </a:spcBef>
                        <a:spcAft>
                          <a:spcPts val="0"/>
                        </a:spcAft>
                      </a:pPr>
                      <a:r>
                        <a:rPr lang="en-US" sz="900" dirty="0">
                          <a:solidFill>
                            <a:srgbClr val="FF0000"/>
                          </a:solidFill>
                          <a:effectLst/>
                        </a:rPr>
                        <a:t>3.033 (2.26)**</a:t>
                      </a:r>
                      <a:endParaRPr lang="en-US" sz="1000" dirty="0">
                        <a:solidFill>
                          <a:srgbClr val="FF0000"/>
                        </a:solidFill>
                        <a:effectLst/>
                        <a:latin typeface="Calibri"/>
                        <a:ea typeface="SimSun"/>
                        <a:cs typeface="Times New Roman"/>
                      </a:endParaRPr>
                    </a:p>
                  </a:txBody>
                  <a:tcPr marL="62603" marR="62603" marT="0" marB="0" anchor="ctr"/>
                </a:tc>
                <a:tc>
                  <a:txBody>
                    <a:bodyPr/>
                    <a:lstStyle/>
                    <a:p>
                      <a:pPr algn="ctr"/>
                      <a:endParaRPr lang="en-US" sz="1000" dirty="0">
                        <a:solidFill>
                          <a:srgbClr val="FF0000"/>
                        </a:solidFill>
                        <a:effectLst/>
                        <a:latin typeface="Calibri"/>
                      </a:endParaRPr>
                    </a:p>
                  </a:txBody>
                  <a:tcPr marL="62603" marR="62603" marT="0" marB="0" anchor="ctr"/>
                </a:tc>
                <a:tc>
                  <a:txBody>
                    <a:bodyPr/>
                    <a:lstStyle/>
                    <a:p>
                      <a:pPr marL="0" marR="0" algn="ctr">
                        <a:lnSpc>
                          <a:spcPct val="115000"/>
                        </a:lnSpc>
                        <a:spcBef>
                          <a:spcPts val="0"/>
                        </a:spcBef>
                        <a:spcAft>
                          <a:spcPts val="0"/>
                        </a:spcAft>
                      </a:pPr>
                      <a:r>
                        <a:rPr lang="en-US" sz="900" dirty="0">
                          <a:solidFill>
                            <a:srgbClr val="FF0000"/>
                          </a:solidFill>
                          <a:effectLst/>
                        </a:rPr>
                        <a:t>3.092 (1.73)*</a:t>
                      </a:r>
                      <a:endParaRPr lang="en-US" sz="1000" dirty="0">
                        <a:solidFill>
                          <a:srgbClr val="FF0000"/>
                        </a:solidFill>
                        <a:effectLst/>
                        <a:latin typeface="Calibri"/>
                        <a:ea typeface="SimSun"/>
                        <a:cs typeface="Times New Roman"/>
                      </a:endParaRPr>
                    </a:p>
                  </a:txBody>
                  <a:tcPr marL="62603" marR="62603" marT="0" marB="0" anchor="ctr"/>
                </a:tc>
              </a:tr>
              <a:tr h="180467">
                <a:tc>
                  <a:txBody>
                    <a:bodyPr/>
                    <a:lstStyle/>
                    <a:p>
                      <a:pPr marL="0" marR="0">
                        <a:lnSpc>
                          <a:spcPct val="115000"/>
                        </a:lnSpc>
                        <a:spcBef>
                          <a:spcPts val="0"/>
                        </a:spcBef>
                        <a:spcAft>
                          <a:spcPts val="0"/>
                        </a:spcAft>
                      </a:pPr>
                      <a:r>
                        <a:rPr lang="en-US" sz="900">
                          <a:effectLst/>
                        </a:rPr>
                        <a:t>(5) SOE</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tc>
                <a:tc>
                  <a:txBody>
                    <a:bodyPr/>
                    <a:lstStyle/>
                    <a:p>
                      <a:pPr algn="ctr"/>
                      <a:endParaRPr lang="en-US" sz="1000">
                        <a:effectLst/>
                        <a:latin typeface="Calibri"/>
                      </a:endParaRPr>
                    </a:p>
                  </a:txBody>
                  <a:tcPr marL="62603" marR="62603" marT="0" marB="0" anchor="ctr"/>
                </a:tc>
                <a:tc>
                  <a:txBody>
                    <a:bodyPr/>
                    <a:lstStyle/>
                    <a:p>
                      <a:pPr algn="ctr"/>
                      <a:endParaRPr lang="en-US" sz="1000">
                        <a:effectLst/>
                        <a:latin typeface="Calibri"/>
                      </a:endParaRPr>
                    </a:p>
                  </a:txBody>
                  <a:tcPr marL="62603" marR="62603" marT="0" marB="0" anchor="ctr"/>
                </a:tc>
                <a:tc>
                  <a:txBody>
                    <a:bodyPr/>
                    <a:lstStyle/>
                    <a:p>
                      <a:pPr marL="0" marR="0" algn="ctr">
                        <a:lnSpc>
                          <a:spcPct val="115000"/>
                        </a:lnSpc>
                        <a:spcBef>
                          <a:spcPts val="0"/>
                        </a:spcBef>
                        <a:spcAft>
                          <a:spcPts val="0"/>
                        </a:spcAft>
                      </a:pPr>
                      <a:r>
                        <a:rPr lang="en-US" sz="900" dirty="0">
                          <a:effectLst/>
                        </a:rPr>
                        <a:t>0.031 (2.10)**</a:t>
                      </a:r>
                      <a:endParaRPr lang="en-US" sz="1000" dirty="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dirty="0">
                          <a:effectLst/>
                        </a:rPr>
                        <a:t>0.045 (2.40)**</a:t>
                      </a:r>
                      <a:endParaRPr lang="en-US" sz="1000" dirty="0">
                        <a:effectLst/>
                        <a:latin typeface="Calibri"/>
                        <a:ea typeface="SimSun"/>
                        <a:cs typeface="Times New Roman"/>
                      </a:endParaRPr>
                    </a:p>
                  </a:txBody>
                  <a:tcPr marL="62603" marR="62603" marT="0" marB="0" anchor="ctr"/>
                </a:tc>
              </a:tr>
              <a:tr h="195506">
                <a:tc>
                  <a:txBody>
                    <a:bodyPr/>
                    <a:lstStyle/>
                    <a:p>
                      <a:pPr marL="0" marR="0">
                        <a:lnSpc>
                          <a:spcPct val="115000"/>
                        </a:lnSpc>
                        <a:spcBef>
                          <a:spcPts val="0"/>
                        </a:spcBef>
                        <a:spcAft>
                          <a:spcPts val="0"/>
                        </a:spcAft>
                      </a:pPr>
                      <a:r>
                        <a:rPr lang="en-US" sz="900">
                          <a:effectLst/>
                        </a:rPr>
                        <a:t>(6) SOE × ΔOREC</a:t>
                      </a:r>
                      <a:r>
                        <a:rPr lang="en-US" sz="900" baseline="-25000">
                          <a:effectLst/>
                        </a:rPr>
                        <a:t>t</a:t>
                      </a:r>
                      <a:r>
                        <a:rPr lang="en-US" sz="900">
                          <a:effectLst/>
                        </a:rPr>
                        <a:t>/M</a:t>
                      </a:r>
                      <a:r>
                        <a:rPr lang="en-US" sz="900" baseline="-25000">
                          <a:effectLst/>
                        </a:rPr>
                        <a:t>t-1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tc>
                <a:tc>
                  <a:txBody>
                    <a:bodyPr/>
                    <a:lstStyle/>
                    <a:p>
                      <a:pPr algn="ctr"/>
                      <a:endParaRPr lang="en-US" sz="1000">
                        <a:effectLst/>
                        <a:latin typeface="Calibri"/>
                      </a:endParaRPr>
                    </a:p>
                  </a:txBody>
                  <a:tcPr marL="62603" marR="62603" marT="0" marB="0" anchor="ctr"/>
                </a:tc>
                <a:tc>
                  <a:txBody>
                    <a:bodyPr/>
                    <a:lstStyle/>
                    <a:p>
                      <a:pPr algn="ctr"/>
                      <a:endParaRPr lang="en-US" sz="1000">
                        <a:effectLst/>
                        <a:latin typeface="Calibri"/>
                      </a:endParaRPr>
                    </a:p>
                  </a:txBody>
                  <a:tcPr marL="62603" marR="62603" marT="0" marB="0" anchor="ctr"/>
                </a:tc>
                <a:tc>
                  <a:txBody>
                    <a:bodyPr/>
                    <a:lstStyle/>
                    <a:p>
                      <a:pPr marL="0" marR="0" algn="ctr">
                        <a:lnSpc>
                          <a:spcPct val="115000"/>
                        </a:lnSpc>
                        <a:spcBef>
                          <a:spcPts val="0"/>
                        </a:spcBef>
                        <a:spcAft>
                          <a:spcPts val="0"/>
                        </a:spcAft>
                      </a:pPr>
                      <a:r>
                        <a:rPr lang="en-US" sz="900" dirty="0">
                          <a:effectLst/>
                        </a:rPr>
                        <a:t>0.302 (0.58)</a:t>
                      </a:r>
                      <a:endParaRPr lang="en-US" sz="1000" dirty="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dirty="0">
                          <a:effectLst/>
                        </a:rPr>
                        <a:t>0.048 (0.08)</a:t>
                      </a:r>
                      <a:endParaRPr lang="en-US" sz="1000" dirty="0">
                        <a:effectLst/>
                        <a:latin typeface="Calibri"/>
                        <a:ea typeface="SimSun"/>
                        <a:cs typeface="Times New Roman"/>
                      </a:endParaRPr>
                    </a:p>
                  </a:txBody>
                  <a:tcPr marL="62603" marR="62603" marT="0" marB="0" anchor="ctr"/>
                </a:tc>
              </a:tr>
              <a:tr h="180467">
                <a:tc>
                  <a:txBody>
                    <a:bodyPr/>
                    <a:lstStyle/>
                    <a:p>
                      <a:pPr marL="0" marR="0">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r>
              <a:tr h="180467">
                <a:tc>
                  <a:txBody>
                    <a:bodyPr/>
                    <a:lstStyle/>
                    <a:p>
                      <a:pPr marL="0" marR="0">
                        <a:lnSpc>
                          <a:spcPct val="115000"/>
                        </a:lnSpc>
                        <a:spcBef>
                          <a:spcPts val="0"/>
                        </a:spcBef>
                        <a:spcAft>
                          <a:spcPts val="0"/>
                        </a:spcAft>
                      </a:pPr>
                      <a:r>
                        <a:rPr lang="en-US" sz="900">
                          <a:effectLst/>
                        </a:rPr>
                        <a:t>Listed firm characteristics</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r>
              <a:tr h="195506">
                <a:tc>
                  <a:txBody>
                    <a:bodyPr/>
                    <a:lstStyle/>
                    <a:p>
                      <a:pPr marL="0" marR="0">
                        <a:lnSpc>
                          <a:spcPct val="115000"/>
                        </a:lnSpc>
                        <a:spcBef>
                          <a:spcPts val="0"/>
                        </a:spcBef>
                        <a:spcAft>
                          <a:spcPts val="0"/>
                        </a:spcAft>
                      </a:pPr>
                      <a:r>
                        <a:rPr lang="en-US" sz="900">
                          <a:effectLst/>
                        </a:rPr>
                        <a:t>(7) ΔC</a:t>
                      </a:r>
                      <a:r>
                        <a:rPr lang="en-US" sz="900" baseline="-25000">
                          <a:effectLst/>
                        </a:rPr>
                        <a:t>t</a:t>
                      </a:r>
                      <a:r>
                        <a:rPr lang="en-US" sz="900">
                          <a:effectLst/>
                        </a:rPr>
                        <a:t>/M</a:t>
                      </a:r>
                      <a:r>
                        <a:rPr lang="en-US" sz="900" baseline="-25000">
                          <a:effectLst/>
                        </a:rPr>
                        <a:t>t-1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1.681 (6.35)***</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1.897 (8.68)***</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1.834 (7.35)***</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1.912 (8.03)***</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1.850 (6.80)***</a:t>
                      </a:r>
                      <a:endParaRPr lang="en-US" sz="1000">
                        <a:effectLst/>
                        <a:latin typeface="Calibri"/>
                        <a:ea typeface="SimSun"/>
                        <a:cs typeface="Times New Roman"/>
                      </a:endParaRPr>
                    </a:p>
                  </a:txBody>
                  <a:tcPr marL="62603" marR="62603" marT="0" marB="0" anchor="ctr"/>
                </a:tc>
              </a:tr>
              <a:tr h="195506">
                <a:tc>
                  <a:txBody>
                    <a:bodyPr/>
                    <a:lstStyle/>
                    <a:p>
                      <a:pPr marL="0" marR="0">
                        <a:lnSpc>
                          <a:spcPct val="115000"/>
                        </a:lnSpc>
                        <a:spcBef>
                          <a:spcPts val="0"/>
                        </a:spcBef>
                        <a:spcAft>
                          <a:spcPts val="0"/>
                        </a:spcAft>
                      </a:pPr>
                      <a:r>
                        <a:rPr lang="en-US" sz="900">
                          <a:effectLst/>
                        </a:rPr>
                        <a:t>(8) ΔE</a:t>
                      </a:r>
                      <a:r>
                        <a:rPr lang="en-US" sz="900" baseline="-25000">
                          <a:effectLst/>
                        </a:rPr>
                        <a:t>t</a:t>
                      </a:r>
                      <a:r>
                        <a:rPr lang="en-US" sz="900">
                          <a:effectLst/>
                        </a:rPr>
                        <a:t>/M</a:t>
                      </a:r>
                      <a:r>
                        <a:rPr lang="en-US" sz="900" baseline="-25000">
                          <a:effectLst/>
                        </a:rPr>
                        <a:t>t-1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2.461 (6.26)***</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2.221 (7.27)***</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2.260 (7.20)***</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2.202 (6.81)***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2.242 (6.64)***</a:t>
                      </a:r>
                      <a:endParaRPr lang="en-US" sz="1000">
                        <a:effectLst/>
                        <a:latin typeface="Calibri"/>
                        <a:ea typeface="SimSun"/>
                        <a:cs typeface="Times New Roman"/>
                      </a:endParaRPr>
                    </a:p>
                  </a:txBody>
                  <a:tcPr marL="62603" marR="62603" marT="0" marB="0" anchor="ctr"/>
                </a:tc>
              </a:tr>
              <a:tr h="195506">
                <a:tc>
                  <a:txBody>
                    <a:bodyPr/>
                    <a:lstStyle/>
                    <a:p>
                      <a:pPr marL="0" marR="0">
                        <a:lnSpc>
                          <a:spcPct val="115000"/>
                        </a:lnSpc>
                        <a:spcBef>
                          <a:spcPts val="0"/>
                        </a:spcBef>
                        <a:spcAft>
                          <a:spcPts val="0"/>
                        </a:spcAft>
                      </a:pPr>
                      <a:r>
                        <a:rPr lang="en-US" sz="900">
                          <a:effectLst/>
                        </a:rPr>
                        <a:t>(9) ΔNA</a:t>
                      </a:r>
                      <a:r>
                        <a:rPr lang="en-US" sz="900" baseline="-25000">
                          <a:effectLst/>
                        </a:rPr>
                        <a:t>t</a:t>
                      </a:r>
                      <a:r>
                        <a:rPr lang="en-US" sz="900">
                          <a:effectLst/>
                        </a:rPr>
                        <a:t>/M</a:t>
                      </a:r>
                      <a:r>
                        <a:rPr lang="en-US" sz="900" baseline="-25000">
                          <a:effectLst/>
                        </a:rPr>
                        <a:t>t-1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1.082 (5.00)***</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0.877 (4.57)***</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0.797 (4.38)***</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0.870 (4.67)***</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0.785 (4.70)***</a:t>
                      </a:r>
                      <a:endParaRPr lang="en-US" sz="1000">
                        <a:effectLst/>
                        <a:latin typeface="Calibri"/>
                        <a:ea typeface="SimSun"/>
                        <a:cs typeface="Times New Roman"/>
                      </a:endParaRPr>
                    </a:p>
                  </a:txBody>
                  <a:tcPr marL="62603" marR="62603" marT="0" marB="0" anchor="ctr"/>
                </a:tc>
              </a:tr>
              <a:tr h="195506">
                <a:tc>
                  <a:txBody>
                    <a:bodyPr/>
                    <a:lstStyle/>
                    <a:p>
                      <a:pPr marL="0" marR="0">
                        <a:lnSpc>
                          <a:spcPct val="115000"/>
                        </a:lnSpc>
                        <a:spcBef>
                          <a:spcPts val="0"/>
                        </a:spcBef>
                        <a:spcAft>
                          <a:spcPts val="0"/>
                        </a:spcAft>
                      </a:pPr>
                      <a:r>
                        <a:rPr lang="en-US" sz="900">
                          <a:effectLst/>
                        </a:rPr>
                        <a:t>(10) ΔD</a:t>
                      </a:r>
                      <a:r>
                        <a:rPr lang="en-US" sz="900" baseline="-25000">
                          <a:effectLst/>
                        </a:rPr>
                        <a:t>t</a:t>
                      </a:r>
                      <a:r>
                        <a:rPr lang="en-US" sz="900">
                          <a:effectLst/>
                        </a:rPr>
                        <a:t>/M</a:t>
                      </a:r>
                      <a:r>
                        <a:rPr lang="en-US" sz="900" baseline="-25000">
                          <a:effectLst/>
                        </a:rPr>
                        <a:t>t-1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0.793 (1.11)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0.578 (0.81)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0.589 (0.89)</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0.602 (0.80)</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0.530 (0.77)</a:t>
                      </a:r>
                      <a:endParaRPr lang="en-US" sz="1000">
                        <a:effectLst/>
                        <a:latin typeface="Calibri"/>
                        <a:ea typeface="SimSun"/>
                        <a:cs typeface="Times New Roman"/>
                      </a:endParaRPr>
                    </a:p>
                  </a:txBody>
                  <a:tcPr marL="62603" marR="62603" marT="0" marB="0" anchor="ctr"/>
                </a:tc>
              </a:tr>
              <a:tr h="195506">
                <a:tc>
                  <a:txBody>
                    <a:bodyPr/>
                    <a:lstStyle/>
                    <a:p>
                      <a:pPr marL="0" marR="0">
                        <a:lnSpc>
                          <a:spcPct val="115000"/>
                        </a:lnSpc>
                        <a:spcBef>
                          <a:spcPts val="0"/>
                        </a:spcBef>
                        <a:spcAft>
                          <a:spcPts val="0"/>
                        </a:spcAft>
                      </a:pPr>
                      <a:r>
                        <a:rPr lang="en-US" sz="900">
                          <a:effectLst/>
                        </a:rPr>
                        <a:t>(11) C</a:t>
                      </a:r>
                      <a:r>
                        <a:rPr lang="en-US" sz="900" baseline="-25000">
                          <a:effectLst/>
                        </a:rPr>
                        <a:t>t-1</a:t>
                      </a:r>
                      <a:r>
                        <a:rPr lang="en-US" sz="900">
                          <a:effectLst/>
                        </a:rPr>
                        <a:t>/M</a:t>
                      </a:r>
                      <a:r>
                        <a:rPr lang="en-US" sz="900" baseline="-25000">
                          <a:effectLst/>
                        </a:rPr>
                        <a:t>t-1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0.619 (2.86)***</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0.593 (2.92)***</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0.585 (2.96)***</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0.605 (2.98)***</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0.600 (2.99)***</a:t>
                      </a:r>
                      <a:endParaRPr lang="en-US" sz="1000">
                        <a:effectLst/>
                        <a:latin typeface="Calibri"/>
                        <a:ea typeface="SimSun"/>
                        <a:cs typeface="Times New Roman"/>
                      </a:endParaRPr>
                    </a:p>
                  </a:txBody>
                  <a:tcPr marL="62603" marR="62603" marT="0" marB="0" anchor="ctr"/>
                </a:tc>
              </a:tr>
              <a:tr h="195506">
                <a:tc>
                  <a:txBody>
                    <a:bodyPr/>
                    <a:lstStyle/>
                    <a:p>
                      <a:pPr marL="0" marR="0">
                        <a:lnSpc>
                          <a:spcPct val="115000"/>
                        </a:lnSpc>
                        <a:spcBef>
                          <a:spcPts val="0"/>
                        </a:spcBef>
                        <a:spcAft>
                          <a:spcPts val="0"/>
                        </a:spcAft>
                      </a:pPr>
                      <a:r>
                        <a:rPr lang="en-US" sz="900">
                          <a:effectLst/>
                        </a:rPr>
                        <a:t>(12) L</a:t>
                      </a:r>
                      <a:r>
                        <a:rPr lang="en-US" sz="900" baseline="-25000">
                          <a:effectLst/>
                        </a:rPr>
                        <a:t>t</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0.313 (1.97)*</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0.506 (2.50)**</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0.538 (2.55)**</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0.506 (2.47)**</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0.537 (2.53)**</a:t>
                      </a:r>
                      <a:endParaRPr lang="en-US" sz="1000">
                        <a:effectLst/>
                        <a:latin typeface="Calibri"/>
                        <a:ea typeface="SimSun"/>
                        <a:cs typeface="Times New Roman"/>
                      </a:endParaRPr>
                    </a:p>
                  </a:txBody>
                  <a:tcPr marL="62603" marR="62603" marT="0" marB="0" anchor="ctr"/>
                </a:tc>
              </a:tr>
              <a:tr h="195506">
                <a:tc>
                  <a:txBody>
                    <a:bodyPr/>
                    <a:lstStyle/>
                    <a:p>
                      <a:pPr marL="0" marR="0">
                        <a:lnSpc>
                          <a:spcPct val="115000"/>
                        </a:lnSpc>
                        <a:spcBef>
                          <a:spcPts val="0"/>
                        </a:spcBef>
                        <a:spcAft>
                          <a:spcPts val="0"/>
                        </a:spcAft>
                      </a:pPr>
                      <a:r>
                        <a:rPr lang="en-US" sz="900">
                          <a:effectLst/>
                        </a:rPr>
                        <a:t>(13) NF</a:t>
                      </a:r>
                      <a:r>
                        <a:rPr lang="en-US" sz="900" baseline="-25000">
                          <a:effectLst/>
                        </a:rPr>
                        <a:t>t</a:t>
                      </a:r>
                      <a:r>
                        <a:rPr lang="en-US" sz="900">
                          <a:effectLst/>
                        </a:rPr>
                        <a:t>/M</a:t>
                      </a:r>
                      <a:r>
                        <a:rPr lang="en-US" sz="900" baseline="-25000">
                          <a:effectLst/>
                        </a:rPr>
                        <a:t>t-1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0.217 (1.99)**</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0.323 (2.77)***</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0.441 (3.25)***</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0.340 (2.96)***</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0.471 (4.16)***</a:t>
                      </a:r>
                      <a:endParaRPr lang="en-US" sz="1000">
                        <a:effectLst/>
                        <a:latin typeface="Calibri"/>
                        <a:ea typeface="SimSun"/>
                        <a:cs typeface="Times New Roman"/>
                      </a:endParaRPr>
                    </a:p>
                  </a:txBody>
                  <a:tcPr marL="62603" marR="62603" marT="0" marB="0" anchor="ctr"/>
                </a:tc>
              </a:tr>
              <a:tr h="195506">
                <a:tc>
                  <a:txBody>
                    <a:bodyPr/>
                    <a:lstStyle/>
                    <a:p>
                      <a:pPr marL="0" marR="0">
                        <a:lnSpc>
                          <a:spcPct val="115000"/>
                        </a:lnSpc>
                        <a:spcBef>
                          <a:spcPts val="0"/>
                        </a:spcBef>
                        <a:spcAft>
                          <a:spcPts val="0"/>
                        </a:spcAft>
                      </a:pPr>
                      <a:r>
                        <a:rPr lang="en-US" sz="900">
                          <a:effectLst/>
                        </a:rPr>
                        <a:t>(14) C</a:t>
                      </a:r>
                      <a:r>
                        <a:rPr lang="en-US" sz="900" baseline="-25000">
                          <a:effectLst/>
                        </a:rPr>
                        <a:t>t-1</a:t>
                      </a:r>
                      <a:r>
                        <a:rPr lang="en-US" sz="900">
                          <a:effectLst/>
                        </a:rPr>
                        <a:t>/M</a:t>
                      </a:r>
                      <a:r>
                        <a:rPr lang="en-US" sz="900" baseline="-25000">
                          <a:effectLst/>
                        </a:rPr>
                        <a:t>t-1 </a:t>
                      </a:r>
                      <a:r>
                        <a:rPr lang="en-US" sz="900">
                          <a:effectLst/>
                        </a:rPr>
                        <a:t>× ΔC</a:t>
                      </a:r>
                      <a:r>
                        <a:rPr lang="en-US" sz="900" baseline="-25000">
                          <a:effectLst/>
                        </a:rPr>
                        <a:t>t</a:t>
                      </a:r>
                      <a:r>
                        <a:rPr lang="en-US" sz="900">
                          <a:effectLst/>
                        </a:rPr>
                        <a:t>/M</a:t>
                      </a:r>
                      <a:r>
                        <a:rPr lang="en-US" sz="900" baseline="-25000">
                          <a:effectLst/>
                        </a:rPr>
                        <a:t>t-1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-1.161 (-1.67)*</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-1.207 (-1.85)*</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-0.864 (-1.29)</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-1.290 (-1.89)*</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-0.949 (-1.38)</a:t>
                      </a:r>
                      <a:endParaRPr lang="en-US" sz="1000">
                        <a:effectLst/>
                        <a:latin typeface="Calibri"/>
                        <a:ea typeface="SimSun"/>
                        <a:cs typeface="Times New Roman"/>
                      </a:endParaRPr>
                    </a:p>
                  </a:txBody>
                  <a:tcPr marL="62603" marR="62603" marT="0" marB="0" anchor="ctr"/>
                </a:tc>
              </a:tr>
              <a:tr h="195506">
                <a:tc>
                  <a:txBody>
                    <a:bodyPr/>
                    <a:lstStyle/>
                    <a:p>
                      <a:pPr marL="0" marR="0">
                        <a:lnSpc>
                          <a:spcPct val="115000"/>
                        </a:lnSpc>
                        <a:spcBef>
                          <a:spcPts val="0"/>
                        </a:spcBef>
                        <a:spcAft>
                          <a:spcPts val="0"/>
                        </a:spcAft>
                      </a:pPr>
                      <a:r>
                        <a:rPr lang="en-US" sz="900">
                          <a:effectLst/>
                        </a:rPr>
                        <a:t>(15) L</a:t>
                      </a:r>
                      <a:r>
                        <a:rPr lang="en-US" sz="900" baseline="-25000">
                          <a:effectLst/>
                        </a:rPr>
                        <a:t>t</a:t>
                      </a:r>
                      <a:r>
                        <a:rPr lang="en-US" sz="900">
                          <a:effectLst/>
                        </a:rPr>
                        <a:t> × ΔC</a:t>
                      </a:r>
                      <a:r>
                        <a:rPr lang="en-US" sz="900" baseline="-25000">
                          <a:effectLst/>
                        </a:rPr>
                        <a:t>t</a:t>
                      </a:r>
                      <a:r>
                        <a:rPr lang="en-US" sz="900">
                          <a:effectLst/>
                        </a:rPr>
                        <a:t>/M</a:t>
                      </a:r>
                      <a:r>
                        <a:rPr lang="en-US" sz="900" baseline="-25000">
                          <a:effectLst/>
                        </a:rPr>
                        <a:t>t-1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-1.930 (-2.68)***</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-2.516 (-4.19)***</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-2.759 (-4.57)***</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-2.492 (-3.95)***</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-2.741 (-4.36)***</a:t>
                      </a:r>
                      <a:endParaRPr lang="en-US" sz="1000">
                        <a:effectLst/>
                        <a:latin typeface="Calibri"/>
                        <a:ea typeface="SimSun"/>
                        <a:cs typeface="Times New Roman"/>
                      </a:endParaRPr>
                    </a:p>
                  </a:txBody>
                  <a:tcPr marL="62603" marR="62603" marT="0" marB="0" anchor="ctr"/>
                </a:tc>
              </a:tr>
              <a:tr h="180467">
                <a:tc>
                  <a:txBody>
                    <a:bodyPr/>
                    <a:lstStyle/>
                    <a:p>
                      <a:pPr marL="0" marR="0">
                        <a:lnSpc>
                          <a:spcPct val="115000"/>
                        </a:lnSpc>
                        <a:spcBef>
                          <a:spcPts val="0"/>
                        </a:spcBef>
                        <a:spcAft>
                          <a:spcPts val="0"/>
                        </a:spcAft>
                      </a:pPr>
                      <a:r>
                        <a:rPr lang="en-US" sz="900">
                          <a:effectLst/>
                        </a:rPr>
                        <a:t>(16) ΔOREC</a:t>
                      </a:r>
                      <a:r>
                        <a:rPr lang="en-US" sz="900" baseline="-25000">
                          <a:effectLst/>
                        </a:rPr>
                        <a:t>t</a:t>
                      </a:r>
                      <a:r>
                        <a:rPr lang="en-US" sz="900">
                          <a:effectLst/>
                        </a:rPr>
                        <a:t>/M</a:t>
                      </a:r>
                      <a:r>
                        <a:rPr lang="en-US" sz="900" baseline="-25000">
                          <a:effectLst/>
                        </a:rPr>
                        <a:t>t-1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tc>
                <a:tc>
                  <a:txBody>
                    <a:bodyPr/>
                    <a:lstStyle/>
                    <a:p>
                      <a:pPr marL="0" marR="0" algn="ctr">
                        <a:lnSpc>
                          <a:spcPct val="115000"/>
                        </a:lnSpc>
                        <a:spcBef>
                          <a:spcPts val="0"/>
                        </a:spcBef>
                        <a:spcAft>
                          <a:spcPts val="0"/>
                        </a:spcAft>
                      </a:pPr>
                      <a:r>
                        <a:rPr lang="en-US" sz="900">
                          <a:effectLst/>
                        </a:rPr>
                        <a:t>-0.084 (-0.30)</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-0.354 (-1.47)</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-0.319 (-0.95)</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-0.407 (-0.83)</a:t>
                      </a:r>
                      <a:endParaRPr lang="en-US" sz="1000">
                        <a:effectLst/>
                        <a:latin typeface="Calibri"/>
                        <a:ea typeface="SimSun"/>
                        <a:cs typeface="Times New Roman"/>
                      </a:endParaRPr>
                    </a:p>
                  </a:txBody>
                  <a:tcPr marL="62603" marR="62603" marT="0" marB="0" anchor="ctr"/>
                </a:tc>
              </a:tr>
              <a:tr h="180467">
                <a:tc>
                  <a:txBody>
                    <a:bodyPr/>
                    <a:lstStyle/>
                    <a:p>
                      <a:pPr marL="0" marR="0">
                        <a:lnSpc>
                          <a:spcPct val="115000"/>
                        </a:lnSpc>
                        <a:spcBef>
                          <a:spcPts val="0"/>
                        </a:spcBef>
                        <a:spcAft>
                          <a:spcPts val="0"/>
                        </a:spcAft>
                      </a:pPr>
                      <a:r>
                        <a:rPr lang="en-US" sz="900">
                          <a:effectLst/>
                        </a:rPr>
                        <a:t>(17) OREC</a:t>
                      </a:r>
                      <a:r>
                        <a:rPr lang="en-US" sz="900" baseline="-25000">
                          <a:effectLst/>
                        </a:rPr>
                        <a:t>t-1</a:t>
                      </a:r>
                      <a:r>
                        <a:rPr lang="en-US" sz="900">
                          <a:effectLst/>
                        </a:rPr>
                        <a:t>/M</a:t>
                      </a:r>
                      <a:r>
                        <a:rPr lang="en-US" sz="900" baseline="-25000">
                          <a:effectLst/>
                        </a:rPr>
                        <a:t>t-1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tc>
                <a:tc>
                  <a:txBody>
                    <a:bodyPr/>
                    <a:lstStyle/>
                    <a:p>
                      <a:pPr marL="0" marR="0" algn="ctr">
                        <a:lnSpc>
                          <a:spcPct val="115000"/>
                        </a:lnSpc>
                        <a:spcBef>
                          <a:spcPts val="0"/>
                        </a:spcBef>
                        <a:spcAft>
                          <a:spcPts val="0"/>
                        </a:spcAft>
                      </a:pPr>
                      <a:r>
                        <a:rPr lang="en-US" sz="900">
                          <a:effectLst/>
                        </a:rPr>
                        <a:t>-1.510 (-3.04)***</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-1.593 (-2.87)***</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-1.500 (-3.01)***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-1.579 (-2.83)***</a:t>
                      </a:r>
                      <a:endParaRPr lang="en-US" sz="1000">
                        <a:effectLst/>
                        <a:latin typeface="Calibri"/>
                        <a:ea typeface="SimSun"/>
                        <a:cs typeface="Times New Roman"/>
                      </a:endParaRPr>
                    </a:p>
                  </a:txBody>
                  <a:tcPr marL="62603" marR="62603" marT="0" marB="0" anchor="ctr"/>
                </a:tc>
              </a:tr>
              <a:tr h="180467">
                <a:tc>
                  <a:txBody>
                    <a:bodyPr/>
                    <a:lstStyle/>
                    <a:p>
                      <a:pPr marL="0" marR="0">
                        <a:lnSpc>
                          <a:spcPct val="115000"/>
                        </a:lnSpc>
                        <a:spcBef>
                          <a:spcPts val="0"/>
                        </a:spcBef>
                        <a:spcAft>
                          <a:spcPts val="0"/>
                        </a:spcAft>
                      </a:pPr>
                      <a:r>
                        <a:rPr lang="en-US" sz="900">
                          <a:effectLst/>
                        </a:rPr>
                        <a:t>(18) OREC</a:t>
                      </a:r>
                      <a:r>
                        <a:rPr lang="en-US" sz="900" baseline="-25000">
                          <a:effectLst/>
                        </a:rPr>
                        <a:t>t-1 </a:t>
                      </a:r>
                      <a:r>
                        <a:rPr lang="en-US" sz="900">
                          <a:effectLst/>
                        </a:rPr>
                        <a:t>/M</a:t>
                      </a:r>
                      <a:r>
                        <a:rPr lang="en-US" sz="900" baseline="-25000">
                          <a:effectLst/>
                        </a:rPr>
                        <a:t>t-1</a:t>
                      </a:r>
                      <a:r>
                        <a:rPr lang="en-US" sz="900">
                          <a:effectLst/>
                        </a:rPr>
                        <a:t>× ΔOREC</a:t>
                      </a:r>
                      <a:r>
                        <a:rPr lang="en-US" sz="900" baseline="-25000">
                          <a:effectLst/>
                        </a:rPr>
                        <a:t>t</a:t>
                      </a:r>
                      <a:r>
                        <a:rPr lang="en-US" sz="900">
                          <a:effectLst/>
                        </a:rPr>
                        <a:t>/M</a:t>
                      </a:r>
                      <a:r>
                        <a:rPr lang="en-US" sz="900" baseline="-25000">
                          <a:effectLst/>
                        </a:rPr>
                        <a:t>t-1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tc>
                <a:tc>
                  <a:txBody>
                    <a:bodyPr/>
                    <a:lstStyle/>
                    <a:p>
                      <a:pPr marL="0" marR="0" algn="ctr">
                        <a:lnSpc>
                          <a:spcPct val="115000"/>
                        </a:lnSpc>
                        <a:spcBef>
                          <a:spcPts val="0"/>
                        </a:spcBef>
                        <a:spcAft>
                          <a:spcPts val="0"/>
                        </a:spcAft>
                      </a:pPr>
                      <a:r>
                        <a:rPr lang="en-US" sz="900">
                          <a:effectLst/>
                        </a:rPr>
                        <a:t>3.193 (2.67)***</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3.079 (3.50)***</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3.156 (2.27)**</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3.074 (2.95)***</a:t>
                      </a:r>
                      <a:endParaRPr lang="en-US" sz="1000">
                        <a:effectLst/>
                        <a:latin typeface="Calibri"/>
                        <a:ea typeface="SimSun"/>
                        <a:cs typeface="Times New Roman"/>
                      </a:endParaRPr>
                    </a:p>
                  </a:txBody>
                  <a:tcPr marL="62603" marR="62603" marT="0" marB="0" anchor="ctr"/>
                </a:tc>
              </a:tr>
              <a:tr h="180467">
                <a:tc>
                  <a:txBody>
                    <a:bodyPr/>
                    <a:lstStyle/>
                    <a:p>
                      <a:pPr marL="0" marR="0">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 </a:t>
                      </a:r>
                      <a:endParaRPr lang="en-US" sz="1000">
                        <a:effectLst/>
                        <a:latin typeface="Calibri"/>
                        <a:ea typeface="SimSun"/>
                        <a:cs typeface="Times New Roman"/>
                      </a:endParaRPr>
                    </a:p>
                  </a:txBody>
                  <a:tcPr marL="62603" marR="62603" marT="0" marB="0" anchor="ctr"/>
                </a:tc>
              </a:tr>
              <a:tr h="180467">
                <a:tc>
                  <a:txBody>
                    <a:bodyPr/>
                    <a:lstStyle/>
                    <a:p>
                      <a:pPr marL="0" marR="0">
                        <a:lnSpc>
                          <a:spcPct val="115000"/>
                        </a:lnSpc>
                        <a:spcBef>
                          <a:spcPts val="0"/>
                        </a:spcBef>
                        <a:spcAft>
                          <a:spcPts val="0"/>
                        </a:spcAft>
                      </a:pPr>
                      <a:r>
                        <a:rPr lang="en-US" sz="900">
                          <a:effectLst/>
                        </a:rPr>
                        <a:t>Observations</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2208</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2205</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2001</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2200</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1997</a:t>
                      </a:r>
                      <a:endParaRPr lang="en-US" sz="1000">
                        <a:effectLst/>
                        <a:latin typeface="Calibri"/>
                        <a:ea typeface="SimSun"/>
                        <a:cs typeface="Times New Roman"/>
                      </a:endParaRPr>
                    </a:p>
                  </a:txBody>
                  <a:tcPr marL="62603" marR="62603" marT="0" marB="0" anchor="ctr"/>
                </a:tc>
              </a:tr>
              <a:tr h="213161">
                <a:tc>
                  <a:txBody>
                    <a:bodyPr/>
                    <a:lstStyle/>
                    <a:p>
                      <a:pPr marL="0" marR="0">
                        <a:lnSpc>
                          <a:spcPct val="115000"/>
                        </a:lnSpc>
                        <a:spcBef>
                          <a:spcPts val="0"/>
                        </a:spcBef>
                        <a:spcAft>
                          <a:spcPts val="0"/>
                        </a:spcAft>
                      </a:pPr>
                      <a:r>
                        <a:rPr lang="en-US" sz="900">
                          <a:effectLst/>
                        </a:rPr>
                        <a:t>Adj. R</a:t>
                      </a:r>
                      <a:r>
                        <a:rPr lang="en-US" sz="900" baseline="30000">
                          <a:effectLst/>
                        </a:rPr>
                        <a:t>2</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0.183</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0.219</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0.232</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0.218</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0.231</a:t>
                      </a:r>
                      <a:endParaRPr lang="en-US" sz="1000">
                        <a:effectLst/>
                        <a:latin typeface="Calibri"/>
                        <a:ea typeface="SimSun"/>
                        <a:cs typeface="Times New Roman"/>
                      </a:endParaRPr>
                    </a:p>
                  </a:txBody>
                  <a:tcPr marL="62603" marR="62603" marT="0" marB="0" anchor="ctr"/>
                </a:tc>
              </a:tr>
              <a:tr h="187007">
                <a:tc>
                  <a:txBody>
                    <a:bodyPr/>
                    <a:lstStyle/>
                    <a:p>
                      <a:pPr marL="0" marR="0">
                        <a:lnSpc>
                          <a:spcPct val="115000"/>
                        </a:lnSpc>
                        <a:spcBef>
                          <a:spcPts val="0"/>
                        </a:spcBef>
                        <a:spcAft>
                          <a:spcPts val="0"/>
                        </a:spcAft>
                      </a:pPr>
                      <a:r>
                        <a:rPr lang="en-US" sz="900">
                          <a:effectLst/>
                        </a:rPr>
                        <a:t>F</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55.907</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36.437</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44.875</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a:effectLst/>
                        </a:rPr>
                        <a:t>40.850</a:t>
                      </a:r>
                      <a:endParaRPr lang="en-US" sz="1000">
                        <a:effectLst/>
                        <a:latin typeface="Calibri"/>
                        <a:ea typeface="SimSun"/>
                        <a:cs typeface="Times New Roman"/>
                      </a:endParaRPr>
                    </a:p>
                  </a:txBody>
                  <a:tcPr marL="62603" marR="62603" marT="0" marB="0" anchor="ctr"/>
                </a:tc>
                <a:tc>
                  <a:txBody>
                    <a:bodyPr/>
                    <a:lstStyle/>
                    <a:p>
                      <a:pPr marL="0" marR="0" algn="ctr">
                        <a:lnSpc>
                          <a:spcPct val="115000"/>
                        </a:lnSpc>
                        <a:spcBef>
                          <a:spcPts val="0"/>
                        </a:spcBef>
                        <a:spcAft>
                          <a:spcPts val="0"/>
                        </a:spcAft>
                      </a:pPr>
                      <a:r>
                        <a:rPr lang="en-US" sz="900" dirty="0">
                          <a:effectLst/>
                        </a:rPr>
                        <a:t>43.961</a:t>
                      </a:r>
                      <a:endParaRPr lang="en-US" sz="1000" dirty="0">
                        <a:effectLst/>
                        <a:latin typeface="Calibri"/>
                        <a:ea typeface="SimSun"/>
                        <a:cs typeface="Times New Roman"/>
                      </a:endParaRPr>
                    </a:p>
                  </a:txBody>
                  <a:tcPr marL="62603" marR="62603" marT="0" marB="0" anchor="ctr"/>
                </a:tc>
              </a:tr>
            </a:tbl>
          </a:graphicData>
        </a:graphic>
      </p:graphicFrame>
      <p:sp>
        <p:nvSpPr>
          <p:cNvPr id="5" name="Title 1"/>
          <p:cNvSpPr>
            <a:spLocks noGrp="1"/>
          </p:cNvSpPr>
          <p:nvPr>
            <p:ph type="title"/>
          </p:nvPr>
        </p:nvSpPr>
        <p:spPr>
          <a:xfrm>
            <a:off x="849313" y="332656"/>
            <a:ext cx="7445375" cy="648072"/>
          </a:xfrm>
        </p:spPr>
        <p:txBody>
          <a:bodyPr/>
          <a:lstStyle/>
          <a:p>
            <a:r>
              <a:rPr lang="en-US" dirty="0" smtClean="0"/>
              <a:t>The market valuation of intra-group loans</a:t>
            </a:r>
            <a:endParaRPr lang="en-US" dirty="0"/>
          </a:p>
        </p:txBody>
      </p:sp>
    </p:spTree>
    <p:extLst>
      <p:ext uri="{BB962C8B-B14F-4D97-AF65-F5344CB8AC3E}">
        <p14:creationId xmlns:p14="http://schemas.microsoft.com/office/powerpoint/2010/main" val="1827911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Economic interpretation</a:t>
            </a:r>
            <a:endParaRPr lang="en-US" dirty="0"/>
          </a:p>
        </p:txBody>
      </p:sp>
      <p:sp>
        <p:nvSpPr>
          <p:cNvPr id="3" name="Content Placeholder 2"/>
          <p:cNvSpPr>
            <a:spLocks noGrp="1"/>
          </p:cNvSpPr>
          <p:nvPr>
            <p:ph idx="1"/>
          </p:nvPr>
        </p:nvSpPr>
        <p:spPr>
          <a:xfrm>
            <a:off x="228600" y="1219200"/>
            <a:ext cx="7481887" cy="4525963"/>
          </a:xfrm>
        </p:spPr>
        <p:txBody>
          <a:bodyPr/>
          <a:lstStyle/>
          <a:p>
            <a:r>
              <a:rPr lang="en-GB" b="0" dirty="0" smtClean="0"/>
              <a:t>For </a:t>
            </a:r>
            <a:r>
              <a:rPr lang="en-GB" b="0" dirty="0"/>
              <a:t>a firm with average levels of intra-group loans on its balance sheet (4% of the firm’s market </a:t>
            </a:r>
            <a:r>
              <a:rPr lang="en-GB" b="0" dirty="0" smtClean="0"/>
              <a:t>capitalization) </a:t>
            </a:r>
            <a:r>
              <a:rPr lang="en-GB" b="0" dirty="0"/>
              <a:t>whose parent performs in the </a:t>
            </a:r>
            <a:r>
              <a:rPr lang="en-GB" b="0" dirty="0">
                <a:solidFill>
                  <a:srgbClr val="FF0000"/>
                </a:solidFill>
              </a:rPr>
              <a:t>top quartile </a:t>
            </a:r>
            <a:r>
              <a:rPr lang="en-GB" b="0" dirty="0"/>
              <a:t>(parent ROA=+2.3%), the market values one additional dollar of intra-group loans at </a:t>
            </a:r>
            <a:r>
              <a:rPr lang="en-GB" b="0" dirty="0" smtClean="0">
                <a:solidFill>
                  <a:srgbClr val="FF0000"/>
                </a:solidFill>
              </a:rPr>
              <a:t>24 cents</a:t>
            </a:r>
            <a:r>
              <a:rPr lang="en-GB" b="0" dirty="0"/>
              <a:t/>
            </a:r>
            <a:br>
              <a:rPr lang="en-GB" b="0" dirty="0"/>
            </a:br>
            <a:r>
              <a:rPr lang="en-GB" b="0" dirty="0" smtClean="0"/>
              <a:t>[=</a:t>
            </a:r>
            <a:r>
              <a:rPr lang="en-GB" b="0" dirty="0"/>
              <a:t>−0.084 + (3.193×4%) + (8.634×2.3%)]. </a:t>
            </a:r>
            <a:endParaRPr lang="en-GB" b="0" dirty="0" smtClean="0"/>
          </a:p>
          <a:p>
            <a:r>
              <a:rPr lang="en-GB" b="0" dirty="0" smtClean="0"/>
              <a:t>For </a:t>
            </a:r>
            <a:r>
              <a:rPr lang="en-GB" b="0" dirty="0"/>
              <a:t>the </a:t>
            </a:r>
            <a:r>
              <a:rPr lang="en-GB" b="0" dirty="0">
                <a:solidFill>
                  <a:srgbClr val="FF0000"/>
                </a:solidFill>
              </a:rPr>
              <a:t>average</a:t>
            </a:r>
            <a:r>
              <a:rPr lang="en-GB" b="0" dirty="0"/>
              <a:t> Chinese listed firm in our sample with a parent with average performance (parent ROA=0.1</a:t>
            </a:r>
            <a:r>
              <a:rPr lang="en-GB" b="0" dirty="0" smtClean="0"/>
              <a:t>%), </a:t>
            </a:r>
            <a:r>
              <a:rPr lang="en-GB" b="0" dirty="0"/>
              <a:t>an additional dollar of intra-group loans is worth only </a:t>
            </a:r>
            <a:r>
              <a:rPr lang="en-GB" b="0" dirty="0">
                <a:solidFill>
                  <a:srgbClr val="FF0000"/>
                </a:solidFill>
              </a:rPr>
              <a:t>5 cents </a:t>
            </a:r>
            <a:r>
              <a:rPr lang="en-GB" b="0" dirty="0" smtClean="0"/>
              <a:t/>
            </a:r>
            <a:br>
              <a:rPr lang="en-GB" b="0" dirty="0" smtClean="0"/>
            </a:br>
            <a:r>
              <a:rPr lang="en-GB" b="0" dirty="0" smtClean="0"/>
              <a:t>[=</a:t>
            </a:r>
            <a:r>
              <a:rPr lang="en-GB" b="0" dirty="0"/>
              <a:t>−0.084 + (3.193×4%) + (8.634×0.1%)] to its shareholders. </a:t>
            </a:r>
            <a:endParaRPr lang="en-GB" b="0" dirty="0" smtClean="0"/>
          </a:p>
          <a:p>
            <a:r>
              <a:rPr lang="en-GB" dirty="0" smtClean="0"/>
              <a:t>So</a:t>
            </a:r>
            <a:r>
              <a:rPr lang="en-GB" dirty="0"/>
              <a:t>, for the average Chinese firm, the market expects that intra-group loans extended to its controlling shareholder represent expropriation and are almost completely non-recoverable.</a:t>
            </a:r>
            <a:r>
              <a:rPr lang="en-GB" b="0" dirty="0"/>
              <a:t> </a:t>
            </a:r>
            <a:endParaRPr lang="en-US" b="0" dirty="0"/>
          </a:p>
        </p:txBody>
      </p:sp>
    </p:spTree>
    <p:extLst>
      <p:ext uri="{BB962C8B-B14F-4D97-AF65-F5344CB8AC3E}">
        <p14:creationId xmlns:p14="http://schemas.microsoft.com/office/powerpoint/2010/main" val="30090574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686800" cy="648072"/>
          </a:xfrm>
        </p:spPr>
        <p:txBody>
          <a:bodyPr/>
          <a:lstStyle/>
          <a:p>
            <a:r>
              <a:rPr lang="en-US" sz="2100" dirty="0" smtClean="0"/>
              <a:t>Is this just a mechanical correlation </a:t>
            </a:r>
            <a:r>
              <a:rPr lang="en-GB" sz="2100" dirty="0"/>
              <a:t>between the operating performance of the publicly listed subsidiary, the market valuation of intra-group loans on its balance sheet, and the operating </a:t>
            </a:r>
            <a:r>
              <a:rPr lang="en-GB" sz="2100" dirty="0" smtClean="0"/>
              <a:t>performance </a:t>
            </a:r>
            <a:r>
              <a:rPr lang="en-GB" sz="2100" dirty="0"/>
              <a:t>of its non-listed </a:t>
            </a:r>
            <a:r>
              <a:rPr lang="en-GB" sz="2100" dirty="0" smtClean="0"/>
              <a:t>parent?</a:t>
            </a:r>
            <a:endParaRPr lang="en-US" sz="2100" dirty="0"/>
          </a:p>
        </p:txBody>
      </p:sp>
      <p:sp>
        <p:nvSpPr>
          <p:cNvPr id="3" name="Content Placeholder 2"/>
          <p:cNvSpPr>
            <a:spLocks noGrp="1"/>
          </p:cNvSpPr>
          <p:nvPr>
            <p:ph idx="1"/>
          </p:nvPr>
        </p:nvSpPr>
        <p:spPr>
          <a:xfrm>
            <a:off x="381000" y="1295400"/>
            <a:ext cx="8610600" cy="4525963"/>
          </a:xfrm>
        </p:spPr>
        <p:txBody>
          <a:bodyPr/>
          <a:lstStyle/>
          <a:p>
            <a:r>
              <a:rPr lang="en-US" b="0" dirty="0"/>
              <a:t>O</a:t>
            </a:r>
            <a:r>
              <a:rPr lang="en-US" b="0" dirty="0" smtClean="0"/>
              <a:t>ur </a:t>
            </a:r>
            <a:r>
              <a:rPr lang="en-US" b="0" dirty="0"/>
              <a:t>regressions include a number of controls for the performance of the publicly listed subsidiary. These controls are highly significant in all specifications. </a:t>
            </a:r>
            <a:endParaRPr lang="en-US" b="0" dirty="0" smtClean="0"/>
          </a:p>
          <a:p>
            <a:r>
              <a:rPr lang="en-US" b="0" dirty="0" smtClean="0"/>
              <a:t>Adding </a:t>
            </a:r>
            <a:r>
              <a:rPr lang="en-US" b="0" dirty="0"/>
              <a:t>parent ROA has incremental explanatory power in the regressions (and improves the R</a:t>
            </a:r>
            <a:r>
              <a:rPr lang="en-US" b="0" baseline="30000" dirty="0"/>
              <a:t>2</a:t>
            </a:r>
            <a:r>
              <a:rPr lang="en-US" b="0" dirty="0"/>
              <a:t>), without affecting the magnitude or the significance of the coefficients of the subsidiary’s performance </a:t>
            </a:r>
            <a:r>
              <a:rPr lang="en-US" b="0" dirty="0" smtClean="0"/>
              <a:t>proxies. </a:t>
            </a:r>
          </a:p>
          <a:p>
            <a:r>
              <a:rPr lang="en-US" b="0" dirty="0" smtClean="0"/>
              <a:t>Finally, since </a:t>
            </a:r>
            <a:r>
              <a:rPr lang="en-US" b="0" dirty="0"/>
              <a:t>our regressions control for dividend payments, it is not clear why the parent’s ROA has incremental explanatory power, unless there are other non-dividend related transfers between subsidiaries and parents, which is what we </a:t>
            </a:r>
            <a:r>
              <a:rPr lang="en-US" b="0" dirty="0" smtClean="0"/>
              <a:t>hypothesize.</a:t>
            </a:r>
            <a:endParaRPr lang="en-US" b="0" dirty="0"/>
          </a:p>
        </p:txBody>
      </p:sp>
    </p:spTree>
    <p:extLst>
      <p:ext uri="{BB962C8B-B14F-4D97-AF65-F5344CB8AC3E}">
        <p14:creationId xmlns:p14="http://schemas.microsoft.com/office/powerpoint/2010/main" val="2358889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Conclusions from direct evidence</a:t>
            </a:r>
            <a:endParaRPr lang="en-US" dirty="0"/>
          </a:p>
        </p:txBody>
      </p:sp>
      <p:sp>
        <p:nvSpPr>
          <p:cNvPr id="3" name="Content Placeholder 2"/>
          <p:cNvSpPr>
            <a:spLocks noGrp="1"/>
          </p:cNvSpPr>
          <p:nvPr>
            <p:ph idx="1"/>
          </p:nvPr>
        </p:nvSpPr>
        <p:spPr>
          <a:xfrm>
            <a:off x="228600" y="1295400"/>
            <a:ext cx="8610600" cy="4525963"/>
          </a:xfrm>
        </p:spPr>
        <p:txBody>
          <a:bodyPr/>
          <a:lstStyle/>
          <a:p>
            <a:r>
              <a:rPr lang="en-US" sz="2100" b="0" dirty="0"/>
              <a:t>Firms with underperforming controlling shareholders extend more intra-group loans to their parents. </a:t>
            </a:r>
            <a:endParaRPr lang="en-US" sz="2100" b="0" dirty="0" smtClean="0"/>
          </a:p>
          <a:p>
            <a:r>
              <a:rPr lang="en-US" sz="2100" b="0" dirty="0" smtClean="0"/>
              <a:t>The </a:t>
            </a:r>
            <a:r>
              <a:rPr lang="en-US" sz="2100" b="0" dirty="0"/>
              <a:t>market values one additional dollar of such an intra-group loan – by a publicly listed firm whose controlling shareholder is underperforming – at a significantly lower amount than an intra-group loan by a listed firm whose parent is performing well. </a:t>
            </a:r>
            <a:endParaRPr lang="en-US" sz="2100" b="0" dirty="0" smtClean="0"/>
          </a:p>
          <a:p>
            <a:r>
              <a:rPr lang="en-US" sz="2100" b="0" dirty="0" smtClean="0"/>
              <a:t>Therefore</a:t>
            </a:r>
            <a:r>
              <a:rPr lang="en-US" sz="2100" b="0" dirty="0"/>
              <a:t>, the performance of the parent appears very significant in explaining both the magnitude of the direct fund transfers from listed subsidiary to non-listed parent, as well as the market’s estimate of the value of the resulting receivables on the listed firm’s balance sheet. </a:t>
            </a:r>
            <a:endParaRPr lang="en-US" sz="2100" b="0" dirty="0" smtClean="0"/>
          </a:p>
          <a:p>
            <a:r>
              <a:rPr lang="en-US" sz="2100" b="0" dirty="0" smtClean="0"/>
              <a:t>In </a:t>
            </a:r>
            <a:r>
              <a:rPr lang="en-US" sz="2100" b="0" dirty="0"/>
              <a:t>other words, publicly listed firms are subject to more tunneling in periods when their controlling shareholders are underperforming.</a:t>
            </a:r>
          </a:p>
          <a:p>
            <a:endParaRPr lang="en-US" sz="2100" b="0" dirty="0"/>
          </a:p>
        </p:txBody>
      </p:sp>
    </p:spTree>
    <p:extLst>
      <p:ext uri="{BB962C8B-B14F-4D97-AF65-F5344CB8AC3E}">
        <p14:creationId xmlns:p14="http://schemas.microsoft.com/office/powerpoint/2010/main" val="18672136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 this enough?</a:t>
            </a:r>
            <a:endParaRPr lang="en-US" dirty="0"/>
          </a:p>
        </p:txBody>
      </p:sp>
      <p:sp>
        <p:nvSpPr>
          <p:cNvPr id="3" name="Content Placeholder 2"/>
          <p:cNvSpPr>
            <a:spLocks noGrp="1"/>
          </p:cNvSpPr>
          <p:nvPr>
            <p:ph idx="1"/>
          </p:nvPr>
        </p:nvSpPr>
        <p:spPr>
          <a:xfrm>
            <a:off x="457200" y="1219200"/>
            <a:ext cx="8458200" cy="4525963"/>
          </a:xfrm>
        </p:spPr>
        <p:txBody>
          <a:bodyPr/>
          <a:lstStyle/>
          <a:p>
            <a:r>
              <a:rPr lang="en-US" sz="2200" b="0" dirty="0"/>
              <a:t>Tunneling of cash from a firm’s balance sheet to the pockets of its controlling shareholders can occur through many different channels, only one of which, albeit a very direct one, is intra-group loans. </a:t>
            </a:r>
            <a:endParaRPr lang="en-US" sz="2200" b="0" dirty="0" smtClean="0"/>
          </a:p>
          <a:p>
            <a:r>
              <a:rPr lang="en-US" sz="2200" b="0" dirty="0" smtClean="0"/>
              <a:t>Other </a:t>
            </a:r>
            <a:r>
              <a:rPr lang="en-US" sz="2200" b="0" dirty="0"/>
              <a:t>types of related party transactions through which tunneling may occur include transfers of fixed assets between subsidiary and parent, purchases of goods and services (which may affect operating expenses) or the provision of loan guarantees that may materialize in the future. </a:t>
            </a:r>
            <a:endParaRPr lang="en-US" sz="2200" b="0" dirty="0" smtClean="0"/>
          </a:p>
          <a:p>
            <a:r>
              <a:rPr lang="en-US" sz="2200" b="0" dirty="0" smtClean="0"/>
              <a:t>Unlike </a:t>
            </a:r>
            <a:r>
              <a:rPr lang="en-US" sz="2200" b="0" dirty="0"/>
              <a:t>intra-group loans, many of these other types of related party transactions are not always disclosed with enough information to allow us to value them with accuracy.</a:t>
            </a:r>
            <a:endParaRPr lang="en-US" sz="2200" b="0" dirty="0"/>
          </a:p>
        </p:txBody>
      </p:sp>
    </p:spTree>
    <p:extLst>
      <p:ext uri="{BB962C8B-B14F-4D97-AF65-F5344CB8AC3E}">
        <p14:creationId xmlns:p14="http://schemas.microsoft.com/office/powerpoint/2010/main" val="33983008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Indirect evidence: Value of cash holdings</a:t>
            </a:r>
            <a:endParaRPr lang="en-US" dirty="0"/>
          </a:p>
        </p:txBody>
      </p:sp>
      <p:sp>
        <p:nvSpPr>
          <p:cNvPr id="3" name="Content Placeholder 2"/>
          <p:cNvSpPr>
            <a:spLocks noGrp="1"/>
          </p:cNvSpPr>
          <p:nvPr>
            <p:ph idx="1"/>
          </p:nvPr>
        </p:nvSpPr>
        <p:spPr>
          <a:xfrm>
            <a:off x="685800" y="1371600"/>
            <a:ext cx="7481887" cy="4525963"/>
          </a:xfrm>
        </p:spPr>
        <p:txBody>
          <a:bodyPr/>
          <a:lstStyle/>
          <a:p>
            <a:r>
              <a:rPr lang="en-US" sz="2400" b="0" dirty="0"/>
              <a:t>The advantage (relative to intra-group loans</a:t>
            </a:r>
            <a:r>
              <a:rPr lang="en-US" sz="2400" b="0" dirty="0" smtClean="0"/>
              <a:t>): Cash </a:t>
            </a:r>
            <a:r>
              <a:rPr lang="en-US" sz="2400" b="0" dirty="0"/>
              <a:t>holdings may reflect additional – and possibly much more extensive – avenues of expropriation compared to intra-group loans. </a:t>
            </a:r>
            <a:endParaRPr lang="en-US" sz="2400" b="0" dirty="0" smtClean="0"/>
          </a:p>
          <a:p>
            <a:r>
              <a:rPr lang="en-US" sz="2400" b="0" dirty="0" smtClean="0"/>
              <a:t>Disadvantage: Intra-group </a:t>
            </a:r>
            <a:r>
              <a:rPr lang="en-US" sz="2400" b="0" dirty="0"/>
              <a:t>loans represent direct fund flows, whereas cash holdings are only an indirect proxy for expropriation.</a:t>
            </a:r>
            <a:endParaRPr lang="en-US" sz="2400" b="0" dirty="0"/>
          </a:p>
        </p:txBody>
      </p:sp>
    </p:spTree>
    <p:extLst>
      <p:ext uri="{BB962C8B-B14F-4D97-AF65-F5344CB8AC3E}">
        <p14:creationId xmlns:p14="http://schemas.microsoft.com/office/powerpoint/2010/main" val="9084084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Parent performance and the level of listed firm cash holdings</a:t>
            </a:r>
            <a:endParaRPr lang="en-US" dirty="0"/>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1371600"/>
            <a:ext cx="6832105"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76175" y="2746568"/>
            <a:ext cx="3586223" cy="1477328"/>
          </a:xfrm>
          <a:prstGeom prst="rect">
            <a:avLst/>
          </a:prstGeom>
          <a:noFill/>
        </p:spPr>
        <p:txBody>
          <a:bodyPr wrap="square" rtlCol="0">
            <a:spAutoFit/>
          </a:bodyPr>
          <a:lstStyle/>
          <a:p>
            <a:r>
              <a:rPr lang="en-GB" dirty="0" smtClean="0">
                <a:latin typeface="Calibri" panose="020F0502020204030204" pitchFamily="34" charset="0"/>
              </a:rPr>
              <a:t>Dependent </a:t>
            </a:r>
            <a:r>
              <a:rPr lang="en-GB" dirty="0">
                <a:latin typeface="Calibri" panose="020F0502020204030204" pitchFamily="34" charset="0"/>
              </a:rPr>
              <a:t>variable is the natural logarithm of </a:t>
            </a:r>
            <a:r>
              <a:rPr lang="en-GB" dirty="0" smtClean="0">
                <a:latin typeface="Calibri" panose="020F0502020204030204" pitchFamily="34" charset="0"/>
              </a:rPr>
              <a:t>1 </a:t>
            </a:r>
            <a:r>
              <a:rPr lang="en-GB" dirty="0">
                <a:latin typeface="Calibri" panose="020F0502020204030204" pitchFamily="34" charset="0"/>
              </a:rPr>
              <a:t>plus the ratio of cash and equivalents to net assets, total assets, and market capitalization respectively. </a:t>
            </a:r>
            <a:endParaRPr lang="en-US" dirty="0">
              <a:latin typeface="Calibri" panose="020F0502020204030204" pitchFamily="34" charset="0"/>
            </a:endParaRPr>
          </a:p>
        </p:txBody>
      </p:sp>
      <p:cxnSp>
        <p:nvCxnSpPr>
          <p:cNvPr id="6" name="Straight Arrow Connector 5"/>
          <p:cNvCxnSpPr/>
          <p:nvPr/>
        </p:nvCxnSpPr>
        <p:spPr>
          <a:xfrm flipV="1">
            <a:off x="1524000" y="1981200"/>
            <a:ext cx="2286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181600" y="2667000"/>
            <a:ext cx="3586223" cy="369332"/>
          </a:xfrm>
          <a:prstGeom prst="rect">
            <a:avLst/>
          </a:prstGeom>
          <a:noFill/>
        </p:spPr>
        <p:txBody>
          <a:bodyPr wrap="square" rtlCol="0">
            <a:spAutoFit/>
          </a:bodyPr>
          <a:lstStyle/>
          <a:p>
            <a:r>
              <a:rPr lang="en-GB" dirty="0" smtClean="0">
                <a:latin typeface="Calibri" panose="020F0502020204030204" pitchFamily="34" charset="0"/>
              </a:rPr>
              <a:t>Coefficient of interest</a:t>
            </a:r>
            <a:endParaRPr lang="en-US" dirty="0">
              <a:latin typeface="Calibri" panose="020F0502020204030204" pitchFamily="34" charset="0"/>
            </a:endParaRPr>
          </a:p>
        </p:txBody>
      </p:sp>
      <p:cxnSp>
        <p:nvCxnSpPr>
          <p:cNvPr id="10" name="Straight Arrow Connector 9"/>
          <p:cNvCxnSpPr/>
          <p:nvPr/>
        </p:nvCxnSpPr>
        <p:spPr>
          <a:xfrm flipH="1" flipV="1">
            <a:off x="5867400" y="2362200"/>
            <a:ext cx="462025" cy="3014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12" name="Content Placeholder 5"/>
          <p:cNvGraphicFramePr>
            <a:graphicFrameLocks/>
          </p:cNvGraphicFramePr>
          <p:nvPr>
            <p:extLst>
              <p:ext uri="{D42A27DB-BD31-4B8C-83A1-F6EECF244321}">
                <p14:modId xmlns:p14="http://schemas.microsoft.com/office/powerpoint/2010/main" val="3799082185"/>
              </p:ext>
            </p:extLst>
          </p:nvPr>
        </p:nvGraphicFramePr>
        <p:xfrm>
          <a:off x="323528" y="3068960"/>
          <a:ext cx="8640960" cy="3645408"/>
        </p:xfrm>
        <a:graphic>
          <a:graphicData uri="http://schemas.openxmlformats.org/drawingml/2006/table">
            <a:tbl>
              <a:tblPr firstRow="1" firstCol="1" bandCol="1">
                <a:tableStyleId>{5C22544A-7EE6-4342-B048-85BDC9FD1C3A}</a:tableStyleId>
              </a:tblPr>
              <a:tblGrid>
                <a:gridCol w="2191346"/>
                <a:gridCol w="1049012"/>
                <a:gridCol w="1047285"/>
                <a:gridCol w="1047285"/>
                <a:gridCol w="170685"/>
                <a:gridCol w="1043828"/>
                <a:gridCol w="1047285"/>
                <a:gridCol w="1044234"/>
              </a:tblGrid>
              <a:tr h="238594">
                <a:tc>
                  <a:txBody>
                    <a:bodyPr/>
                    <a:lstStyle/>
                    <a:p>
                      <a:pPr>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a:lnSpc>
                          <a:spcPct val="115000"/>
                        </a:lnSpc>
                        <a:spcAft>
                          <a:spcPts val="0"/>
                        </a:spcAft>
                      </a:pP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log(1+C</a:t>
                      </a:r>
                      <a:r>
                        <a:rPr lang="en-US" sz="1200" baseline="-25000" dirty="0">
                          <a:effectLst/>
                          <a:latin typeface="Arial Unicode MS" panose="020B0604020202020204" pitchFamily="34" charset="-122"/>
                          <a:ea typeface="Arial Unicode MS" panose="020B0604020202020204" pitchFamily="34" charset="-122"/>
                          <a:cs typeface="Arial Unicode MS" panose="020B0604020202020204" pitchFamily="34" charset="-122"/>
                        </a:rPr>
                        <a:t>t</a:t>
                      </a: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a:t>
                      </a:r>
                      <a:r>
                        <a:rPr lang="en-US" sz="1200" dirty="0" err="1">
                          <a:effectLst/>
                          <a:latin typeface="Arial Unicode MS" panose="020B0604020202020204" pitchFamily="34" charset="-122"/>
                          <a:ea typeface="Arial Unicode MS" panose="020B0604020202020204" pitchFamily="34" charset="-122"/>
                          <a:cs typeface="Arial Unicode MS" panose="020B0604020202020204" pitchFamily="34" charset="-122"/>
                        </a:rPr>
                        <a:t>NA</a:t>
                      </a:r>
                      <a:r>
                        <a:rPr lang="en-US" sz="1200" baseline="-25000" dirty="0" err="1">
                          <a:effectLst/>
                          <a:latin typeface="Arial Unicode MS" panose="020B0604020202020204" pitchFamily="34" charset="-122"/>
                          <a:ea typeface="Arial Unicode MS" panose="020B0604020202020204" pitchFamily="34" charset="-122"/>
                          <a:cs typeface="Arial Unicode MS" panose="020B0604020202020204" pitchFamily="34" charset="-122"/>
                        </a:rPr>
                        <a:t>t</a:t>
                      </a: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a:t>
                      </a:r>
                      <a:endParaRPr lang="zh-CN" sz="12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a:lnSpc>
                          <a:spcPct val="115000"/>
                        </a:lnSpc>
                        <a:spcAft>
                          <a:spcPts val="0"/>
                        </a:spcAft>
                      </a:pP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log(1+C</a:t>
                      </a:r>
                      <a:r>
                        <a:rPr lang="en-US" sz="1200" baseline="-25000" dirty="0">
                          <a:effectLst/>
                          <a:latin typeface="Arial Unicode MS" panose="020B0604020202020204" pitchFamily="34" charset="-122"/>
                          <a:ea typeface="Arial Unicode MS" panose="020B0604020202020204" pitchFamily="34" charset="-122"/>
                          <a:cs typeface="Arial Unicode MS" panose="020B0604020202020204" pitchFamily="34" charset="-122"/>
                        </a:rPr>
                        <a:t>t</a:t>
                      </a: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a:t>
                      </a:r>
                      <a:r>
                        <a:rPr lang="en-US" sz="1200" dirty="0" err="1">
                          <a:effectLst/>
                          <a:latin typeface="Arial Unicode MS" panose="020B0604020202020204" pitchFamily="34" charset="-122"/>
                          <a:ea typeface="Arial Unicode MS" panose="020B0604020202020204" pitchFamily="34" charset="-122"/>
                          <a:cs typeface="Arial Unicode MS" panose="020B0604020202020204" pitchFamily="34" charset="-122"/>
                        </a:rPr>
                        <a:t>TA</a:t>
                      </a:r>
                      <a:r>
                        <a:rPr lang="en-US" sz="1200" baseline="-25000" dirty="0" err="1">
                          <a:effectLst/>
                          <a:latin typeface="Arial Unicode MS" panose="020B0604020202020204" pitchFamily="34" charset="-122"/>
                          <a:ea typeface="Arial Unicode MS" panose="020B0604020202020204" pitchFamily="34" charset="-122"/>
                          <a:cs typeface="Arial Unicode MS" panose="020B0604020202020204" pitchFamily="34" charset="-122"/>
                        </a:rPr>
                        <a:t>t</a:t>
                      </a: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a:t>
                      </a:r>
                      <a:endParaRPr lang="zh-CN" sz="12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a:lnSpc>
                          <a:spcPct val="115000"/>
                        </a:lnSpc>
                        <a:spcAft>
                          <a:spcPts val="0"/>
                        </a:spcAft>
                      </a:pP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log(1+C</a:t>
                      </a:r>
                      <a:r>
                        <a:rPr lang="en-US" sz="1200" baseline="-25000" dirty="0">
                          <a:effectLst/>
                          <a:latin typeface="Arial Unicode MS" panose="020B0604020202020204" pitchFamily="34" charset="-122"/>
                          <a:ea typeface="Arial Unicode MS" panose="020B0604020202020204" pitchFamily="34" charset="-122"/>
                          <a:cs typeface="Arial Unicode MS" panose="020B0604020202020204" pitchFamily="34" charset="-122"/>
                        </a:rPr>
                        <a:t>t</a:t>
                      </a: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/M</a:t>
                      </a:r>
                      <a:r>
                        <a:rPr lang="en-US" sz="1200" baseline="-25000" dirty="0">
                          <a:effectLst/>
                          <a:latin typeface="Arial Unicode MS" panose="020B0604020202020204" pitchFamily="34" charset="-122"/>
                          <a:ea typeface="Arial Unicode MS" panose="020B0604020202020204" pitchFamily="34" charset="-122"/>
                          <a:cs typeface="Arial Unicode MS" panose="020B0604020202020204" pitchFamily="34" charset="-122"/>
                        </a:rPr>
                        <a:t>t</a:t>
                      </a: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a:t>
                      </a:r>
                      <a:endParaRPr lang="zh-CN" sz="12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a:lnSpc>
                          <a:spcPct val="115000"/>
                        </a:lnSpc>
                        <a:spcAft>
                          <a:spcPts val="0"/>
                        </a:spcAft>
                      </a:pP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2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a:lnSpc>
                          <a:spcPct val="115000"/>
                        </a:lnSpc>
                        <a:spcAft>
                          <a:spcPts val="0"/>
                        </a:spcAft>
                      </a:pP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log(1+C</a:t>
                      </a:r>
                      <a:r>
                        <a:rPr lang="en-US" sz="1200" baseline="-25000" dirty="0">
                          <a:effectLst/>
                          <a:latin typeface="Arial Unicode MS" panose="020B0604020202020204" pitchFamily="34" charset="-122"/>
                          <a:ea typeface="Arial Unicode MS" panose="020B0604020202020204" pitchFamily="34" charset="-122"/>
                          <a:cs typeface="Arial Unicode MS" panose="020B0604020202020204" pitchFamily="34" charset="-122"/>
                        </a:rPr>
                        <a:t>t</a:t>
                      </a: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a:t>
                      </a:r>
                      <a:r>
                        <a:rPr lang="en-US" sz="1200" dirty="0" err="1">
                          <a:effectLst/>
                          <a:latin typeface="Arial Unicode MS" panose="020B0604020202020204" pitchFamily="34" charset="-122"/>
                          <a:ea typeface="Arial Unicode MS" panose="020B0604020202020204" pitchFamily="34" charset="-122"/>
                          <a:cs typeface="Arial Unicode MS" panose="020B0604020202020204" pitchFamily="34" charset="-122"/>
                        </a:rPr>
                        <a:t>NA</a:t>
                      </a:r>
                      <a:r>
                        <a:rPr lang="en-US" sz="1200" baseline="-25000" dirty="0" err="1">
                          <a:effectLst/>
                          <a:latin typeface="Arial Unicode MS" panose="020B0604020202020204" pitchFamily="34" charset="-122"/>
                          <a:ea typeface="Arial Unicode MS" panose="020B0604020202020204" pitchFamily="34" charset="-122"/>
                          <a:cs typeface="Arial Unicode MS" panose="020B0604020202020204" pitchFamily="34" charset="-122"/>
                        </a:rPr>
                        <a:t>t</a:t>
                      </a: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a:t>
                      </a:r>
                      <a:endParaRPr lang="zh-CN" sz="12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a:lnSpc>
                          <a:spcPct val="115000"/>
                        </a:lnSpc>
                        <a:spcAft>
                          <a:spcPts val="0"/>
                        </a:spcAft>
                      </a:pP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log(1+C</a:t>
                      </a:r>
                      <a:r>
                        <a:rPr lang="en-US" sz="1200" baseline="-25000" dirty="0">
                          <a:effectLst/>
                          <a:latin typeface="Arial Unicode MS" panose="020B0604020202020204" pitchFamily="34" charset="-122"/>
                          <a:ea typeface="Arial Unicode MS" panose="020B0604020202020204" pitchFamily="34" charset="-122"/>
                          <a:cs typeface="Arial Unicode MS" panose="020B0604020202020204" pitchFamily="34" charset="-122"/>
                        </a:rPr>
                        <a:t>t</a:t>
                      </a: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a:t>
                      </a:r>
                      <a:r>
                        <a:rPr lang="en-US" sz="1200" dirty="0" err="1">
                          <a:effectLst/>
                          <a:latin typeface="Arial Unicode MS" panose="020B0604020202020204" pitchFamily="34" charset="-122"/>
                          <a:ea typeface="Arial Unicode MS" panose="020B0604020202020204" pitchFamily="34" charset="-122"/>
                          <a:cs typeface="Arial Unicode MS" panose="020B0604020202020204" pitchFamily="34" charset="-122"/>
                        </a:rPr>
                        <a:t>TA</a:t>
                      </a:r>
                      <a:r>
                        <a:rPr lang="en-US" sz="1200" baseline="-25000" dirty="0" err="1">
                          <a:effectLst/>
                          <a:latin typeface="Arial Unicode MS" panose="020B0604020202020204" pitchFamily="34" charset="-122"/>
                          <a:ea typeface="Arial Unicode MS" panose="020B0604020202020204" pitchFamily="34" charset="-122"/>
                          <a:cs typeface="Arial Unicode MS" panose="020B0604020202020204" pitchFamily="34" charset="-122"/>
                        </a:rPr>
                        <a:t>t</a:t>
                      </a: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a:t>
                      </a:r>
                      <a:endParaRPr lang="zh-CN" sz="12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a:lnSpc>
                          <a:spcPct val="115000"/>
                        </a:lnSpc>
                        <a:spcAft>
                          <a:spcPts val="0"/>
                        </a:spcAft>
                      </a:pP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log(1+C</a:t>
                      </a:r>
                      <a:r>
                        <a:rPr lang="en-US" sz="1200" baseline="-25000" dirty="0">
                          <a:effectLst/>
                          <a:latin typeface="Arial Unicode MS" panose="020B0604020202020204" pitchFamily="34" charset="-122"/>
                          <a:ea typeface="Arial Unicode MS" panose="020B0604020202020204" pitchFamily="34" charset="-122"/>
                          <a:cs typeface="Arial Unicode MS" panose="020B0604020202020204" pitchFamily="34" charset="-122"/>
                        </a:rPr>
                        <a:t>t</a:t>
                      </a: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/M</a:t>
                      </a:r>
                      <a:r>
                        <a:rPr lang="en-US" sz="1200" baseline="-25000" dirty="0">
                          <a:effectLst/>
                          <a:latin typeface="Arial Unicode MS" panose="020B0604020202020204" pitchFamily="34" charset="-122"/>
                          <a:ea typeface="Arial Unicode MS" panose="020B0604020202020204" pitchFamily="34" charset="-122"/>
                          <a:cs typeface="Arial Unicode MS" panose="020B0604020202020204" pitchFamily="34" charset="-122"/>
                        </a:rPr>
                        <a:t>t</a:t>
                      </a:r>
                      <a:r>
                        <a:rPr lang="en-US" sz="1200" dirty="0">
                          <a:effectLst/>
                          <a:latin typeface="Arial Unicode MS" panose="020B0604020202020204" pitchFamily="34" charset="-122"/>
                          <a:ea typeface="Arial Unicode MS" panose="020B0604020202020204" pitchFamily="34" charset="-122"/>
                          <a:cs typeface="Arial Unicode MS" panose="020B0604020202020204" pitchFamily="34" charset="-122"/>
                        </a:rPr>
                        <a:t>)</a:t>
                      </a:r>
                      <a:endParaRPr lang="zh-CN" sz="12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r>
              <a:tr h="238594">
                <a:tc>
                  <a:txBody>
                    <a:bodyPr/>
                    <a:lstStyle/>
                    <a:p>
                      <a:pPr>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(1)</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(2)</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(3)</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(4)</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(5)</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(6)</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r>
              <a:tr h="238594">
                <a:tc>
                  <a:txBody>
                    <a:bodyPr/>
                    <a:lstStyle/>
                    <a:p>
                      <a:pPr>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c>
                  <a:txBody>
                    <a:bodyPr/>
                    <a:lstStyle/>
                    <a:p>
                      <a:pPr marL="12446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c>
                  <a:txBody>
                    <a:bodyPr/>
                    <a:lstStyle/>
                    <a:p>
                      <a:pPr marL="124460">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124460">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124460">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124460">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c>
                  <a:txBody>
                    <a:bodyPr/>
                    <a:lstStyle/>
                    <a:p>
                      <a:pPr marL="12446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12446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r>
              <a:tr h="238594">
                <a:tc>
                  <a:txBody>
                    <a:bodyPr/>
                    <a:lstStyle/>
                    <a:p>
                      <a:pPr>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Parent performance</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nchor="ctr"/>
                </a:tc>
                <a:tc>
                  <a:txBody>
                    <a:bodyPr/>
                    <a:lstStyle/>
                    <a:p>
                      <a:pPr marL="12446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c>
                  <a:txBody>
                    <a:bodyPr/>
                    <a:lstStyle/>
                    <a:p>
                      <a:pPr marL="12446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12446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12446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124460">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c>
                  <a:txBody>
                    <a:bodyPr/>
                    <a:lstStyle/>
                    <a:p>
                      <a:pPr marL="12446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12446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r>
              <a:tr h="269760">
                <a:tc>
                  <a:txBody>
                    <a:bodyPr/>
                    <a:lstStyle/>
                    <a:p>
                      <a:pPr>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(1) Parent </a:t>
                      </a:r>
                      <a:r>
                        <a:rPr lang="en-US" sz="1600" dirty="0" err="1">
                          <a:effectLst/>
                          <a:latin typeface="Arial Unicode MS" panose="020B0604020202020204" pitchFamily="34" charset="-122"/>
                          <a:ea typeface="Arial Unicode MS" panose="020B0604020202020204" pitchFamily="34" charset="-122"/>
                          <a:cs typeface="Arial Unicode MS" panose="020B0604020202020204" pitchFamily="34" charset="-122"/>
                        </a:rPr>
                        <a:t>ROA</a:t>
                      </a:r>
                      <a:r>
                        <a:rPr lang="en-US" sz="1600" baseline="-25000" dirty="0" err="1">
                          <a:effectLst/>
                          <a:latin typeface="Arial Unicode MS" panose="020B0604020202020204" pitchFamily="34" charset="-122"/>
                          <a:ea typeface="Arial Unicode MS" panose="020B0604020202020204" pitchFamily="34" charset="-122"/>
                          <a:cs typeface="Arial Unicode MS" panose="020B0604020202020204" pitchFamily="34" charset="-122"/>
                        </a:rPr>
                        <a:t>t</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nchor="ctr"/>
                </a:tc>
                <a:tc>
                  <a:txBody>
                    <a:bodyPr/>
                    <a:lstStyle/>
                    <a:p>
                      <a:pPr marL="30480">
                        <a:lnSpc>
                          <a:spcPct val="115000"/>
                        </a:lnSpc>
                        <a:spcAft>
                          <a:spcPts val="0"/>
                        </a:spcAft>
                      </a:pPr>
                      <a:r>
                        <a:rPr lang="en-US" sz="1600" b="1" dirty="0" smtClean="0">
                          <a:effectLst/>
                          <a:latin typeface="Arial Unicode MS" panose="020B0604020202020204" pitchFamily="34" charset="-122"/>
                          <a:ea typeface="Arial Unicode MS" panose="020B0604020202020204" pitchFamily="34" charset="-122"/>
                          <a:cs typeface="Arial Unicode MS" panose="020B0604020202020204" pitchFamily="34" charset="-122"/>
                        </a:rPr>
                        <a:t>0.265***</a:t>
                      </a:r>
                      <a:endParaRPr lang="zh-CN" sz="1600" b="1"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c>
                  <a:txBody>
                    <a:bodyPr/>
                    <a:lstStyle/>
                    <a:p>
                      <a:pPr marL="30480">
                        <a:lnSpc>
                          <a:spcPct val="115000"/>
                        </a:lnSpc>
                        <a:spcAft>
                          <a:spcPts val="0"/>
                        </a:spcAft>
                      </a:pPr>
                      <a:r>
                        <a:rPr lang="en-US" sz="1600" b="1" dirty="0" smtClean="0">
                          <a:effectLst/>
                          <a:latin typeface="Arial Unicode MS" panose="020B0604020202020204" pitchFamily="34" charset="-122"/>
                          <a:ea typeface="Arial Unicode MS" panose="020B0604020202020204" pitchFamily="34" charset="-122"/>
                          <a:cs typeface="Arial Unicode MS" panose="020B0604020202020204" pitchFamily="34" charset="-122"/>
                        </a:rPr>
                        <a:t>0.185***</a:t>
                      </a:r>
                      <a:endParaRPr lang="zh-CN" sz="1600" b="1"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a:lnSpc>
                          <a:spcPct val="115000"/>
                        </a:lnSpc>
                        <a:spcAft>
                          <a:spcPts val="0"/>
                        </a:spcAft>
                      </a:pPr>
                      <a:r>
                        <a:rPr lang="en-US" sz="1600" b="1" dirty="0" smtClean="0">
                          <a:effectLst/>
                          <a:latin typeface="Arial Unicode MS" panose="020B0604020202020204" pitchFamily="34" charset="-122"/>
                          <a:ea typeface="Arial Unicode MS" panose="020B0604020202020204" pitchFamily="34" charset="-122"/>
                          <a:cs typeface="Arial Unicode MS" panose="020B0604020202020204" pitchFamily="34" charset="-122"/>
                        </a:rPr>
                        <a:t>0.101***</a:t>
                      </a:r>
                      <a:endParaRPr lang="zh-CN" sz="1600" b="1"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a:lnSpc>
                          <a:spcPct val="115000"/>
                        </a:lnSpc>
                        <a:spcAft>
                          <a:spcPts val="0"/>
                        </a:spcAft>
                      </a:pPr>
                      <a:r>
                        <a:rPr lang="en-US" sz="1600" b="1" dirty="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b="1"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a:lnSpc>
                          <a:spcPct val="115000"/>
                        </a:lnSpc>
                        <a:spcAft>
                          <a:spcPts val="0"/>
                        </a:spcAft>
                      </a:pPr>
                      <a:r>
                        <a:rPr lang="en-US" sz="1600" b="1" dirty="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b="1"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c>
                  <a:txBody>
                    <a:bodyPr/>
                    <a:lstStyle/>
                    <a:p>
                      <a:pPr marL="30480">
                        <a:lnSpc>
                          <a:spcPct val="115000"/>
                        </a:lnSpc>
                        <a:spcAft>
                          <a:spcPts val="0"/>
                        </a:spcAft>
                      </a:pPr>
                      <a:r>
                        <a:rPr lang="en-US" sz="1600" b="1" dirty="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b="1"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a:lnSpc>
                          <a:spcPct val="115000"/>
                        </a:lnSpc>
                        <a:spcAft>
                          <a:spcPts val="0"/>
                        </a:spcAft>
                      </a:pPr>
                      <a:r>
                        <a:rPr lang="en-US" sz="1600" b="1">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b="1">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r>
              <a:tr h="216024">
                <a:tc>
                  <a:txBody>
                    <a:bodyPr/>
                    <a:lstStyle/>
                    <a:p>
                      <a:pPr>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(2) Parent </a:t>
                      </a:r>
                      <a:r>
                        <a:rPr lang="en-US" sz="1600" dirty="0" err="1">
                          <a:effectLst/>
                          <a:latin typeface="Arial Unicode MS" panose="020B0604020202020204" pitchFamily="34" charset="-122"/>
                          <a:ea typeface="Arial Unicode MS" panose="020B0604020202020204" pitchFamily="34" charset="-122"/>
                          <a:cs typeface="Arial Unicode MS" panose="020B0604020202020204" pitchFamily="34" charset="-122"/>
                        </a:rPr>
                        <a:t>CF</a:t>
                      </a:r>
                      <a:r>
                        <a:rPr lang="en-US" sz="1600" baseline="-25000" dirty="0" err="1">
                          <a:effectLst/>
                          <a:latin typeface="Arial Unicode MS" panose="020B0604020202020204" pitchFamily="34" charset="-122"/>
                          <a:ea typeface="Arial Unicode MS" panose="020B0604020202020204" pitchFamily="34" charset="-122"/>
                          <a:cs typeface="Arial Unicode MS" panose="020B0604020202020204" pitchFamily="34" charset="-122"/>
                        </a:rPr>
                        <a:t>t</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nchor="ctr"/>
                </a:tc>
                <a:tc>
                  <a:txBody>
                    <a:bodyPr/>
                    <a:lstStyle/>
                    <a:p>
                      <a:pPr marL="30480">
                        <a:lnSpc>
                          <a:spcPct val="115000"/>
                        </a:lnSpc>
                        <a:spcAft>
                          <a:spcPts val="0"/>
                        </a:spcAft>
                      </a:pPr>
                      <a:r>
                        <a:rPr lang="en-US" sz="1600" b="1">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b="1">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c>
                  <a:txBody>
                    <a:bodyPr/>
                    <a:lstStyle/>
                    <a:p>
                      <a:pPr marL="30480">
                        <a:lnSpc>
                          <a:spcPct val="115000"/>
                        </a:lnSpc>
                        <a:spcAft>
                          <a:spcPts val="0"/>
                        </a:spcAft>
                      </a:pPr>
                      <a:r>
                        <a:rPr lang="en-US" sz="1600" b="1">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b="1">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a:lnSpc>
                          <a:spcPct val="115000"/>
                        </a:lnSpc>
                        <a:spcAft>
                          <a:spcPts val="0"/>
                        </a:spcAft>
                      </a:pPr>
                      <a:r>
                        <a:rPr lang="en-US" sz="1600" b="1">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b="1">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a:lnSpc>
                          <a:spcPct val="115000"/>
                        </a:lnSpc>
                        <a:spcAft>
                          <a:spcPts val="0"/>
                        </a:spcAft>
                      </a:pPr>
                      <a:r>
                        <a:rPr lang="en-US" sz="1600" b="1">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b="1">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a:lnSpc>
                          <a:spcPct val="115000"/>
                        </a:lnSpc>
                        <a:spcAft>
                          <a:spcPts val="0"/>
                        </a:spcAft>
                      </a:pPr>
                      <a:r>
                        <a:rPr lang="en-US" sz="1600" b="1" dirty="0" smtClean="0">
                          <a:effectLst/>
                          <a:latin typeface="Arial Unicode MS" panose="020B0604020202020204" pitchFamily="34" charset="-122"/>
                          <a:ea typeface="Arial Unicode MS" panose="020B0604020202020204" pitchFamily="34" charset="-122"/>
                          <a:cs typeface="Arial Unicode MS" panose="020B0604020202020204" pitchFamily="34" charset="-122"/>
                        </a:rPr>
                        <a:t>0.122**</a:t>
                      </a:r>
                      <a:endParaRPr lang="zh-CN" sz="1600" b="1"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c>
                  <a:txBody>
                    <a:bodyPr/>
                    <a:lstStyle/>
                    <a:p>
                      <a:pPr marL="30480">
                        <a:lnSpc>
                          <a:spcPct val="115000"/>
                        </a:lnSpc>
                        <a:spcAft>
                          <a:spcPts val="0"/>
                        </a:spcAft>
                      </a:pPr>
                      <a:r>
                        <a:rPr lang="en-US" sz="1600" b="1" dirty="0" smtClean="0">
                          <a:effectLst/>
                          <a:latin typeface="Arial Unicode MS" panose="020B0604020202020204" pitchFamily="34" charset="-122"/>
                          <a:ea typeface="Arial Unicode MS" panose="020B0604020202020204" pitchFamily="34" charset="-122"/>
                          <a:cs typeface="Arial Unicode MS" panose="020B0604020202020204" pitchFamily="34" charset="-122"/>
                        </a:rPr>
                        <a:t>0.085**</a:t>
                      </a:r>
                      <a:endParaRPr lang="zh-CN" sz="1600" b="1"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a:lnSpc>
                          <a:spcPct val="115000"/>
                        </a:lnSpc>
                        <a:spcAft>
                          <a:spcPts val="0"/>
                        </a:spcAft>
                      </a:pPr>
                      <a:r>
                        <a:rPr lang="en-US" sz="1600" b="1" dirty="0" smtClean="0">
                          <a:effectLst/>
                          <a:latin typeface="Arial Unicode MS" panose="020B0604020202020204" pitchFamily="34" charset="-122"/>
                          <a:ea typeface="Arial Unicode MS" panose="020B0604020202020204" pitchFamily="34" charset="-122"/>
                          <a:cs typeface="Arial Unicode MS" panose="020B0604020202020204" pitchFamily="34" charset="-122"/>
                        </a:rPr>
                        <a:t>0.036*</a:t>
                      </a:r>
                      <a:endParaRPr lang="zh-CN" sz="1600" b="1"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r>
              <a:tr h="238594">
                <a:tc>
                  <a:txBody>
                    <a:bodyPr/>
                    <a:lstStyle/>
                    <a:p>
                      <a:pPr>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r>
              <a:tr h="238594">
                <a:tc>
                  <a:txBody>
                    <a:bodyPr/>
                    <a:lstStyle/>
                    <a:p>
                      <a:pPr>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Listed firm characteristics</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c>
                  <a:txBody>
                    <a:bodyPr/>
                    <a:lstStyle/>
                    <a:p>
                      <a:pPr marL="30480">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Yes</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Yes</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Yes</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marR="0" indent="0" algn="l" defTabSz="914400" rtl="0" eaLnBrk="1" fontAlgn="auto" latinLnBrk="0" hangingPunct="1">
                        <a:lnSpc>
                          <a:spcPct val="115000"/>
                        </a:lnSpc>
                        <a:spcBef>
                          <a:spcPts val="0"/>
                        </a:spcBef>
                        <a:spcAft>
                          <a:spcPts val="0"/>
                        </a:spcAft>
                        <a:buClrTx/>
                        <a:buSzTx/>
                        <a:buFontTx/>
                        <a:buNone/>
                        <a:tabLst/>
                        <a:defRPr/>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dirty="0" smtClean="0">
                          <a:effectLst/>
                          <a:latin typeface="Arial Unicode MS" panose="020B0604020202020204" pitchFamily="34" charset="-122"/>
                          <a:ea typeface="Arial Unicode MS" panose="020B0604020202020204" pitchFamily="34" charset="-122"/>
                          <a:cs typeface="Arial Unicode MS" panose="020B0604020202020204" pitchFamily="34" charset="-122"/>
                        </a:rPr>
                        <a:t>Yes</a:t>
                      </a:r>
                      <a:endParaRPr lang="zh-CN" altLang="zh-CN" sz="1600" dirty="0" smtClean="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c>
                  <a:txBody>
                    <a:bodyPr/>
                    <a:lstStyle/>
                    <a:p>
                      <a:pPr marL="30480" marR="0" indent="0" algn="l" defTabSz="914400" rtl="0" eaLnBrk="1" fontAlgn="auto" latinLnBrk="0" hangingPunct="1">
                        <a:lnSpc>
                          <a:spcPct val="115000"/>
                        </a:lnSpc>
                        <a:spcBef>
                          <a:spcPts val="0"/>
                        </a:spcBef>
                        <a:spcAft>
                          <a:spcPts val="0"/>
                        </a:spcAft>
                        <a:buClrTx/>
                        <a:buSzTx/>
                        <a:buFontTx/>
                        <a:buNone/>
                        <a:tabLst/>
                        <a:defRPr/>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dirty="0" smtClean="0">
                          <a:effectLst/>
                          <a:latin typeface="Arial Unicode MS" panose="020B0604020202020204" pitchFamily="34" charset="-122"/>
                          <a:ea typeface="Arial Unicode MS" panose="020B0604020202020204" pitchFamily="34" charset="-122"/>
                          <a:cs typeface="Arial Unicode MS" panose="020B0604020202020204" pitchFamily="34" charset="-122"/>
                        </a:rPr>
                        <a:t>Yes</a:t>
                      </a:r>
                      <a:endParaRPr lang="zh-CN" altLang="zh-CN" sz="1600" dirty="0" smtClean="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marR="0" indent="0" algn="l" defTabSz="914400" rtl="0" eaLnBrk="1" fontAlgn="auto" latinLnBrk="0" hangingPunct="1">
                        <a:lnSpc>
                          <a:spcPct val="115000"/>
                        </a:lnSpc>
                        <a:spcBef>
                          <a:spcPts val="0"/>
                        </a:spcBef>
                        <a:spcAft>
                          <a:spcPts val="0"/>
                        </a:spcAft>
                        <a:buClrTx/>
                        <a:buSzTx/>
                        <a:buFontTx/>
                        <a:buNone/>
                        <a:tabLst/>
                        <a:defRPr/>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dirty="0" smtClean="0">
                          <a:effectLst/>
                          <a:latin typeface="Arial Unicode MS" panose="020B0604020202020204" pitchFamily="34" charset="-122"/>
                          <a:ea typeface="Arial Unicode MS" panose="020B0604020202020204" pitchFamily="34" charset="-122"/>
                          <a:cs typeface="Arial Unicode MS" panose="020B0604020202020204" pitchFamily="34" charset="-122"/>
                        </a:rPr>
                        <a:t>Yes</a:t>
                      </a:r>
                      <a:endParaRPr lang="zh-CN" altLang="zh-CN" sz="1600" dirty="0" smtClean="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0" marR="0" marT="0" marB="0"/>
                </a:tc>
              </a:tr>
              <a:tr h="238594">
                <a:tc>
                  <a:txBody>
                    <a:bodyPr/>
                    <a:lstStyle/>
                    <a:p>
                      <a:pPr>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b"/>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b"/>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b"/>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b"/>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b"/>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b"/>
                </a:tc>
              </a:tr>
              <a:tr h="238594">
                <a:tc>
                  <a:txBody>
                    <a:bodyPr/>
                    <a:lstStyle/>
                    <a:p>
                      <a:pPr>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Observations</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2204</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b"/>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2204</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b"/>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2204</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b"/>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2000</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b"/>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2000</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b"/>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2000</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b"/>
                </a:tc>
              </a:tr>
              <a:tr h="238594">
                <a:tc>
                  <a:txBody>
                    <a:bodyPr/>
                    <a:lstStyle/>
                    <a:p>
                      <a:pPr>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Adj. R</a:t>
                      </a:r>
                      <a:r>
                        <a:rPr lang="en-US" sz="1600" baseline="30000">
                          <a:effectLst/>
                          <a:latin typeface="Arial Unicode MS" panose="020B0604020202020204" pitchFamily="34" charset="-122"/>
                          <a:ea typeface="Arial Unicode MS" panose="020B0604020202020204" pitchFamily="34" charset="-122"/>
                          <a:cs typeface="Arial Unicode MS" panose="020B0604020202020204" pitchFamily="34" charset="-122"/>
                        </a:rPr>
                        <a:t>2</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0.307</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b"/>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0.311</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b"/>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0.376</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b"/>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0.309</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b"/>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0.312</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b"/>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0.372</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b"/>
                </a:tc>
              </a:tr>
              <a:tr h="238594">
                <a:tc>
                  <a:txBody>
                    <a:bodyPr/>
                    <a:lstStyle/>
                    <a:p>
                      <a:pPr>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F</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37.15</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37.86</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50.13</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marL="30480">
                        <a:lnSpc>
                          <a:spcPct val="115000"/>
                        </a:lnSpc>
                        <a:spcAft>
                          <a:spcPts val="0"/>
                        </a:spcAft>
                      </a:pPr>
                      <a:r>
                        <a:rPr lang="en-US" sz="1600">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sz="160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tc>
                <a:tc>
                  <a:txBody>
                    <a:bodyPr/>
                    <a:lstStyle/>
                    <a:p>
                      <a:pPr marL="30480">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34.18</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marL="30480">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34.58</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c>
                  <a:txBody>
                    <a:bodyPr/>
                    <a:lstStyle/>
                    <a:p>
                      <a:pPr marL="30480">
                        <a:lnSpc>
                          <a:spcPct val="115000"/>
                        </a:lnSpc>
                        <a:spcAft>
                          <a:spcPts val="0"/>
                        </a:spcAft>
                      </a:pPr>
                      <a:r>
                        <a:rPr lang="en-US" sz="1600" dirty="0">
                          <a:effectLst/>
                          <a:latin typeface="Arial Unicode MS" panose="020B0604020202020204" pitchFamily="34" charset="-122"/>
                          <a:ea typeface="Arial Unicode MS" panose="020B0604020202020204" pitchFamily="34" charset="-122"/>
                          <a:cs typeface="Arial Unicode MS" panose="020B0604020202020204" pitchFamily="34" charset="-122"/>
                        </a:rPr>
                        <a:t>44.79</a:t>
                      </a:r>
                      <a:endParaRPr lang="zh-CN" sz="16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tc>
              </a:tr>
            </a:tbl>
          </a:graphicData>
        </a:graphic>
      </p:graphicFrame>
      <p:sp>
        <p:nvSpPr>
          <p:cNvPr id="11" name="TextBox 10"/>
          <p:cNvSpPr txBox="1"/>
          <p:nvPr/>
        </p:nvSpPr>
        <p:spPr>
          <a:xfrm>
            <a:off x="822829" y="2403901"/>
            <a:ext cx="7635372" cy="830997"/>
          </a:xfrm>
          <a:prstGeom prst="rect">
            <a:avLst/>
          </a:prstGeom>
          <a:noFill/>
        </p:spPr>
        <p:txBody>
          <a:bodyPr wrap="square" rtlCol="0">
            <a:spAutoFit/>
          </a:bodyPr>
          <a:lstStyle/>
          <a:p>
            <a:pPr marL="0" lvl="1"/>
            <a:r>
              <a:rPr lang="en-US" altLang="zh-CN" sz="1600" dirty="0">
                <a:latin typeface="Calibri" panose="020F0502020204030204" pitchFamily="34" charset="0"/>
              </a:rPr>
              <a:t>Firms hold smaller cash reserves when their controlling shareholders have larger incentives to expropriate.</a:t>
            </a:r>
            <a:endParaRPr lang="zh-CN" altLang="en-US" sz="1600" dirty="0">
              <a:latin typeface="Calibri" panose="020F0502020204030204" pitchFamily="34" charset="0"/>
            </a:endParaRPr>
          </a:p>
          <a:p>
            <a:endParaRPr lang="en-US" sz="1600" dirty="0">
              <a:latin typeface="Calibri" panose="020F0502020204030204" pitchFamily="34" charset="0"/>
            </a:endParaRPr>
          </a:p>
        </p:txBody>
      </p:sp>
    </p:spTree>
    <p:extLst>
      <p:ext uri="{BB962C8B-B14F-4D97-AF65-F5344CB8AC3E}">
        <p14:creationId xmlns:p14="http://schemas.microsoft.com/office/powerpoint/2010/main" val="21663630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49313" y="332656"/>
            <a:ext cx="7445375" cy="648072"/>
          </a:xfrm>
        </p:spPr>
        <p:txBody>
          <a:bodyPr/>
          <a:lstStyle/>
          <a:p>
            <a:r>
              <a:rPr lang="en-GB" dirty="0"/>
              <a:t>Parent performance and the </a:t>
            </a:r>
            <a:r>
              <a:rPr lang="en-GB" dirty="0" smtClean="0"/>
              <a:t>value </a:t>
            </a:r>
            <a:r>
              <a:rPr lang="en-GB" dirty="0"/>
              <a:t>of listed firm cash holdings</a:t>
            </a:r>
            <a:endParaRPr lang="en-US" dirty="0"/>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447800"/>
            <a:ext cx="8234162"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381000" y="4105870"/>
            <a:ext cx="1981200" cy="923330"/>
          </a:xfrm>
          <a:prstGeom prst="rect">
            <a:avLst/>
          </a:prstGeom>
          <a:noFill/>
        </p:spPr>
        <p:txBody>
          <a:bodyPr wrap="square" rtlCol="0">
            <a:spAutoFit/>
          </a:bodyPr>
          <a:lstStyle/>
          <a:p>
            <a:r>
              <a:rPr lang="en-US" dirty="0" smtClean="0">
                <a:latin typeface="Calibri" panose="020F0502020204030204" pitchFamily="34" charset="0"/>
              </a:rPr>
              <a:t>Excess returns relative to </a:t>
            </a:r>
            <a:r>
              <a:rPr lang="en-US" dirty="0" err="1" smtClean="0">
                <a:latin typeface="Calibri" panose="020F0502020204030204" pitchFamily="34" charset="0"/>
              </a:rPr>
              <a:t>Carhart</a:t>
            </a:r>
            <a:r>
              <a:rPr lang="en-US" dirty="0" smtClean="0">
                <a:latin typeface="Calibri" panose="020F0502020204030204" pitchFamily="34" charset="0"/>
              </a:rPr>
              <a:t> 4-factor model</a:t>
            </a:r>
            <a:endParaRPr lang="en-US" dirty="0">
              <a:latin typeface="Calibri" panose="020F0502020204030204" pitchFamily="34" charset="0"/>
            </a:endParaRPr>
          </a:p>
        </p:txBody>
      </p:sp>
      <p:cxnSp>
        <p:nvCxnSpPr>
          <p:cNvPr id="7" name="Straight Arrow Connector 6"/>
          <p:cNvCxnSpPr/>
          <p:nvPr/>
        </p:nvCxnSpPr>
        <p:spPr>
          <a:xfrm flipV="1">
            <a:off x="1066800" y="2057400"/>
            <a:ext cx="228600" cy="1981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820365" y="5657671"/>
            <a:ext cx="6096000" cy="1200329"/>
          </a:xfrm>
          <a:prstGeom prst="rect">
            <a:avLst/>
          </a:prstGeom>
          <a:noFill/>
        </p:spPr>
        <p:txBody>
          <a:bodyPr wrap="square" rtlCol="0">
            <a:spAutoFit/>
          </a:bodyPr>
          <a:lstStyle/>
          <a:p>
            <a:r>
              <a:rPr lang="en-US" dirty="0" smtClean="0">
                <a:latin typeface="Calibri" panose="020F0502020204030204" pitchFamily="34" charset="0"/>
              </a:rPr>
              <a:t>Model adapted from </a:t>
            </a:r>
            <a:r>
              <a:rPr lang="en-US" dirty="0" err="1" smtClean="0">
                <a:latin typeface="Calibri" panose="020F0502020204030204" pitchFamily="34" charset="0"/>
              </a:rPr>
              <a:t>Faulkender</a:t>
            </a:r>
            <a:r>
              <a:rPr lang="en-US" dirty="0" smtClean="0">
                <a:latin typeface="Calibri" panose="020F0502020204030204" pitchFamily="34" charset="0"/>
              </a:rPr>
              <a:t> and Wang (2006). Estimated coefficients can be </a:t>
            </a:r>
            <a:r>
              <a:rPr lang="en-GB" dirty="0">
                <a:latin typeface="Calibri" panose="020F0502020204030204" pitchFamily="34" charset="0"/>
              </a:rPr>
              <a:t>interpreted as the dollar change in the firm’s market value that results from a one dollar change in the explanatory variable</a:t>
            </a:r>
            <a:endParaRPr lang="en-US" dirty="0">
              <a:latin typeface="Calibri" panose="020F0502020204030204" pitchFamily="34" charset="0"/>
            </a:endParaRPr>
          </a:p>
        </p:txBody>
      </p:sp>
      <p:sp>
        <p:nvSpPr>
          <p:cNvPr id="9" name="TextBox 8"/>
          <p:cNvSpPr txBox="1"/>
          <p:nvPr/>
        </p:nvSpPr>
        <p:spPr>
          <a:xfrm>
            <a:off x="5188352" y="4141560"/>
            <a:ext cx="1981200" cy="923330"/>
          </a:xfrm>
          <a:prstGeom prst="rect">
            <a:avLst/>
          </a:prstGeom>
          <a:noFill/>
        </p:spPr>
        <p:txBody>
          <a:bodyPr wrap="square" rtlCol="0">
            <a:spAutoFit/>
          </a:bodyPr>
          <a:lstStyle/>
          <a:p>
            <a:r>
              <a:rPr lang="en-US" dirty="0" smtClean="0">
                <a:latin typeface="Calibri" panose="020F0502020204030204" pitchFamily="34" charset="0"/>
              </a:rPr>
              <a:t>The sign of this coefficient is what we want to analyze</a:t>
            </a:r>
            <a:endParaRPr lang="en-US" dirty="0">
              <a:latin typeface="Calibri" panose="020F0502020204030204" pitchFamily="34" charset="0"/>
            </a:endParaRPr>
          </a:p>
        </p:txBody>
      </p:sp>
      <p:cxnSp>
        <p:nvCxnSpPr>
          <p:cNvPr id="10" name="Straight Arrow Connector 9"/>
          <p:cNvCxnSpPr/>
          <p:nvPr/>
        </p:nvCxnSpPr>
        <p:spPr>
          <a:xfrm flipH="1" flipV="1">
            <a:off x="4495800" y="3224266"/>
            <a:ext cx="692552" cy="12954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55500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3571251382"/>
              </p:ext>
            </p:extLst>
          </p:nvPr>
        </p:nvGraphicFramePr>
        <p:xfrm>
          <a:off x="159590" y="1230808"/>
          <a:ext cx="8352930" cy="5088609"/>
        </p:xfrm>
        <a:graphic>
          <a:graphicData uri="http://schemas.openxmlformats.org/drawingml/2006/table">
            <a:tbl>
              <a:tblPr firstRow="1" firstCol="1" bandCol="1">
                <a:tableStyleId>{5C22544A-7EE6-4342-B048-85BDC9FD1C3A}</a:tableStyleId>
              </a:tblPr>
              <a:tblGrid>
                <a:gridCol w="2304256"/>
                <a:gridCol w="792088"/>
                <a:gridCol w="792088"/>
                <a:gridCol w="864096"/>
                <a:gridCol w="936104"/>
                <a:gridCol w="720080"/>
                <a:gridCol w="144016"/>
                <a:gridCol w="922223"/>
                <a:gridCol w="877979"/>
              </a:tblGrid>
              <a:tr h="407013">
                <a:tc>
                  <a:txBody>
                    <a:bodyPr/>
                    <a:lstStyle/>
                    <a:p>
                      <a:pP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b="1"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b"/>
                </a:tc>
                <a:tc>
                  <a:txBody>
                    <a:bodyPr/>
                    <a:lstStyle/>
                    <a:p>
                      <a:pPr algn="ctr">
                        <a:lnSpc>
                          <a:spcPct val="115000"/>
                        </a:lnSpc>
                        <a:spcAft>
                          <a:spcPts val="100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All firms</a:t>
                      </a:r>
                      <a:endParaRPr lang="zh-CN" sz="12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100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All firms</a:t>
                      </a:r>
                      <a:endParaRPr lang="zh-CN" sz="12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100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All firms</a:t>
                      </a:r>
                      <a:endParaRPr lang="zh-CN" sz="12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100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All firms</a:t>
                      </a:r>
                      <a:endParaRPr lang="zh-CN" sz="12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100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All firms</a:t>
                      </a:r>
                      <a:endParaRPr lang="zh-CN" sz="12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gridSpan="2">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Parents with large changes in </a:t>
                      </a:r>
                      <a:r>
                        <a:rPr lang="en-US" sz="1200" dirty="0" smtClean="0">
                          <a:effectLst/>
                          <a:latin typeface="Calibri" panose="020F0502020204030204" pitchFamily="34" charset="0"/>
                          <a:ea typeface="Arial Unicode MS" panose="020B0604020202020204" pitchFamily="34" charset="-122"/>
                          <a:cs typeface="Arial Unicode MS" panose="020B0604020202020204" pitchFamily="34" charset="-122"/>
                        </a:rPr>
                        <a:t>performance</a:t>
                      </a:r>
                      <a:endParaRPr lang="zh-CN" sz="12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b"/>
                </a:tc>
                <a:tc hMerge="1">
                  <a:txBody>
                    <a:bodyPr/>
                    <a:lstStyle/>
                    <a:p>
                      <a:pPr>
                        <a:lnSpc>
                          <a:spcPct val="115000"/>
                        </a:lnSpc>
                        <a:spcAft>
                          <a:spcPts val="0"/>
                        </a:spcAft>
                      </a:pPr>
                      <a:endParaRPr lang="zh-CN" sz="1000" dirty="0">
                        <a:effectLst/>
                        <a:latin typeface="Calibri"/>
                        <a:ea typeface="宋体"/>
                        <a:cs typeface="Times New Roman"/>
                      </a:endParaRPr>
                    </a:p>
                  </a:txBody>
                  <a:tcPr marL="52089" marR="52089" marT="0" marB="0" anchor="b"/>
                </a:tc>
              </a:tr>
              <a:tr h="195829">
                <a:tc>
                  <a:txBody>
                    <a:bodyPr/>
                    <a:lstStyle/>
                    <a:p>
                      <a:pPr>
                        <a:lnSpc>
                          <a:spcPct val="115000"/>
                        </a:lnSpc>
                        <a:spcAft>
                          <a:spcPts val="0"/>
                        </a:spcAft>
                      </a:pPr>
                      <a:r>
                        <a:rPr lang="en-US" sz="105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05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b">
                    <a:solidFill>
                      <a:schemeClr val="tx2">
                        <a:lumMod val="60000"/>
                        <a:lumOff val="40000"/>
                      </a:schemeClr>
                    </a:solidFill>
                  </a:tcPr>
                </a:tc>
                <a:tc>
                  <a:txBody>
                    <a:bodyPr/>
                    <a:lstStyle/>
                    <a:p>
                      <a:pPr algn="ctr">
                        <a:lnSpc>
                          <a:spcPct val="115000"/>
                        </a:lnSpc>
                        <a:spcAft>
                          <a:spcPts val="0"/>
                        </a:spcAft>
                      </a:pPr>
                      <a:r>
                        <a:rPr lang="en-US" sz="1400" b="1" dirty="0" err="1">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CAR</a:t>
                      </a:r>
                      <a:r>
                        <a:rPr lang="en-US" sz="1400" b="1" baseline="-25000" dirty="0" err="1">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t</a:t>
                      </a:r>
                      <a:r>
                        <a:rPr lang="en-US" sz="14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4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b">
                    <a:solidFill>
                      <a:schemeClr val="tx2">
                        <a:lumMod val="60000"/>
                        <a:lumOff val="40000"/>
                      </a:schemeClr>
                    </a:solidFill>
                  </a:tcPr>
                </a:tc>
                <a:tc>
                  <a:txBody>
                    <a:bodyPr/>
                    <a:lstStyle/>
                    <a:p>
                      <a:pPr algn="ctr">
                        <a:lnSpc>
                          <a:spcPct val="115000"/>
                        </a:lnSpc>
                        <a:spcAft>
                          <a:spcPts val="0"/>
                        </a:spcAft>
                      </a:pPr>
                      <a:r>
                        <a:rPr lang="en-US" sz="1400" b="1" dirty="0" err="1">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CAR</a:t>
                      </a:r>
                      <a:r>
                        <a:rPr lang="en-US" sz="1400" b="1" baseline="-25000" dirty="0" err="1">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t</a:t>
                      </a:r>
                      <a:r>
                        <a:rPr lang="en-US" sz="14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4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b">
                    <a:solidFill>
                      <a:schemeClr val="tx2">
                        <a:lumMod val="60000"/>
                        <a:lumOff val="40000"/>
                      </a:schemeClr>
                    </a:solidFill>
                  </a:tcPr>
                </a:tc>
                <a:tc>
                  <a:txBody>
                    <a:bodyPr/>
                    <a:lstStyle/>
                    <a:p>
                      <a:pPr algn="ctr">
                        <a:lnSpc>
                          <a:spcPct val="115000"/>
                        </a:lnSpc>
                        <a:spcAft>
                          <a:spcPts val="0"/>
                        </a:spcAft>
                      </a:pPr>
                      <a:r>
                        <a:rPr lang="en-US" sz="1400" b="1" dirty="0" err="1">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CAR</a:t>
                      </a:r>
                      <a:r>
                        <a:rPr lang="en-US" sz="1400" b="1" baseline="-25000" dirty="0" err="1">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t</a:t>
                      </a:r>
                      <a:r>
                        <a:rPr lang="en-US" sz="14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4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b">
                    <a:solidFill>
                      <a:schemeClr val="tx2">
                        <a:lumMod val="60000"/>
                        <a:lumOff val="40000"/>
                      </a:schemeClr>
                    </a:solidFill>
                  </a:tcPr>
                </a:tc>
                <a:tc>
                  <a:txBody>
                    <a:bodyPr/>
                    <a:lstStyle/>
                    <a:p>
                      <a:pPr algn="ctr">
                        <a:lnSpc>
                          <a:spcPct val="115000"/>
                        </a:lnSpc>
                        <a:spcAft>
                          <a:spcPts val="0"/>
                        </a:spcAft>
                      </a:pPr>
                      <a:r>
                        <a:rPr lang="en-US" sz="1400" b="1" dirty="0" err="1">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CAR</a:t>
                      </a:r>
                      <a:r>
                        <a:rPr lang="en-US" sz="1400" b="1" baseline="-25000" dirty="0" err="1">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t</a:t>
                      </a:r>
                      <a:r>
                        <a:rPr lang="en-US" sz="14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4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b">
                    <a:solidFill>
                      <a:schemeClr val="tx2">
                        <a:lumMod val="60000"/>
                        <a:lumOff val="40000"/>
                      </a:schemeClr>
                    </a:solidFill>
                  </a:tcPr>
                </a:tc>
                <a:tc>
                  <a:txBody>
                    <a:bodyPr/>
                    <a:lstStyle/>
                    <a:p>
                      <a:pPr algn="ctr">
                        <a:lnSpc>
                          <a:spcPct val="115000"/>
                        </a:lnSpc>
                        <a:spcAft>
                          <a:spcPts val="0"/>
                        </a:spcAft>
                      </a:pPr>
                      <a:r>
                        <a:rPr lang="en-US" sz="1400" b="1" dirty="0" err="1">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CAR</a:t>
                      </a:r>
                      <a:r>
                        <a:rPr lang="en-US" sz="1400" b="1" baseline="-25000" dirty="0" err="1">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t</a:t>
                      </a:r>
                      <a:r>
                        <a:rPr lang="en-US" sz="14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4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solidFill>
                      <a:schemeClr val="tx2">
                        <a:lumMod val="60000"/>
                        <a:lumOff val="40000"/>
                      </a:schemeClr>
                    </a:solidFill>
                  </a:tcPr>
                </a:tc>
                <a:tc>
                  <a:txBody>
                    <a:bodyPr/>
                    <a:lstStyle/>
                    <a:p>
                      <a:pPr algn="ctr">
                        <a:lnSpc>
                          <a:spcPct val="115000"/>
                        </a:lnSpc>
                        <a:spcAft>
                          <a:spcPts val="0"/>
                        </a:spcAft>
                      </a:pPr>
                      <a:r>
                        <a:rPr lang="en-US" sz="14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4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solidFill>
                      <a:schemeClr val="tx2">
                        <a:lumMod val="60000"/>
                        <a:lumOff val="40000"/>
                      </a:schemeClr>
                    </a:solidFill>
                  </a:tcPr>
                </a:tc>
                <a:tc>
                  <a:txBody>
                    <a:bodyPr/>
                    <a:lstStyle/>
                    <a:p>
                      <a:pPr algn="ctr">
                        <a:lnSpc>
                          <a:spcPct val="115000"/>
                        </a:lnSpc>
                        <a:spcAft>
                          <a:spcPts val="0"/>
                        </a:spcAft>
                      </a:pPr>
                      <a:r>
                        <a:rPr lang="en-US" sz="1400" b="1" dirty="0" err="1">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CAR</a:t>
                      </a:r>
                      <a:r>
                        <a:rPr lang="en-US" sz="1400" b="1" baseline="-25000" dirty="0" err="1">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t</a:t>
                      </a:r>
                      <a:r>
                        <a:rPr lang="en-US" sz="14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4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b">
                    <a:solidFill>
                      <a:schemeClr val="tx2">
                        <a:lumMod val="60000"/>
                        <a:lumOff val="40000"/>
                      </a:schemeClr>
                    </a:solidFill>
                  </a:tcPr>
                </a:tc>
                <a:tc>
                  <a:txBody>
                    <a:bodyPr/>
                    <a:lstStyle/>
                    <a:p>
                      <a:pPr algn="ctr">
                        <a:lnSpc>
                          <a:spcPct val="115000"/>
                        </a:lnSpc>
                        <a:spcAft>
                          <a:spcPts val="0"/>
                        </a:spcAft>
                      </a:pPr>
                      <a:r>
                        <a:rPr lang="en-US" sz="1400" b="1" dirty="0" err="1">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CAR</a:t>
                      </a:r>
                      <a:r>
                        <a:rPr lang="en-US" sz="1400" b="1" baseline="-25000" dirty="0" err="1">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t</a:t>
                      </a:r>
                      <a:r>
                        <a:rPr lang="en-US" sz="14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400" b="1" dirty="0">
                        <a:solidFill>
                          <a:schemeClr val="bg1"/>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b">
                    <a:solidFill>
                      <a:schemeClr val="tx2">
                        <a:lumMod val="60000"/>
                        <a:lumOff val="40000"/>
                      </a:schemeClr>
                    </a:solidFill>
                  </a:tcPr>
                </a:tc>
              </a:tr>
              <a:tr h="195829">
                <a:tc>
                  <a:txBody>
                    <a:bodyPr/>
                    <a:lstStyle/>
                    <a:p>
                      <a:pPr>
                        <a:lnSpc>
                          <a:spcPct val="115000"/>
                        </a:lnSpc>
                        <a:spcAft>
                          <a:spcPts val="0"/>
                        </a:spcAft>
                      </a:pPr>
                      <a:r>
                        <a:rPr lang="en-US" sz="105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05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c>
                  <a:txBody>
                    <a:bodyPr/>
                    <a:lstStyle/>
                    <a:p>
                      <a:pPr algn="ctr">
                        <a:lnSpc>
                          <a:spcPct val="115000"/>
                        </a:lnSpc>
                        <a:spcAft>
                          <a:spcPts val="0"/>
                        </a:spcAft>
                      </a:pPr>
                      <a:r>
                        <a:rPr lang="en-US" sz="105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05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05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05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05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05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05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05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05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05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05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05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05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05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05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05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r>
              <a:tr h="195829">
                <a:tc>
                  <a:txBody>
                    <a:bodyPr/>
                    <a:lstStyle/>
                    <a:p>
                      <a:pPr>
                        <a:lnSpc>
                          <a:spcPct val="115000"/>
                        </a:lnSpc>
                        <a:spcAft>
                          <a:spcPts val="0"/>
                        </a:spcAft>
                      </a:pP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Parent characteristics</a:t>
                      </a:r>
                      <a:endParaRPr lang="zh-CN" sz="14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r>
              <a:tr h="205854">
                <a:tc>
                  <a:txBody>
                    <a:bodyPr/>
                    <a:lstStyle/>
                    <a:p>
                      <a:pPr>
                        <a:lnSpc>
                          <a:spcPct val="115000"/>
                        </a:lnSpc>
                        <a:spcAft>
                          <a:spcPts val="0"/>
                        </a:spcAft>
                      </a:pP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(1) Parent </a:t>
                      </a:r>
                      <a:r>
                        <a:rPr lang="en-US" sz="1400" dirty="0" err="1">
                          <a:effectLst/>
                          <a:latin typeface="Calibri" panose="020F0502020204030204" pitchFamily="34" charset="0"/>
                          <a:ea typeface="Arial Unicode MS" panose="020B0604020202020204" pitchFamily="34" charset="-122"/>
                          <a:cs typeface="Arial Unicode MS" panose="020B0604020202020204" pitchFamily="34" charset="-122"/>
                        </a:rPr>
                        <a:t>ROA</a:t>
                      </a:r>
                      <a:r>
                        <a:rPr lang="en-US" sz="1400" baseline="-25000" dirty="0" err="1">
                          <a:effectLst/>
                          <a:latin typeface="Calibri" panose="020F0502020204030204" pitchFamily="34" charset="0"/>
                          <a:ea typeface="Arial Unicode MS" panose="020B0604020202020204" pitchFamily="34" charset="-122"/>
                          <a:cs typeface="Arial Unicode MS" panose="020B0604020202020204" pitchFamily="34" charset="-122"/>
                        </a:rPr>
                        <a:t>t</a:t>
                      </a:r>
                      <a:endParaRPr lang="zh-CN" sz="14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1.224 </a:t>
                      </a:r>
                      <a:r>
                        <a:rPr lang="en-US" sz="1200" dirty="0" smtClean="0">
                          <a:effectLst/>
                          <a:latin typeface="Calibri" panose="020F0502020204030204" pitchFamily="34" charset="0"/>
                          <a:ea typeface="Arial Unicode MS" panose="020B0604020202020204" pitchFamily="34" charset="-122"/>
                          <a:cs typeface="Arial Unicode MS" panose="020B0604020202020204" pitchFamily="34" charset="-122"/>
                        </a:rPr>
                        <a:t>***</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smtClean="0">
                          <a:effectLst/>
                          <a:latin typeface="Calibri" panose="020F0502020204030204" pitchFamily="34" charset="0"/>
                          <a:ea typeface="Arial Unicode MS" panose="020B0604020202020204" pitchFamily="34" charset="-122"/>
                          <a:cs typeface="Arial Unicode MS" panose="020B0604020202020204" pitchFamily="34" charset="-122"/>
                        </a:rPr>
                        <a:t>1.288***</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smtClean="0">
                          <a:effectLst/>
                          <a:latin typeface="Calibri" panose="020F0502020204030204" pitchFamily="34" charset="0"/>
                          <a:ea typeface="Arial Unicode MS" panose="020B0604020202020204" pitchFamily="34" charset="-122"/>
                          <a:cs typeface="Arial Unicode MS" panose="020B0604020202020204" pitchFamily="34" charset="-122"/>
                        </a:rPr>
                        <a:t>1.331***</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1.002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b"/>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r>
              <a:tr h="244208">
                <a:tc>
                  <a:txBody>
                    <a:bodyPr/>
                    <a:lstStyle/>
                    <a:p>
                      <a:pPr>
                        <a:lnSpc>
                          <a:spcPct val="115000"/>
                        </a:lnSpc>
                        <a:spcAft>
                          <a:spcPts val="0"/>
                        </a:spcAft>
                      </a:pP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(2) Parent </a:t>
                      </a:r>
                      <a:r>
                        <a:rPr lang="en-US" sz="1400" dirty="0" err="1">
                          <a:effectLst/>
                          <a:latin typeface="Calibri" panose="020F0502020204030204" pitchFamily="34" charset="0"/>
                          <a:ea typeface="Arial Unicode MS" panose="020B0604020202020204" pitchFamily="34" charset="-122"/>
                          <a:cs typeface="Arial Unicode MS" panose="020B0604020202020204" pitchFamily="34" charset="-122"/>
                        </a:rPr>
                        <a:t>ROA</a:t>
                      </a:r>
                      <a:r>
                        <a:rPr lang="en-US" sz="1400" baseline="-25000" dirty="0" err="1">
                          <a:effectLst/>
                          <a:latin typeface="Calibri" panose="020F0502020204030204" pitchFamily="34" charset="0"/>
                          <a:ea typeface="Arial Unicode MS" panose="020B0604020202020204" pitchFamily="34" charset="-122"/>
                          <a:cs typeface="Arial Unicode MS" panose="020B0604020202020204" pitchFamily="34" charset="-122"/>
                        </a:rPr>
                        <a:t>t</a:t>
                      </a: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 × </a:t>
                      </a:r>
                      <a:r>
                        <a:rPr lang="en-US" sz="1400" dirty="0" err="1">
                          <a:effectLst/>
                          <a:latin typeface="Calibri" panose="020F0502020204030204" pitchFamily="34" charset="0"/>
                          <a:ea typeface="Arial Unicode MS" panose="020B0604020202020204" pitchFamily="34" charset="-122"/>
                          <a:cs typeface="Arial Unicode MS" panose="020B0604020202020204" pitchFamily="34" charset="-122"/>
                        </a:rPr>
                        <a:t>ΔC</a:t>
                      </a:r>
                      <a:r>
                        <a:rPr lang="en-US" sz="1400" baseline="-25000" dirty="0" err="1">
                          <a:effectLst/>
                          <a:latin typeface="Calibri" panose="020F0502020204030204" pitchFamily="34" charset="0"/>
                          <a:ea typeface="Arial Unicode MS" panose="020B0604020202020204" pitchFamily="34" charset="-122"/>
                          <a:cs typeface="Arial Unicode MS" panose="020B0604020202020204" pitchFamily="34" charset="-122"/>
                        </a:rPr>
                        <a:t>t</a:t>
                      </a: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/M</a:t>
                      </a:r>
                      <a:r>
                        <a:rPr lang="en-US" sz="1400" baseline="-25000" dirty="0">
                          <a:effectLst/>
                          <a:latin typeface="Calibri" panose="020F0502020204030204" pitchFamily="34" charset="0"/>
                          <a:ea typeface="Arial Unicode MS" panose="020B0604020202020204" pitchFamily="34" charset="-122"/>
                          <a:cs typeface="Arial Unicode MS" panose="020B0604020202020204" pitchFamily="34" charset="-122"/>
                        </a:rPr>
                        <a:t>t-1</a:t>
                      </a:r>
                      <a:endParaRPr lang="zh-CN" sz="14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c>
                  <a:txBody>
                    <a:bodyPr/>
                    <a:lstStyle/>
                    <a:p>
                      <a:pPr algn="ctr">
                        <a:lnSpc>
                          <a:spcPct val="115000"/>
                        </a:lnSpc>
                        <a:spcAft>
                          <a:spcPts val="0"/>
                        </a:spcAft>
                      </a:pPr>
                      <a:r>
                        <a:rPr lang="en-US" sz="1200" b="1" dirty="0" smtClean="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rPr>
                        <a:t>4.401***</a:t>
                      </a:r>
                      <a:endParaRPr lang="zh-CN"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b="1" dirty="0" smtClean="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rPr>
                        <a:t>5.369***</a:t>
                      </a:r>
                      <a:endParaRPr lang="zh-CN"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b="1" dirty="0" smtClean="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rPr>
                        <a:t>5.641***</a:t>
                      </a:r>
                      <a:endParaRPr lang="zh-CN"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rPr>
                        <a:t>9.001 </a:t>
                      </a:r>
                      <a:r>
                        <a:rPr lang="en-US" sz="1200" b="1" dirty="0" smtClean="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rPr>
                        <a:t>**</a:t>
                      </a:r>
                      <a:endParaRPr lang="zh-CN"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b"/>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r>
              <a:tr h="195829">
                <a:tc>
                  <a:txBody>
                    <a:bodyPr/>
                    <a:lstStyle/>
                    <a:p>
                      <a:pPr>
                        <a:lnSpc>
                          <a:spcPct val="115000"/>
                        </a:lnSpc>
                        <a:spcAft>
                          <a:spcPts val="0"/>
                        </a:spcAft>
                      </a:pP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(3) Parent </a:t>
                      </a:r>
                      <a:r>
                        <a:rPr lang="en-US" sz="1400" dirty="0" err="1">
                          <a:effectLst/>
                          <a:latin typeface="Calibri" panose="020F0502020204030204" pitchFamily="34" charset="0"/>
                          <a:ea typeface="Arial Unicode MS" panose="020B0604020202020204" pitchFamily="34" charset="-122"/>
                          <a:cs typeface="Arial Unicode MS" panose="020B0604020202020204" pitchFamily="34" charset="-122"/>
                        </a:rPr>
                        <a:t>CF</a:t>
                      </a:r>
                      <a:r>
                        <a:rPr lang="en-US" sz="1400" baseline="-25000" dirty="0" err="1">
                          <a:effectLst/>
                          <a:latin typeface="Calibri" panose="020F0502020204030204" pitchFamily="34" charset="0"/>
                          <a:ea typeface="Arial Unicode MS" panose="020B0604020202020204" pitchFamily="34" charset="-122"/>
                          <a:cs typeface="Arial Unicode MS" panose="020B0604020202020204" pitchFamily="34" charset="-122"/>
                        </a:rPr>
                        <a:t>t</a:t>
                      </a:r>
                      <a:endParaRPr lang="zh-CN" sz="14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1.116 </a:t>
                      </a:r>
                      <a:r>
                        <a:rPr lang="en-US" sz="1200" dirty="0" smtClean="0">
                          <a:effectLst/>
                          <a:latin typeface="Calibri" panose="020F0502020204030204" pitchFamily="34" charset="0"/>
                          <a:ea typeface="Arial Unicode MS" panose="020B0604020202020204" pitchFamily="34" charset="-122"/>
                          <a:cs typeface="Arial Unicode MS" panose="020B0604020202020204" pitchFamily="34" charset="-122"/>
                        </a:rPr>
                        <a:t>***</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smtClean="0">
                          <a:effectLst/>
                          <a:latin typeface="Calibri" panose="020F0502020204030204" pitchFamily="34" charset="0"/>
                          <a:ea typeface="Arial Unicode MS" panose="020B0604020202020204" pitchFamily="34" charset="-122"/>
                          <a:cs typeface="Arial Unicode MS" panose="020B0604020202020204" pitchFamily="34" charset="-122"/>
                        </a:rPr>
                        <a:t>1.186***</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smtClean="0">
                          <a:effectLst/>
                          <a:latin typeface="Calibri" panose="020F0502020204030204" pitchFamily="34" charset="0"/>
                          <a:ea typeface="Arial Unicode MS" panose="020B0604020202020204" pitchFamily="34" charset="-122"/>
                          <a:cs typeface="Arial Unicode MS" panose="020B0604020202020204" pitchFamily="34" charset="-122"/>
                        </a:rPr>
                        <a:t>1.019*</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nchor="b"/>
                </a:tc>
              </a:tr>
              <a:tr h="195829">
                <a:tc>
                  <a:txBody>
                    <a:bodyPr/>
                    <a:lstStyle/>
                    <a:p>
                      <a:pPr>
                        <a:lnSpc>
                          <a:spcPct val="115000"/>
                        </a:lnSpc>
                        <a:spcAft>
                          <a:spcPts val="0"/>
                        </a:spcAft>
                      </a:pP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(4) Parent </a:t>
                      </a:r>
                      <a:r>
                        <a:rPr lang="en-US" sz="1400" dirty="0" err="1">
                          <a:effectLst/>
                          <a:latin typeface="Calibri" panose="020F0502020204030204" pitchFamily="34" charset="0"/>
                          <a:ea typeface="Arial Unicode MS" panose="020B0604020202020204" pitchFamily="34" charset="-122"/>
                          <a:cs typeface="Arial Unicode MS" panose="020B0604020202020204" pitchFamily="34" charset="-122"/>
                        </a:rPr>
                        <a:t>CF</a:t>
                      </a:r>
                      <a:r>
                        <a:rPr lang="en-US" sz="1400" baseline="-25000" dirty="0" err="1">
                          <a:effectLst/>
                          <a:latin typeface="Calibri" panose="020F0502020204030204" pitchFamily="34" charset="0"/>
                          <a:ea typeface="Arial Unicode MS" panose="020B0604020202020204" pitchFamily="34" charset="-122"/>
                          <a:cs typeface="Arial Unicode MS" panose="020B0604020202020204" pitchFamily="34" charset="-122"/>
                        </a:rPr>
                        <a:t>t</a:t>
                      </a: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 × </a:t>
                      </a:r>
                      <a:r>
                        <a:rPr lang="en-US" sz="1400" dirty="0" err="1">
                          <a:effectLst/>
                          <a:latin typeface="Calibri" panose="020F0502020204030204" pitchFamily="34" charset="0"/>
                          <a:ea typeface="Arial Unicode MS" panose="020B0604020202020204" pitchFamily="34" charset="-122"/>
                          <a:cs typeface="Arial Unicode MS" panose="020B0604020202020204" pitchFamily="34" charset="-122"/>
                        </a:rPr>
                        <a:t>ΔC</a:t>
                      </a:r>
                      <a:r>
                        <a:rPr lang="en-US" sz="1400" baseline="-25000" dirty="0" err="1">
                          <a:effectLst/>
                          <a:latin typeface="Calibri" panose="020F0502020204030204" pitchFamily="34" charset="0"/>
                          <a:ea typeface="Arial Unicode MS" panose="020B0604020202020204" pitchFamily="34" charset="-122"/>
                          <a:cs typeface="Arial Unicode MS" panose="020B0604020202020204" pitchFamily="34" charset="-122"/>
                        </a:rPr>
                        <a:t>t</a:t>
                      </a: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/M</a:t>
                      </a:r>
                      <a:r>
                        <a:rPr lang="en-US" sz="1400" baseline="-25000" dirty="0">
                          <a:effectLst/>
                          <a:latin typeface="Calibri" panose="020F0502020204030204" pitchFamily="34" charset="0"/>
                          <a:ea typeface="Arial Unicode MS" panose="020B0604020202020204" pitchFamily="34" charset="-122"/>
                          <a:cs typeface="Arial Unicode MS" panose="020B0604020202020204" pitchFamily="34" charset="-122"/>
                        </a:rPr>
                        <a:t>t-1</a:t>
                      </a:r>
                      <a:endParaRPr lang="zh-CN" sz="14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b="1" dirty="0" smtClean="0">
                          <a:effectLst/>
                          <a:latin typeface="Calibri" panose="020F0502020204030204" pitchFamily="34" charset="0"/>
                          <a:ea typeface="Arial Unicode MS" panose="020B0604020202020204" pitchFamily="34" charset="-122"/>
                          <a:cs typeface="Arial Unicode MS" panose="020B0604020202020204" pitchFamily="34" charset="-122"/>
                        </a:rPr>
                        <a:t>1.203</a:t>
                      </a:r>
                      <a:endParaRPr lang="zh-CN" sz="1200" b="1"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b="1"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b="1"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b="1" dirty="0" smtClean="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rPr>
                        <a:t>1.311**</a:t>
                      </a:r>
                      <a:endParaRPr lang="zh-CN"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b="1" dirty="0" smtClean="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rPr>
                        <a:t>15.066*</a:t>
                      </a:r>
                      <a:endParaRPr lang="zh-CN" sz="1200" b="1" dirty="0">
                        <a:solidFill>
                          <a:srgbClr val="FF0000"/>
                        </a:solidFill>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nchor="b"/>
                </a:tc>
              </a:tr>
              <a:tr h="196826">
                <a:tc>
                  <a:txBody>
                    <a:bodyPr/>
                    <a:lstStyle/>
                    <a:p>
                      <a:pPr>
                        <a:lnSpc>
                          <a:spcPct val="115000"/>
                        </a:lnSpc>
                        <a:spcAft>
                          <a:spcPts val="0"/>
                        </a:spcAft>
                      </a:pP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(5) SOE</a:t>
                      </a:r>
                      <a:endParaRPr lang="zh-CN" sz="14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smtClean="0">
                          <a:effectLst/>
                          <a:latin typeface="Calibri" panose="020F0502020204030204" pitchFamily="34" charset="0"/>
                          <a:ea typeface="Arial Unicode MS" panose="020B0604020202020204" pitchFamily="34" charset="-122"/>
                          <a:cs typeface="Arial Unicode MS" panose="020B0604020202020204" pitchFamily="34" charset="-122"/>
                        </a:rPr>
                        <a:t>0.032***</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smtClean="0">
                          <a:effectLst/>
                          <a:latin typeface="Calibri" panose="020F0502020204030204" pitchFamily="34" charset="0"/>
                          <a:ea typeface="Arial Unicode MS" panose="020B0604020202020204" pitchFamily="34" charset="-122"/>
                          <a:cs typeface="Arial Unicode MS" panose="020B0604020202020204" pitchFamily="34" charset="-122"/>
                        </a:rPr>
                        <a:t>0.052***</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nchor="ctr"/>
                </a:tc>
              </a:tr>
              <a:tr h="244208">
                <a:tc>
                  <a:txBody>
                    <a:bodyPr/>
                    <a:lstStyle/>
                    <a:p>
                      <a:pPr>
                        <a:lnSpc>
                          <a:spcPct val="115000"/>
                        </a:lnSpc>
                        <a:spcAft>
                          <a:spcPts val="0"/>
                        </a:spcAft>
                      </a:pP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(6) SOE  × </a:t>
                      </a:r>
                      <a:r>
                        <a:rPr lang="en-US" sz="1400" dirty="0" err="1">
                          <a:effectLst/>
                          <a:latin typeface="Calibri" panose="020F0502020204030204" pitchFamily="34" charset="0"/>
                          <a:ea typeface="Arial Unicode MS" panose="020B0604020202020204" pitchFamily="34" charset="-122"/>
                          <a:cs typeface="Arial Unicode MS" panose="020B0604020202020204" pitchFamily="34" charset="-122"/>
                        </a:rPr>
                        <a:t>ΔC</a:t>
                      </a:r>
                      <a:r>
                        <a:rPr lang="en-US" sz="1400" baseline="-25000" dirty="0" err="1">
                          <a:effectLst/>
                          <a:latin typeface="Calibri" panose="020F0502020204030204" pitchFamily="34" charset="0"/>
                          <a:ea typeface="Arial Unicode MS" panose="020B0604020202020204" pitchFamily="34" charset="-122"/>
                          <a:cs typeface="Arial Unicode MS" panose="020B0604020202020204" pitchFamily="34" charset="-122"/>
                        </a:rPr>
                        <a:t>t</a:t>
                      </a: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/M</a:t>
                      </a:r>
                      <a:r>
                        <a:rPr lang="en-US" sz="1400" baseline="-25000" dirty="0">
                          <a:effectLst/>
                          <a:latin typeface="Calibri" panose="020F0502020204030204" pitchFamily="34" charset="0"/>
                          <a:ea typeface="Arial Unicode MS" panose="020B0604020202020204" pitchFamily="34" charset="-122"/>
                          <a:cs typeface="Arial Unicode MS" panose="020B0604020202020204" pitchFamily="34" charset="-122"/>
                        </a:rPr>
                        <a:t>t-1</a:t>
                      </a:r>
                      <a:endParaRPr lang="zh-CN" sz="14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smtClean="0">
                          <a:effectLst/>
                          <a:latin typeface="Calibri" panose="020F0502020204030204" pitchFamily="34" charset="0"/>
                          <a:ea typeface="Arial Unicode MS" panose="020B0604020202020204" pitchFamily="34" charset="-122"/>
                          <a:cs typeface="Arial Unicode MS" panose="020B0604020202020204" pitchFamily="34" charset="-122"/>
                        </a:rPr>
                        <a:t>0.412***</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smtClean="0">
                          <a:effectLst/>
                          <a:latin typeface="Calibri" panose="020F0502020204030204" pitchFamily="34" charset="0"/>
                          <a:ea typeface="Arial Unicode MS" panose="020B0604020202020204" pitchFamily="34" charset="-122"/>
                          <a:cs typeface="Arial Unicode MS" panose="020B0604020202020204" pitchFamily="34" charset="-122"/>
                        </a:rPr>
                        <a:t>0.179</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nchor="ctr"/>
                </a:tc>
              </a:tr>
              <a:tr h="195829">
                <a:tc>
                  <a:txBody>
                    <a:bodyPr/>
                    <a:lstStyle/>
                    <a:p>
                      <a:pPr>
                        <a:lnSpc>
                          <a:spcPct val="115000"/>
                        </a:lnSpc>
                        <a:spcAft>
                          <a:spcPts val="0"/>
                        </a:spcAft>
                      </a:pP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(7) Local SOE</a:t>
                      </a:r>
                      <a:endParaRPr lang="zh-CN" sz="14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smtClean="0">
                          <a:effectLst/>
                          <a:latin typeface="Calibri" panose="020F0502020204030204" pitchFamily="34" charset="0"/>
                          <a:ea typeface="Arial Unicode MS" panose="020B0604020202020204" pitchFamily="34" charset="-122"/>
                          <a:cs typeface="Arial Unicode MS" panose="020B0604020202020204" pitchFamily="34" charset="-122"/>
                        </a:rPr>
                        <a:t>0.012**</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nchor="ctr"/>
                </a:tc>
              </a:tr>
              <a:tr h="195829">
                <a:tc>
                  <a:txBody>
                    <a:bodyPr/>
                    <a:lstStyle/>
                    <a:p>
                      <a:pPr>
                        <a:lnSpc>
                          <a:spcPct val="115000"/>
                        </a:lnSpc>
                        <a:spcAft>
                          <a:spcPts val="0"/>
                        </a:spcAft>
                      </a:pP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(8) Central SOE</a:t>
                      </a:r>
                      <a:endParaRPr lang="zh-CN" sz="14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smtClean="0">
                          <a:effectLst/>
                          <a:latin typeface="Calibri" panose="020F0502020204030204" pitchFamily="34" charset="0"/>
                          <a:ea typeface="Arial Unicode MS" panose="020B0604020202020204" pitchFamily="34" charset="-122"/>
                          <a:cs typeface="Arial Unicode MS" panose="020B0604020202020204" pitchFamily="34" charset="-122"/>
                        </a:rPr>
                        <a:t>0.105***</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nchor="ctr"/>
                </a:tc>
              </a:tr>
              <a:tr h="195829">
                <a:tc>
                  <a:txBody>
                    <a:bodyPr/>
                    <a:lstStyle/>
                    <a:p>
                      <a:pPr>
                        <a:lnSpc>
                          <a:spcPct val="115000"/>
                        </a:lnSpc>
                        <a:spcAft>
                          <a:spcPts val="0"/>
                        </a:spcAft>
                      </a:pP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(9) Local SOE × </a:t>
                      </a:r>
                      <a:r>
                        <a:rPr lang="en-US" sz="1400" dirty="0" err="1">
                          <a:effectLst/>
                          <a:latin typeface="Calibri" panose="020F0502020204030204" pitchFamily="34" charset="0"/>
                          <a:ea typeface="Arial Unicode MS" panose="020B0604020202020204" pitchFamily="34" charset="-122"/>
                          <a:cs typeface="Arial Unicode MS" panose="020B0604020202020204" pitchFamily="34" charset="-122"/>
                        </a:rPr>
                        <a:t>ΔC</a:t>
                      </a:r>
                      <a:r>
                        <a:rPr lang="en-US" sz="1400" baseline="-25000" dirty="0" err="1">
                          <a:effectLst/>
                          <a:latin typeface="Calibri" panose="020F0502020204030204" pitchFamily="34" charset="0"/>
                          <a:ea typeface="Arial Unicode MS" panose="020B0604020202020204" pitchFamily="34" charset="-122"/>
                          <a:cs typeface="Arial Unicode MS" panose="020B0604020202020204" pitchFamily="34" charset="-122"/>
                        </a:rPr>
                        <a:t>t</a:t>
                      </a: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/M</a:t>
                      </a:r>
                      <a:r>
                        <a:rPr lang="en-US" sz="1400" baseline="-25000" dirty="0">
                          <a:effectLst/>
                          <a:latin typeface="Calibri" panose="020F0502020204030204" pitchFamily="34" charset="0"/>
                          <a:ea typeface="Arial Unicode MS" panose="020B0604020202020204" pitchFamily="34" charset="-122"/>
                          <a:cs typeface="Arial Unicode MS" panose="020B0604020202020204" pitchFamily="34" charset="-122"/>
                        </a:rPr>
                        <a:t>t-1</a:t>
                      </a:r>
                      <a:endParaRPr lang="zh-CN" sz="14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smtClean="0">
                          <a:effectLst/>
                          <a:latin typeface="Calibri" panose="020F0502020204030204" pitchFamily="34" charset="0"/>
                          <a:ea typeface="Arial Unicode MS" panose="020B0604020202020204" pitchFamily="34" charset="-122"/>
                          <a:cs typeface="Arial Unicode MS" panose="020B0604020202020204" pitchFamily="34" charset="-122"/>
                        </a:rPr>
                        <a:t>0.381**</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nchor="ctr"/>
                </a:tc>
              </a:tr>
              <a:tr h="195829">
                <a:tc>
                  <a:txBody>
                    <a:bodyPr/>
                    <a:lstStyle/>
                    <a:p>
                      <a:pPr>
                        <a:lnSpc>
                          <a:spcPct val="115000"/>
                        </a:lnSpc>
                        <a:spcAft>
                          <a:spcPts val="0"/>
                        </a:spcAft>
                      </a:pP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(10) Central SOE × </a:t>
                      </a:r>
                      <a:r>
                        <a:rPr lang="en-US" sz="1400" dirty="0" err="1">
                          <a:effectLst/>
                          <a:latin typeface="Calibri" panose="020F0502020204030204" pitchFamily="34" charset="0"/>
                          <a:ea typeface="Arial Unicode MS" panose="020B0604020202020204" pitchFamily="34" charset="-122"/>
                          <a:cs typeface="Arial Unicode MS" panose="020B0604020202020204" pitchFamily="34" charset="-122"/>
                        </a:rPr>
                        <a:t>ΔC</a:t>
                      </a:r>
                      <a:r>
                        <a:rPr lang="en-US" sz="1400" baseline="-25000" dirty="0" err="1">
                          <a:effectLst/>
                          <a:latin typeface="Calibri" panose="020F0502020204030204" pitchFamily="34" charset="0"/>
                          <a:ea typeface="Arial Unicode MS" panose="020B0604020202020204" pitchFamily="34" charset="-122"/>
                          <a:cs typeface="Arial Unicode MS" panose="020B0604020202020204" pitchFamily="34" charset="-122"/>
                        </a:rPr>
                        <a:t>t</a:t>
                      </a: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/M</a:t>
                      </a:r>
                      <a:r>
                        <a:rPr lang="en-US" sz="1400" baseline="-25000" dirty="0">
                          <a:effectLst/>
                          <a:latin typeface="Calibri" panose="020F0502020204030204" pitchFamily="34" charset="0"/>
                          <a:ea typeface="Arial Unicode MS" panose="020B0604020202020204" pitchFamily="34" charset="-122"/>
                          <a:cs typeface="Arial Unicode MS" panose="020B0604020202020204" pitchFamily="34" charset="-122"/>
                        </a:rPr>
                        <a:t>t-1</a:t>
                      </a:r>
                      <a:endParaRPr lang="zh-CN" sz="14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smtClean="0">
                          <a:effectLst/>
                          <a:latin typeface="Calibri" panose="020F0502020204030204" pitchFamily="34" charset="0"/>
                          <a:ea typeface="Arial Unicode MS" panose="020B0604020202020204" pitchFamily="34" charset="-122"/>
                          <a:cs typeface="Arial Unicode MS" panose="020B0604020202020204" pitchFamily="34" charset="-122"/>
                        </a:rPr>
                        <a:t>0.596**</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nchor="ctr"/>
                </a:tc>
              </a:tr>
              <a:tr h="195829">
                <a:tc>
                  <a:txBody>
                    <a:bodyPr/>
                    <a:lstStyle/>
                    <a:p>
                      <a:pPr>
                        <a:lnSpc>
                          <a:spcPct val="115000"/>
                        </a:lnSpc>
                        <a:spcAft>
                          <a:spcPts val="0"/>
                        </a:spcAft>
                      </a:pP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4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nchor="ctr"/>
                </a:tc>
              </a:tr>
              <a:tr h="300968">
                <a:tc>
                  <a:txBody>
                    <a:bodyPr/>
                    <a:lstStyle/>
                    <a:p>
                      <a:pPr>
                        <a:lnSpc>
                          <a:spcPct val="115000"/>
                        </a:lnSpc>
                        <a:spcAft>
                          <a:spcPts val="0"/>
                        </a:spcAft>
                      </a:pP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Listed firm characteristics</a:t>
                      </a:r>
                      <a:endParaRPr lang="zh-CN" sz="14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c>
                  <a:txBody>
                    <a:bodyPr/>
                    <a:lstStyle/>
                    <a:p>
                      <a:pPr algn="ctr">
                        <a:lnSpc>
                          <a:spcPct val="115000"/>
                        </a:lnSpc>
                        <a:spcAft>
                          <a:spcPts val="100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Yes</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100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Yes</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100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Yes</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100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Yes</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100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Yes</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100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100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Yes</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100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Yes</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r>
              <a:tr h="195829">
                <a:tc>
                  <a:txBody>
                    <a:bodyPr/>
                    <a:lstStyle/>
                    <a:p>
                      <a:pPr>
                        <a:lnSpc>
                          <a:spcPct val="115000"/>
                        </a:lnSpc>
                        <a:spcAft>
                          <a:spcPts val="0"/>
                        </a:spcAft>
                      </a:pP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4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r>
              <a:tr h="195829">
                <a:tc>
                  <a:txBody>
                    <a:bodyPr/>
                    <a:lstStyle/>
                    <a:p>
                      <a:pPr>
                        <a:lnSpc>
                          <a:spcPct val="115000"/>
                        </a:lnSpc>
                        <a:spcAft>
                          <a:spcPts val="0"/>
                        </a:spcAft>
                      </a:pP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Observations</a:t>
                      </a:r>
                      <a:endParaRPr lang="zh-CN" sz="14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2208</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2004</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2203</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2000</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2209</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1063</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b"/>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507</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nchor="b"/>
                </a:tc>
              </a:tr>
              <a:tr h="195829">
                <a:tc>
                  <a:txBody>
                    <a:bodyPr/>
                    <a:lstStyle/>
                    <a:p>
                      <a:pPr>
                        <a:lnSpc>
                          <a:spcPct val="115000"/>
                        </a:lnSpc>
                        <a:spcAft>
                          <a:spcPts val="0"/>
                        </a:spcAft>
                      </a:pP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Adj. R</a:t>
                      </a:r>
                      <a:r>
                        <a:rPr lang="en-US" sz="1400" baseline="30000" dirty="0">
                          <a:effectLst/>
                          <a:latin typeface="Calibri" panose="020F0502020204030204" pitchFamily="34" charset="0"/>
                          <a:ea typeface="Arial Unicode MS" panose="020B0604020202020204" pitchFamily="34" charset="-122"/>
                          <a:cs typeface="Arial Unicode MS" panose="020B0604020202020204" pitchFamily="34" charset="-122"/>
                        </a:rPr>
                        <a:t>2</a:t>
                      </a:r>
                      <a:endParaRPr lang="zh-CN" sz="14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0.193</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0.205</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0.193</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0.205</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0.196</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0.200</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b"/>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0.157</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nchor="b"/>
                </a:tc>
              </a:tr>
              <a:tr h="195829">
                <a:tc>
                  <a:txBody>
                    <a:bodyPr/>
                    <a:lstStyle/>
                    <a:p>
                      <a:pPr>
                        <a:lnSpc>
                          <a:spcPct val="115000"/>
                        </a:lnSpc>
                        <a:spcAft>
                          <a:spcPts val="0"/>
                        </a:spcAft>
                      </a:pPr>
                      <a:r>
                        <a:rPr lang="en-US" sz="1400" dirty="0">
                          <a:effectLst/>
                          <a:latin typeface="Calibri" panose="020F0502020204030204" pitchFamily="34" charset="0"/>
                          <a:ea typeface="Arial Unicode MS" panose="020B0604020202020204" pitchFamily="34" charset="-122"/>
                          <a:cs typeface="Arial Unicode MS" panose="020B0604020202020204" pitchFamily="34" charset="-122"/>
                        </a:rPr>
                        <a:t>F</a:t>
                      </a:r>
                      <a:endParaRPr lang="zh-CN" sz="14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61.519</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a:effectLst/>
                          <a:latin typeface="Calibri" panose="020F0502020204030204" pitchFamily="34" charset="0"/>
                          <a:ea typeface="Arial Unicode MS" panose="020B0604020202020204" pitchFamily="34" charset="-122"/>
                          <a:cs typeface="Arial Unicode MS" panose="020B0604020202020204" pitchFamily="34" charset="-122"/>
                        </a:rPr>
                        <a:t>60.939</a:t>
                      </a:r>
                      <a:endParaRPr lang="zh-CN" sz="120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72.491</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73.808</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62.144</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ctr"/>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 </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23.156</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52089" marR="52089" marT="0" marB="0" anchor="b"/>
                </a:tc>
                <a:tc>
                  <a:txBody>
                    <a:bodyPr/>
                    <a:lstStyle/>
                    <a:p>
                      <a:pPr algn="ctr">
                        <a:lnSpc>
                          <a:spcPct val="115000"/>
                        </a:lnSpc>
                        <a:spcAft>
                          <a:spcPts val="0"/>
                        </a:spcAft>
                      </a:pPr>
                      <a:r>
                        <a:rPr lang="en-US" sz="1200" dirty="0">
                          <a:effectLst/>
                          <a:latin typeface="Calibri" panose="020F0502020204030204" pitchFamily="34" charset="0"/>
                          <a:ea typeface="Arial Unicode MS" panose="020B0604020202020204" pitchFamily="34" charset="-122"/>
                          <a:cs typeface="Arial Unicode MS" panose="020B0604020202020204" pitchFamily="34" charset="-122"/>
                        </a:rPr>
                        <a:t>8.122</a:t>
                      </a:r>
                      <a:endParaRPr lang="zh-CN" sz="1200" dirty="0">
                        <a:effectLst/>
                        <a:latin typeface="Calibri" panose="020F0502020204030204" pitchFamily="34" charset="0"/>
                        <a:ea typeface="Arial Unicode MS" panose="020B0604020202020204" pitchFamily="34" charset="-122"/>
                        <a:cs typeface="Arial Unicode MS" panose="020B0604020202020204" pitchFamily="34" charset="-122"/>
                      </a:endParaRPr>
                    </a:p>
                  </a:txBody>
                  <a:tcPr marL="0" marR="0" marT="0" marB="0" anchor="b"/>
                </a:tc>
              </a:tr>
            </a:tbl>
          </a:graphicData>
        </a:graphic>
      </p:graphicFrame>
      <p:sp>
        <p:nvSpPr>
          <p:cNvPr id="5" name="Title 1"/>
          <p:cNvSpPr>
            <a:spLocks noGrp="1"/>
          </p:cNvSpPr>
          <p:nvPr>
            <p:ph type="title"/>
          </p:nvPr>
        </p:nvSpPr>
        <p:spPr>
          <a:xfrm>
            <a:off x="849313" y="332656"/>
            <a:ext cx="7445375" cy="648072"/>
          </a:xfrm>
        </p:spPr>
        <p:txBody>
          <a:bodyPr/>
          <a:lstStyle/>
          <a:p>
            <a:r>
              <a:rPr lang="en-GB" dirty="0"/>
              <a:t>Parent performance and the </a:t>
            </a:r>
            <a:r>
              <a:rPr lang="en-GB" dirty="0" smtClean="0"/>
              <a:t>value </a:t>
            </a:r>
            <a:r>
              <a:rPr lang="en-GB" dirty="0"/>
              <a:t>of listed firm cash holdings</a:t>
            </a:r>
            <a:endParaRPr lang="en-US" dirty="0"/>
          </a:p>
        </p:txBody>
      </p:sp>
    </p:spTree>
    <p:extLst>
      <p:ext uri="{BB962C8B-B14F-4D97-AF65-F5344CB8AC3E}">
        <p14:creationId xmlns:p14="http://schemas.microsoft.com/office/powerpoint/2010/main" val="19639336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Economic interpretation</a:t>
            </a:r>
            <a:endParaRPr lang="zh-CN" altLang="en-US" dirty="0"/>
          </a:p>
        </p:txBody>
      </p:sp>
      <p:sp>
        <p:nvSpPr>
          <p:cNvPr id="7" name="Content Placeholder 6"/>
          <p:cNvSpPr>
            <a:spLocks noGrp="1"/>
          </p:cNvSpPr>
          <p:nvPr>
            <p:ph idx="1"/>
          </p:nvPr>
        </p:nvSpPr>
        <p:spPr>
          <a:xfrm>
            <a:off x="304800" y="1219200"/>
            <a:ext cx="8763000" cy="4709120"/>
          </a:xfrm>
        </p:spPr>
        <p:txBody>
          <a:bodyPr>
            <a:noAutofit/>
          </a:bodyPr>
          <a:lstStyle/>
          <a:p>
            <a:r>
              <a:rPr lang="en-US" altLang="zh-CN" sz="2400" dirty="0" smtClean="0"/>
              <a:t>Marginal value of cash</a:t>
            </a:r>
          </a:p>
          <a:p>
            <a:pPr lvl="1">
              <a:spcAft>
                <a:spcPts val="600"/>
              </a:spcAft>
            </a:pPr>
            <a:r>
              <a:rPr lang="en-US" altLang="zh-CN" sz="2400" b="1" dirty="0"/>
              <a:t>$0.47 </a:t>
            </a:r>
            <a:r>
              <a:rPr lang="en-US" altLang="zh-CN" sz="2400" dirty="0" smtClean="0"/>
              <a:t>(non-listed </a:t>
            </a:r>
            <a:r>
              <a:rPr lang="en-US" altLang="zh-CN" sz="2400" i="1" dirty="0"/>
              <a:t>parent</a:t>
            </a:r>
            <a:r>
              <a:rPr lang="en-US" altLang="zh-CN" sz="2400" dirty="0"/>
              <a:t> has an ROA in the bottom quartile of parent operating </a:t>
            </a:r>
            <a:r>
              <a:rPr lang="en-US" altLang="zh-CN" sz="2400" dirty="0" smtClean="0"/>
              <a:t>performance)</a:t>
            </a:r>
          </a:p>
          <a:p>
            <a:pPr lvl="1">
              <a:spcAft>
                <a:spcPts val="600"/>
              </a:spcAft>
            </a:pPr>
            <a:r>
              <a:rPr lang="en-US" altLang="zh-CN" sz="2400" b="1" dirty="0"/>
              <a:t>$</a:t>
            </a:r>
            <a:r>
              <a:rPr lang="en-US" altLang="zh-CN" sz="2400" b="1" dirty="0" smtClean="0"/>
              <a:t>0.66 </a:t>
            </a:r>
            <a:r>
              <a:rPr lang="en-US" altLang="zh-CN" sz="2400" dirty="0" smtClean="0"/>
              <a:t>(</a:t>
            </a:r>
            <a:r>
              <a:rPr lang="en-US" altLang="zh-CN" sz="2400" dirty="0"/>
              <a:t>non-listed </a:t>
            </a:r>
            <a:r>
              <a:rPr lang="en-US" altLang="zh-CN" sz="2400" i="1" dirty="0"/>
              <a:t>parent</a:t>
            </a:r>
            <a:r>
              <a:rPr lang="en-US" altLang="zh-CN" sz="2400" dirty="0"/>
              <a:t> has an ROA </a:t>
            </a:r>
            <a:r>
              <a:rPr lang="en-US" altLang="zh-CN" sz="2400" dirty="0" smtClean="0"/>
              <a:t>in </a:t>
            </a:r>
            <a:r>
              <a:rPr lang="en-US" altLang="zh-CN" sz="2400" dirty="0"/>
              <a:t>the top </a:t>
            </a:r>
            <a:r>
              <a:rPr lang="en-US" altLang="zh-CN" sz="2400" dirty="0" smtClean="0"/>
              <a:t>quartile</a:t>
            </a:r>
            <a:r>
              <a:rPr lang="en-US" altLang="zh-CN" sz="2400" dirty="0" smtClean="0"/>
              <a:t>)</a:t>
            </a:r>
          </a:p>
          <a:p>
            <a:pPr lvl="1">
              <a:spcAft>
                <a:spcPts val="600"/>
              </a:spcAft>
            </a:pPr>
            <a:r>
              <a:rPr lang="en-US" altLang="zh-CN" sz="2400" dirty="0" smtClean="0"/>
              <a:t>The difference is $0.19, almost 50%</a:t>
            </a:r>
            <a:endParaRPr lang="en-US" altLang="zh-CN" sz="2400" dirty="0" smtClean="0"/>
          </a:p>
          <a:p>
            <a:pPr>
              <a:spcAft>
                <a:spcPts val="600"/>
              </a:spcAft>
            </a:pPr>
            <a:r>
              <a:rPr lang="en-US" altLang="zh-CN" sz="2400" dirty="0" smtClean="0"/>
              <a:t>What happens if the controlling shareholder is an SOE?</a:t>
            </a:r>
          </a:p>
          <a:p>
            <a:pPr>
              <a:spcAft>
                <a:spcPts val="600"/>
              </a:spcAft>
            </a:pPr>
            <a:r>
              <a:rPr lang="en-US" altLang="zh-CN" sz="2400" b="0" dirty="0" smtClean="0"/>
              <a:t>The difference in value of the marginal value of cash is $0.24</a:t>
            </a:r>
          </a:p>
          <a:p>
            <a:pPr>
              <a:spcAft>
                <a:spcPts val="600"/>
              </a:spcAft>
            </a:pPr>
            <a:r>
              <a:rPr lang="en-US" altLang="zh-CN" sz="2400" dirty="0" smtClean="0"/>
              <a:t>Does the type of SOE matter?</a:t>
            </a:r>
          </a:p>
          <a:p>
            <a:pPr>
              <a:spcAft>
                <a:spcPts val="600"/>
              </a:spcAft>
            </a:pPr>
            <a:r>
              <a:rPr lang="en-US" altLang="zh-CN" sz="2400" b="0" dirty="0" smtClean="0"/>
              <a:t>Yes. If the firm is controlled by the central government, the marginal value of cash is $0.86. Local government: $0.64</a:t>
            </a:r>
            <a:endParaRPr lang="zh-CN" altLang="en-US" sz="2400" b="0" dirty="0"/>
          </a:p>
        </p:txBody>
      </p:sp>
    </p:spTree>
    <p:extLst>
      <p:ext uri="{BB962C8B-B14F-4D97-AF65-F5344CB8AC3E}">
        <p14:creationId xmlns:p14="http://schemas.microsoft.com/office/powerpoint/2010/main" val="25142565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smtClean="0"/>
              <a:t>Alternative </a:t>
            </a:r>
            <a:r>
              <a:rPr lang="en-US" altLang="zh-CN" b="1" dirty="0" smtClean="0"/>
              <a:t>explanation</a:t>
            </a:r>
            <a:endParaRPr lang="zh-CN" altLang="en-US" dirty="0"/>
          </a:p>
        </p:txBody>
      </p:sp>
      <p:sp>
        <p:nvSpPr>
          <p:cNvPr id="3" name="Content Placeholder 2"/>
          <p:cNvSpPr>
            <a:spLocks noGrp="1"/>
          </p:cNvSpPr>
          <p:nvPr>
            <p:ph idx="1"/>
          </p:nvPr>
        </p:nvSpPr>
        <p:spPr>
          <a:xfrm>
            <a:off x="228600" y="1219200"/>
            <a:ext cx="8763000" cy="4525963"/>
          </a:xfrm>
        </p:spPr>
        <p:txBody>
          <a:bodyPr>
            <a:normAutofit/>
          </a:bodyPr>
          <a:lstStyle/>
          <a:p>
            <a:r>
              <a:rPr lang="en-US" altLang="zh-CN" sz="2800" dirty="0"/>
              <a:t>Does parent performance proxy for parent firm corporate </a:t>
            </a:r>
            <a:r>
              <a:rPr lang="en-US" altLang="zh-CN" sz="2800" dirty="0" smtClean="0"/>
              <a:t>governance (or parent “competence”)?</a:t>
            </a:r>
          </a:p>
          <a:p>
            <a:pPr lvl="1"/>
            <a:r>
              <a:rPr lang="en-US" altLang="zh-CN" sz="2400" dirty="0" smtClean="0"/>
              <a:t>Are under-performing </a:t>
            </a:r>
            <a:r>
              <a:rPr lang="en-US" altLang="zh-CN" sz="2400" dirty="0"/>
              <a:t>parent </a:t>
            </a:r>
            <a:r>
              <a:rPr lang="en-US" altLang="zh-CN" sz="2400" dirty="0" smtClean="0"/>
              <a:t>firms </a:t>
            </a:r>
            <a:r>
              <a:rPr lang="en-US" altLang="zh-CN" sz="2400" dirty="0"/>
              <a:t>those with poor corporate </a:t>
            </a:r>
            <a:r>
              <a:rPr lang="en-US" altLang="zh-CN" sz="2400" dirty="0" smtClean="0"/>
              <a:t>governance or competence?</a:t>
            </a:r>
          </a:p>
          <a:p>
            <a:pPr lvl="2"/>
            <a:r>
              <a:rPr lang="en-US" altLang="zh-CN" dirty="0" smtClean="0">
                <a:ea typeface="Arial Unicode MS" panose="020B0604020202020204" pitchFamily="34" charset="-122"/>
                <a:cs typeface="Arial Unicode MS" panose="020B0604020202020204" pitchFamily="34" charset="-122"/>
              </a:rPr>
              <a:t>No. </a:t>
            </a:r>
            <a:r>
              <a:rPr lang="en-GB" altLang="zh-CN" dirty="0" smtClean="0">
                <a:ea typeface="Arial Unicode MS" panose="020B0604020202020204" pitchFamily="34" charset="-122"/>
                <a:cs typeface="Arial Unicode MS" panose="020B0604020202020204" pitchFamily="34" charset="-122"/>
              </a:rPr>
              <a:t>We r</a:t>
            </a:r>
            <a:r>
              <a:rPr lang="en-GB" altLang="zh-CN" dirty="0" smtClean="0">
                <a:ea typeface="Arial Unicode MS" panose="020B0604020202020204" pitchFamily="34" charset="-122"/>
                <a:cs typeface="Arial Unicode MS" panose="020B0604020202020204" pitchFamily="34" charset="-122"/>
              </a:rPr>
              <a:t>eplicate </a:t>
            </a:r>
            <a:r>
              <a:rPr lang="en-GB" altLang="zh-CN" dirty="0">
                <a:ea typeface="Arial Unicode MS" panose="020B0604020202020204" pitchFamily="34" charset="-122"/>
                <a:cs typeface="Arial Unicode MS" panose="020B0604020202020204" pitchFamily="34" charset="-122"/>
              </a:rPr>
              <a:t>our results after including controls for corporate governance </a:t>
            </a:r>
            <a:r>
              <a:rPr lang="en-GB" altLang="zh-CN" dirty="0" smtClean="0">
                <a:ea typeface="Arial Unicode MS" panose="020B0604020202020204" pitchFamily="34" charset="-122"/>
                <a:cs typeface="Arial Unicode MS" panose="020B0604020202020204" pitchFamily="34" charset="-122"/>
              </a:rPr>
              <a:t>variables. The results don’t change.</a:t>
            </a:r>
          </a:p>
          <a:p>
            <a:pPr lvl="2"/>
            <a:r>
              <a:rPr lang="en-GB" altLang="zh-CN" dirty="0" smtClean="0"/>
              <a:t>We </a:t>
            </a:r>
            <a:r>
              <a:rPr lang="en-GB" altLang="zh-CN" dirty="0"/>
              <a:t>eliminate from the sample parent firms that do not exhibit large changes in performance during our sample period and we estimate our model in the sub-sample of parent firms with large changes in </a:t>
            </a:r>
            <a:r>
              <a:rPr lang="en-GB" altLang="zh-CN" dirty="0" smtClean="0"/>
              <a:t>performance</a:t>
            </a:r>
            <a:r>
              <a:rPr lang="en-GB" altLang="zh-CN" dirty="0"/>
              <a:t> </a:t>
            </a:r>
            <a:r>
              <a:rPr lang="en-GB" altLang="zh-CN" dirty="0" smtClean="0"/>
              <a:t>(with no changes in corporate governance). Same results.</a:t>
            </a:r>
            <a:endParaRPr lang="en-US" altLang="zh-CN" dirty="0" smtClean="0"/>
          </a:p>
          <a:p>
            <a:pPr lvl="1"/>
            <a:endParaRPr lang="en-US" altLang="zh-CN" sz="2400" dirty="0" smtClean="0"/>
          </a:p>
          <a:p>
            <a:pPr lvl="1"/>
            <a:endParaRPr lang="zh-CN" altLang="en-US" sz="2400" dirty="0"/>
          </a:p>
        </p:txBody>
      </p:sp>
    </p:spTree>
    <p:extLst>
      <p:ext uri="{BB962C8B-B14F-4D97-AF65-F5344CB8AC3E}">
        <p14:creationId xmlns:p14="http://schemas.microsoft.com/office/powerpoint/2010/main" val="22748563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t>Alternative </a:t>
            </a:r>
            <a:r>
              <a:rPr lang="en-US" altLang="zh-CN" b="1" dirty="0" smtClean="0"/>
              <a:t>explanation</a:t>
            </a:r>
            <a:endParaRPr lang="zh-CN" altLang="en-US" dirty="0"/>
          </a:p>
        </p:txBody>
      </p:sp>
      <p:sp>
        <p:nvSpPr>
          <p:cNvPr id="3" name="Content Placeholder 2"/>
          <p:cNvSpPr>
            <a:spLocks noGrp="1"/>
          </p:cNvSpPr>
          <p:nvPr>
            <p:ph idx="1"/>
          </p:nvPr>
        </p:nvSpPr>
        <p:spPr>
          <a:xfrm>
            <a:off x="304800" y="1219200"/>
            <a:ext cx="8610600" cy="4525963"/>
          </a:xfrm>
        </p:spPr>
        <p:txBody>
          <a:bodyPr>
            <a:normAutofit lnSpcReduction="10000"/>
          </a:bodyPr>
          <a:lstStyle/>
          <a:p>
            <a:r>
              <a:rPr lang="en-US" altLang="zh-CN" sz="1900" dirty="0" smtClean="0"/>
              <a:t>Co-insurance</a:t>
            </a:r>
            <a:endParaRPr lang="en-US" altLang="zh-CN" sz="1900" dirty="0"/>
          </a:p>
          <a:p>
            <a:pPr lvl="1"/>
            <a:r>
              <a:rPr lang="en-US" altLang="zh-CN" sz="1900" dirty="0"/>
              <a:t>The operating performance of the controlling shareholder is a proxy of propping ability.</a:t>
            </a:r>
          </a:p>
          <a:p>
            <a:pPr lvl="1"/>
            <a:r>
              <a:rPr lang="en-US" sz="1900" dirty="0"/>
              <a:t>T</a:t>
            </a:r>
            <a:r>
              <a:rPr lang="en-US" sz="1900" dirty="0" smtClean="0"/>
              <a:t>he </a:t>
            </a:r>
            <a:r>
              <a:rPr lang="en-US" sz="1900" dirty="0"/>
              <a:t>positive relationship between parent performance and the market valuation of the publicly listed firm’s cash holdings does not reflect transfers from the publicly listed subsidiary to its non-listed parent. </a:t>
            </a:r>
            <a:endParaRPr lang="en-US" sz="1900" dirty="0" smtClean="0"/>
          </a:p>
          <a:p>
            <a:pPr lvl="1"/>
            <a:r>
              <a:rPr lang="en-US" sz="1900" dirty="0" smtClean="0"/>
              <a:t>Instead </a:t>
            </a:r>
            <a:r>
              <a:rPr lang="en-US" sz="1900" dirty="0"/>
              <a:t>it reflects implicit guarantees of assistance from the non-listed parent to the publicly listed subsidiary</a:t>
            </a:r>
            <a:r>
              <a:rPr lang="en-US" sz="1900" dirty="0" smtClean="0"/>
              <a:t>.</a:t>
            </a:r>
          </a:p>
          <a:p>
            <a:pPr lvl="1"/>
            <a:r>
              <a:rPr lang="en-US" sz="1900" dirty="0"/>
              <a:t>W</a:t>
            </a:r>
            <a:r>
              <a:rPr lang="en-US" sz="1900" dirty="0" smtClean="0"/>
              <a:t>hen </a:t>
            </a:r>
            <a:r>
              <a:rPr lang="en-US" sz="1900" dirty="0"/>
              <a:t>the parent performs well, it has adequate funds to assist the subsidiary if the latter faces difficulties, and hence, cash on the subsidiary’s balance sheet is valued at “fair” value. </a:t>
            </a:r>
            <a:endParaRPr lang="en-US" sz="1900" dirty="0" smtClean="0"/>
          </a:p>
          <a:p>
            <a:pPr lvl="1"/>
            <a:r>
              <a:rPr lang="en-US" sz="1900" dirty="0" smtClean="0"/>
              <a:t>When </a:t>
            </a:r>
            <a:r>
              <a:rPr lang="en-US" sz="1900" dirty="0"/>
              <a:t>the parent performs poorly, it cannot assist the subsidiary if the latter faces difficulties, and hence cash on the subsidiary’s balance sheet is valued at less than “fair” value.</a:t>
            </a:r>
            <a:endParaRPr lang="en-US" altLang="zh-CN" sz="1900" dirty="0"/>
          </a:p>
        </p:txBody>
      </p:sp>
    </p:spTree>
    <p:extLst>
      <p:ext uri="{BB962C8B-B14F-4D97-AF65-F5344CB8AC3E}">
        <p14:creationId xmlns:p14="http://schemas.microsoft.com/office/powerpoint/2010/main" val="27909185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t>Alternative </a:t>
            </a:r>
            <a:r>
              <a:rPr lang="en-US" altLang="zh-CN" b="1" dirty="0" smtClean="0"/>
              <a:t>explanation</a:t>
            </a:r>
            <a:endParaRPr lang="zh-CN" altLang="en-US" dirty="0"/>
          </a:p>
        </p:txBody>
      </p:sp>
      <p:sp>
        <p:nvSpPr>
          <p:cNvPr id="3" name="Content Placeholder 2"/>
          <p:cNvSpPr>
            <a:spLocks noGrp="1"/>
          </p:cNvSpPr>
          <p:nvPr>
            <p:ph idx="1"/>
          </p:nvPr>
        </p:nvSpPr>
        <p:spPr>
          <a:xfrm>
            <a:off x="304800" y="1219200"/>
            <a:ext cx="8610600" cy="4525963"/>
          </a:xfrm>
        </p:spPr>
        <p:txBody>
          <a:bodyPr>
            <a:normAutofit/>
          </a:bodyPr>
          <a:lstStyle/>
          <a:p>
            <a:r>
              <a:rPr lang="en-US" altLang="zh-CN" sz="2800" dirty="0" smtClean="0"/>
              <a:t>If it was co-insurance:</a:t>
            </a:r>
            <a:endParaRPr lang="en-US" altLang="zh-CN" sz="2800" dirty="0"/>
          </a:p>
          <a:p>
            <a:pPr lvl="2"/>
            <a:r>
              <a:rPr lang="en-US" altLang="zh-CN" dirty="0" smtClean="0"/>
              <a:t>Propping </a:t>
            </a:r>
            <a:r>
              <a:rPr lang="en-US" altLang="zh-CN" dirty="0"/>
              <a:t>up would be more plausible in smaller publicly listed subsidiaries that are more likely to be financially constrained (Hadlock and Pierce, 2010)</a:t>
            </a:r>
          </a:p>
          <a:p>
            <a:pPr lvl="2"/>
            <a:r>
              <a:rPr lang="en-US" altLang="zh-CN" dirty="0"/>
              <a:t>Propping up is also likely to be more plausible when the subsidiary is small relative to the size of its parent or earns a smaller profit than its parent. </a:t>
            </a:r>
          </a:p>
        </p:txBody>
      </p:sp>
    </p:spTree>
    <p:extLst>
      <p:ext uri="{BB962C8B-B14F-4D97-AF65-F5344CB8AC3E}">
        <p14:creationId xmlns:p14="http://schemas.microsoft.com/office/powerpoint/2010/main" val="15294012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Coinsurance?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76200" y="1219200"/>
                <a:ext cx="8915400" cy="4525963"/>
              </a:xfrm>
            </p:spPr>
            <p:txBody>
              <a:bodyPr/>
              <a:lstStyle/>
              <a:p>
                <a:r>
                  <a:rPr lang="en-US" sz="2200" b="0" dirty="0"/>
                  <a:t>For large firms that do not face financing </a:t>
                </a:r>
                <a:r>
                  <a:rPr lang="en-US" sz="2200" b="0" dirty="0" smtClean="0"/>
                  <a:t>constraints, the </a:t>
                </a:r>
                <a:r>
                  <a:rPr lang="en-US" sz="2200" b="0" dirty="0"/>
                  <a:t>coefficient of the interaction between parent performance and </a:t>
                </a:r>
                <a14:m>
                  <m:oMath xmlns:m="http://schemas.openxmlformats.org/officeDocument/2006/math">
                    <m:f>
                      <m:fPr>
                        <m:ctrlPr>
                          <a:rPr lang="en-US" sz="2200" b="0" i="1"/>
                        </m:ctrlPr>
                      </m:fPr>
                      <m:num>
                        <m:sSub>
                          <m:sSubPr>
                            <m:ctrlPr>
                              <a:rPr lang="en-US" sz="2200" b="0" i="1"/>
                            </m:ctrlPr>
                          </m:sSubPr>
                          <m:e>
                            <m:r>
                              <a:rPr lang="en-US" sz="2200" b="0"/>
                              <m:t>∆</m:t>
                            </m:r>
                            <m:r>
                              <m:rPr>
                                <m:sty m:val="p"/>
                              </m:rPr>
                              <a:rPr lang="en-US" sz="2200" b="0"/>
                              <m:t>C</m:t>
                            </m:r>
                          </m:e>
                          <m:sub>
                            <m:r>
                              <m:rPr>
                                <m:sty m:val="p"/>
                              </m:rPr>
                              <a:rPr lang="en-US" sz="2200" b="0"/>
                              <m:t>i</m:t>
                            </m:r>
                            <m:r>
                              <a:rPr lang="en-US" sz="2200" b="0"/>
                              <m:t>,</m:t>
                            </m:r>
                            <m:r>
                              <m:rPr>
                                <m:sty m:val="p"/>
                              </m:rPr>
                              <a:rPr lang="en-US" sz="2200" b="0"/>
                              <m:t>t</m:t>
                            </m:r>
                          </m:sub>
                        </m:sSub>
                      </m:num>
                      <m:den>
                        <m:sSub>
                          <m:sSubPr>
                            <m:ctrlPr>
                              <a:rPr lang="en-US" sz="2200" b="0" i="1"/>
                            </m:ctrlPr>
                          </m:sSubPr>
                          <m:e>
                            <m:r>
                              <m:rPr>
                                <m:sty m:val="p"/>
                              </m:rPr>
                              <a:rPr lang="en-US" sz="2200" b="0"/>
                              <m:t>M</m:t>
                            </m:r>
                          </m:e>
                          <m:sub>
                            <m:r>
                              <m:rPr>
                                <m:sty m:val="p"/>
                              </m:rPr>
                              <a:rPr lang="en-US" sz="2200" b="0"/>
                              <m:t>i</m:t>
                            </m:r>
                            <m:r>
                              <a:rPr lang="en-US" sz="2200" b="0"/>
                              <m:t>,</m:t>
                            </m:r>
                            <m:r>
                              <m:rPr>
                                <m:sty m:val="p"/>
                              </m:rPr>
                              <a:rPr lang="en-US" sz="2200" b="0"/>
                              <m:t>t</m:t>
                            </m:r>
                            <m:r>
                              <a:rPr lang="en-US" sz="2200" b="0" i="1"/>
                              <m:t>−</m:t>
                            </m:r>
                            <m:r>
                              <a:rPr lang="en-US" sz="2200" b="0"/>
                              <m:t>1</m:t>
                            </m:r>
                          </m:sub>
                        </m:sSub>
                      </m:den>
                    </m:f>
                  </m:oMath>
                </a14:m>
                <a:r>
                  <a:rPr lang="en-US" sz="2200" b="0" dirty="0"/>
                  <a:t> is significantly positive. In contrast, among small and financially constrained </a:t>
                </a:r>
                <a:r>
                  <a:rPr lang="en-US" sz="2200" b="0" dirty="0" smtClean="0"/>
                  <a:t>firms, </a:t>
                </a:r>
                <a:r>
                  <a:rPr lang="en-US" sz="2200" b="0" dirty="0"/>
                  <a:t>we </a:t>
                </a:r>
                <a:r>
                  <a:rPr lang="en-US" sz="2200" b="0" i="1" dirty="0"/>
                  <a:t>do not</a:t>
                </a:r>
                <a:r>
                  <a:rPr lang="en-US" sz="2200" b="0" dirty="0"/>
                  <a:t> find a significant relationship between the value of an additional dollar of cash and parent </a:t>
                </a:r>
                <a:r>
                  <a:rPr lang="en-US" sz="2200" b="0" dirty="0" smtClean="0"/>
                  <a:t>performance. </a:t>
                </a:r>
                <a:endParaRPr lang="en-US" sz="2200" b="0" dirty="0"/>
              </a:p>
              <a:p>
                <a:r>
                  <a:rPr lang="en-US" sz="2200" b="0" dirty="0"/>
                  <a:t>Controlling shareholders are more likely to expropriate surplus cash from larger financially unconstrained firms, which are more able to raise additional cash from external markets in the future. </a:t>
                </a:r>
                <a:endParaRPr lang="en-US" sz="2200" b="0" dirty="0" smtClean="0"/>
              </a:p>
              <a:p>
                <a:r>
                  <a:rPr lang="en-US" sz="2200" b="0" dirty="0" smtClean="0"/>
                  <a:t>This </a:t>
                </a:r>
                <a:r>
                  <a:rPr lang="en-US" sz="2200" b="0" dirty="0"/>
                  <a:t>result is more consistent with the expropriation hypothesis than by a potential propping up explanation.</a:t>
                </a:r>
              </a:p>
              <a:p>
                <a:endParaRPr lang="en-US" sz="2200" b="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76200" y="1219200"/>
                <a:ext cx="8915400" cy="4525963"/>
              </a:xfrm>
              <a:blipFill rotWithShape="1">
                <a:blip r:embed="rId2"/>
                <a:stretch>
                  <a:fillRect l="-889" t="-809" r="-1231"/>
                </a:stretch>
              </a:blipFill>
            </p:spPr>
            <p:txBody>
              <a:bodyPr/>
              <a:lstStyle/>
              <a:p>
                <a:r>
                  <a:rPr lang="en-US">
                    <a:noFill/>
                  </a:rPr>
                  <a:t> </a:t>
                </a:r>
              </a:p>
            </p:txBody>
          </p:sp>
        </mc:Fallback>
      </mc:AlternateContent>
    </p:spTree>
    <p:extLst>
      <p:ext uri="{BB962C8B-B14F-4D97-AF65-F5344CB8AC3E}">
        <p14:creationId xmlns:p14="http://schemas.microsoft.com/office/powerpoint/2010/main" val="8742540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Coinsurance?</a:t>
            </a:r>
            <a:endParaRPr lang="en-US" dirty="0"/>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sz="2400" b="0" dirty="0" smtClean="0"/>
              <a:t>The </a:t>
            </a:r>
            <a:r>
              <a:rPr lang="en-GB" sz="2400" b="0" dirty="0"/>
              <a:t>larger the losses that the subsidiary is making relative to the parent’s losses, the larger the market valuation of a dollar of cash on the subsidiary’s balance sheet! </a:t>
            </a:r>
            <a:endParaRPr lang="en-GB" sz="2400" b="0" dirty="0" smtClean="0"/>
          </a:p>
          <a:p>
            <a:pPr marL="342900" indent="-342900">
              <a:buFont typeface="Arial" panose="020B0604020202020204" pitchFamily="34" charset="0"/>
              <a:buChar char="•"/>
            </a:pPr>
            <a:r>
              <a:rPr lang="en-GB" sz="2400" b="0" dirty="0" smtClean="0"/>
              <a:t>In </a:t>
            </a:r>
            <a:r>
              <a:rPr lang="en-GB" sz="2400" b="0" dirty="0"/>
              <a:t>other words, as it gets less feasible for the non-listed parent to assist its loss-making publicly listed subsidiary financially, the market’s valuation of an additional dollar of cash on the subsidiary’s balance sheet increases. </a:t>
            </a:r>
            <a:endParaRPr lang="en-GB" sz="2400" b="0" dirty="0" smtClean="0"/>
          </a:p>
        </p:txBody>
      </p:sp>
    </p:spTree>
    <p:extLst>
      <p:ext uri="{BB962C8B-B14F-4D97-AF65-F5344CB8AC3E}">
        <p14:creationId xmlns:p14="http://schemas.microsoft.com/office/powerpoint/2010/main" val="79192443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Conclusions</a:t>
            </a:r>
            <a:endParaRPr lang="zh-CN" altLang="en-US" dirty="0"/>
          </a:p>
        </p:txBody>
      </p:sp>
      <p:sp>
        <p:nvSpPr>
          <p:cNvPr id="3" name="Content Placeholder 2"/>
          <p:cNvSpPr>
            <a:spLocks noGrp="1"/>
          </p:cNvSpPr>
          <p:nvPr>
            <p:ph idx="1"/>
          </p:nvPr>
        </p:nvSpPr>
        <p:spPr>
          <a:xfrm>
            <a:off x="152400" y="1219200"/>
            <a:ext cx="8763000" cy="4997152"/>
          </a:xfrm>
        </p:spPr>
        <p:txBody>
          <a:bodyPr>
            <a:noAutofit/>
          </a:bodyPr>
          <a:lstStyle/>
          <a:p>
            <a:pPr lvl="1"/>
            <a:r>
              <a:rPr lang="en-US" sz="2400" dirty="0"/>
              <a:t>Studies on the expropriation of minority shareholders of publicly listed firms by their controlling shareholders focus on the publicly listed firm and treat the controlling shareholder as a black </a:t>
            </a:r>
            <a:r>
              <a:rPr lang="en-US" sz="2400" dirty="0" smtClean="0"/>
              <a:t>box</a:t>
            </a:r>
          </a:p>
          <a:p>
            <a:pPr lvl="1"/>
            <a:r>
              <a:rPr lang="en-US" altLang="zh-CN" sz="2400" dirty="0" smtClean="0"/>
              <a:t>We </a:t>
            </a:r>
            <a:r>
              <a:rPr lang="en-US" sz="2400" dirty="0"/>
              <a:t>link the extent of expropriation of the publicly listed firm to the performance of its controlling shareholder. </a:t>
            </a:r>
            <a:endParaRPr lang="en-US" altLang="zh-CN" sz="2400" dirty="0" smtClean="0"/>
          </a:p>
          <a:p>
            <a:pPr lvl="1"/>
            <a:r>
              <a:rPr lang="en-US" altLang="zh-CN" sz="2400" dirty="0"/>
              <a:t>Our findings help us understand </a:t>
            </a:r>
            <a:r>
              <a:rPr lang="en-US" altLang="zh-CN" sz="2400" i="1" dirty="0"/>
              <a:t>why</a:t>
            </a:r>
            <a:r>
              <a:rPr lang="en-US" altLang="zh-CN" sz="2400" dirty="0"/>
              <a:t> the controlling shareholders expropriate</a:t>
            </a:r>
            <a:r>
              <a:rPr lang="en-US" altLang="zh-CN" sz="2400" dirty="0" smtClean="0"/>
              <a:t>.</a:t>
            </a:r>
          </a:p>
          <a:p>
            <a:pPr lvl="1"/>
            <a:r>
              <a:rPr lang="en-US" altLang="zh-CN" sz="2400" dirty="0"/>
              <a:t>We show that the market anticipates the potential expropriation by discounting the valuation of </a:t>
            </a:r>
            <a:r>
              <a:rPr lang="en-US" altLang="zh-CN" sz="2400" dirty="0" smtClean="0"/>
              <a:t>cash and intra-group </a:t>
            </a:r>
            <a:r>
              <a:rPr lang="en-US" altLang="zh-CN" sz="2400" dirty="0"/>
              <a:t>loans on the firm’s balance sheet.</a:t>
            </a:r>
            <a:endParaRPr lang="zh-CN" altLang="en-US" sz="2400" dirty="0"/>
          </a:p>
        </p:txBody>
      </p:sp>
    </p:spTree>
    <p:extLst>
      <p:ext uri="{BB962C8B-B14F-4D97-AF65-F5344CB8AC3E}">
        <p14:creationId xmlns:p14="http://schemas.microsoft.com/office/powerpoint/2010/main" val="27810810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ags/tag1.xml><?xml version="1.0" encoding="utf-8"?>
<p:tagLst xmlns:a="http://schemas.openxmlformats.org/drawingml/2006/main" xmlns:r="http://schemas.openxmlformats.org/officeDocument/2006/relationships" xmlns:p="http://schemas.openxmlformats.org/presentationml/2006/main">
  <p:tag name="WASPOLLED" val="B92B52CECD304430BC665A020EDF0349"/>
  <p:tag name="TPVERSION" val="5"/>
  <p:tag name="TPFULLVERSION" val="5.1.1.3052"/>
  <p:tag name="PPTVERSION" val="14"/>
  <p:tag name="TPOS" val="2"/>
</p:tagLst>
</file>

<file path=ppt/theme/theme1.xml><?xml version="1.0" encoding="utf-8"?>
<a:theme xmlns:a="http://schemas.openxmlformats.org/drawingml/2006/main" name="Presentationslides">
  <a:themeElements>
    <a:clrScheme name="JBS">
      <a:dk1>
        <a:srgbClr val="000000"/>
      </a:dk1>
      <a:lt1>
        <a:srgbClr val="FFFFFF"/>
      </a:lt1>
      <a:dk2>
        <a:srgbClr val="000000"/>
      </a:dk2>
      <a:lt2>
        <a:srgbClr val="808080"/>
      </a:lt2>
      <a:accent1>
        <a:srgbClr val="577BBD"/>
      </a:accent1>
      <a:accent2>
        <a:srgbClr val="708FC7"/>
      </a:accent2>
      <a:accent3>
        <a:srgbClr val="8AA3D1"/>
      </a:accent3>
      <a:accent4>
        <a:srgbClr val="A3B7DB"/>
      </a:accent4>
      <a:accent5>
        <a:srgbClr val="BCCAE5"/>
      </a:accent5>
      <a:accent6>
        <a:srgbClr val="D5DEEE"/>
      </a:accent6>
      <a:hlink>
        <a:srgbClr val="009999"/>
      </a:hlink>
      <a:folHlink>
        <a:srgbClr val="99CC00"/>
      </a:folHlink>
    </a:clrScheme>
    <a:fontScheme name="JBS Font Theme Fonts">
      <a:majorFont>
        <a:latin typeface="Arial"/>
        <a:ea typeface="ＭＳ Ｐゴシック"/>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3D7EDB"/>
        </a:accent1>
        <a:accent2>
          <a:srgbClr val="333399"/>
        </a:accent2>
        <a:accent3>
          <a:srgbClr val="FFFFFF"/>
        </a:accent3>
        <a:accent4>
          <a:srgbClr val="000000"/>
        </a:accent4>
        <a:accent5>
          <a:srgbClr val="AFC0E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E5972F20453C47B1D6DC32C2EA1BB4" ma:contentTypeVersion="1" ma:contentTypeDescription="Create a new document." ma:contentTypeScope="" ma:versionID="bf6eab1d8db49649503e22cc39400afd">
  <xsd:schema xmlns:xsd="http://www.w3.org/2001/XMLSchema" xmlns:xs="http://www.w3.org/2001/XMLSchema" xmlns:p="http://schemas.microsoft.com/office/2006/metadata/properties" xmlns:ns1="http://schemas.microsoft.com/sharepoint/v3" xmlns:ns2="a022ee0d-cdce-42c3-93dc-3464379c4f1b" targetNamespace="http://schemas.microsoft.com/office/2006/metadata/properties" ma:root="true" ma:fieldsID="1dc11259b208d42407715cb0a85ba1a0" ns1:_="" ns2:_="">
    <xsd:import namespace="http://schemas.microsoft.com/sharepoint/v3"/>
    <xsd:import namespace="a022ee0d-cdce-42c3-93dc-3464379c4f1b"/>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022ee0d-cdce-42c3-93dc-3464379c4f1b" elementFormDefault="qualified">
    <xsd:import namespace="http://schemas.microsoft.com/office/2006/documentManagement/types"/>
    <xsd:import namespace="http://schemas.microsoft.com/office/infopath/2007/PartnerControls"/>
    <xsd:element name="_dlc_DocId" ma:index="10" nillable="true" ma:displayName="Document ID Value" ma:description="The value of the document ID assigned to this item." ma:internalName="_dlc_DocId" ma:readOnly="true">
      <xsd:simpleType>
        <xsd:restriction base="dms:Text"/>
      </xsd:simpleType>
    </xsd:element>
    <xsd:element name="_dlc_DocIdUrl" ma:index="11"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a022ee0d-cdce-42c3-93dc-3464379c4f1b">2WUE6WP4NET5-20-22</_dlc_DocId>
    <_dlc_DocIdUrl xmlns="a022ee0d-cdce-42c3-93dc-3464379c4f1b">
      <Url>http://www.intranet2011.jbs.cam.ac.uk/externalaffairs/_layouts/DocIdRedir.aspx?ID=2WUE6WP4NET5-20-22</Url>
      <Description>2WUE6WP4NET5-20-22</Description>
    </_dlc_DocIdUrl>
  </documentManagement>
</p:properties>
</file>

<file path=customXml/itemProps1.xml><?xml version="1.0" encoding="utf-8"?>
<ds:datastoreItem xmlns:ds="http://schemas.openxmlformats.org/officeDocument/2006/customXml" ds:itemID="{DBC43BE3-7722-4E6E-BE7C-0BF2B2B9EF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022ee0d-cdce-42c3-93dc-3464379c4f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098DD50-32E4-41C1-B111-0A8467E9A660}">
  <ds:schemaRefs>
    <ds:schemaRef ds:uri="http://schemas.microsoft.com/sharepoint/events"/>
  </ds:schemaRefs>
</ds:datastoreItem>
</file>

<file path=customXml/itemProps3.xml><?xml version="1.0" encoding="utf-8"?>
<ds:datastoreItem xmlns:ds="http://schemas.openxmlformats.org/officeDocument/2006/customXml" ds:itemID="{2FC332D9-92EB-427C-99A0-BE3E24A209FE}">
  <ds:schemaRefs>
    <ds:schemaRef ds:uri="http://schemas.microsoft.com/sharepoint/v3/contenttype/forms"/>
  </ds:schemaRefs>
</ds:datastoreItem>
</file>

<file path=customXml/itemProps4.xml><?xml version="1.0" encoding="utf-8"?>
<ds:datastoreItem xmlns:ds="http://schemas.openxmlformats.org/officeDocument/2006/customXml" ds:itemID="{342AA686-38EF-4C52-8940-36CCDAB04A2F}">
  <ds:schemaRefs>
    <ds:schemaRef ds:uri="http://schemas.microsoft.com/office/infopath/2007/PartnerControls"/>
    <ds:schemaRef ds:uri="http://schemas.microsoft.com/sharepoint/v3"/>
    <ds:schemaRef ds:uri="http://purl.org/dc/terms/"/>
    <ds:schemaRef ds:uri="http://schemas.microsoft.com/office/2006/documentManagement/types"/>
    <ds:schemaRef ds:uri="http://purl.org/dc/elements/1.1/"/>
    <ds:schemaRef ds:uri="http://schemas.microsoft.com/office/2006/metadata/properties"/>
    <ds:schemaRef ds:uri="http://www.w3.org/XML/1998/namespace"/>
    <ds:schemaRef ds:uri="http://schemas.openxmlformats.org/package/2006/metadata/core-properties"/>
    <ds:schemaRef ds:uri="a022ee0d-cdce-42c3-93dc-3464379c4f1b"/>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Presentationslides</Template>
  <TotalTime>521</TotalTime>
  <Words>3984</Words>
  <Application>Microsoft Office PowerPoint</Application>
  <PresentationFormat>On-screen Show (4:3)</PresentationFormat>
  <Paragraphs>840</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Presentationslides</vt:lpstr>
      <vt:lpstr>When do controlling shareholders expropriate?  Controlling shareholder performance and cash transfer tunneling from listed firms in China</vt:lpstr>
      <vt:lpstr>Basic question</vt:lpstr>
      <vt:lpstr>More specifically</vt:lpstr>
      <vt:lpstr>Why should we care?</vt:lpstr>
      <vt:lpstr>So why doesn’t prior literature examine this question?</vt:lpstr>
      <vt:lpstr>Our hypotheses</vt:lpstr>
      <vt:lpstr>Our approach</vt:lpstr>
      <vt:lpstr>Proxies for expropriation</vt:lpstr>
      <vt:lpstr>Direct flows</vt:lpstr>
      <vt:lpstr>Indirect evidence</vt:lpstr>
      <vt:lpstr>Hypothetical example</vt:lpstr>
      <vt:lpstr>What we do and do not do?</vt:lpstr>
      <vt:lpstr>Data sources</vt:lpstr>
      <vt:lpstr>Intra-group loans and the performance of the controlling shareholder</vt:lpstr>
      <vt:lpstr>Intra-group loans and the performance of the controlling shareholder</vt:lpstr>
      <vt:lpstr>Is this just another aspect of being in a business group?</vt:lpstr>
      <vt:lpstr>The market valuation of intra-group loans</vt:lpstr>
      <vt:lpstr>The market valuation of intra-group loans</vt:lpstr>
      <vt:lpstr>Economic interpretation</vt:lpstr>
      <vt:lpstr>Is this just a mechanical correlation between the operating performance of the publicly listed subsidiary, the market valuation of intra-group loans on its balance sheet, and the operating performance of its non-listed parent?</vt:lpstr>
      <vt:lpstr>Conclusions from direct evidence</vt:lpstr>
      <vt:lpstr>Is this enough?</vt:lpstr>
      <vt:lpstr>Indirect evidence: Value of cash holdings</vt:lpstr>
      <vt:lpstr>Parent performance and the level of listed firm cash holdings</vt:lpstr>
      <vt:lpstr>Parent performance and the value of listed firm cash holdings</vt:lpstr>
      <vt:lpstr>Parent performance and the value of listed firm cash holdings</vt:lpstr>
      <vt:lpstr>Economic interpretation</vt:lpstr>
      <vt:lpstr>Alternative explanation</vt:lpstr>
      <vt:lpstr>Alternative explanation</vt:lpstr>
      <vt:lpstr>Alternative explanation</vt:lpstr>
      <vt:lpstr>Coinsurance?</vt:lpstr>
      <vt:lpstr>Coinsurance?</vt:lpstr>
      <vt:lpstr>Conclusions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Corporate governance and ethics</dc:title>
  <dc:creator>Raghu Rau</dc:creator>
  <cp:lastModifiedBy>Raghavendra Rau</cp:lastModifiedBy>
  <cp:revision>82</cp:revision>
  <dcterms:created xsi:type="dcterms:W3CDTF">2012-01-25T13:06:39Z</dcterms:created>
  <dcterms:modified xsi:type="dcterms:W3CDTF">2014-12-14T08:06:31Z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0x01010084E5972F20453C47B1D6DC32C2EA1BB4</vt:lpwstr>
  </property>
  <property fmtid="{D5CDD505-2E9C-101B-9397-08002B2CF9AE}" pid="3" name="_dlc_DocIdItemGuid">
    <vt:lpwstr>1a477d04-2e6e-4bf9-89b9-e0dc796a9875</vt:lpwstr>
  </property>
</Properties>
</file>