
<file path=[Content_Types].xml><?xml version="1.0" encoding="utf-8"?>
<Types xmlns="http://schemas.openxmlformats.org/package/2006/content-types">
  <Default Extension="png" ContentType="image/png"/>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 id="2147483804" r:id="rId2"/>
    <p:sldMasterId id="2147483816" r:id="rId3"/>
  </p:sldMasterIdLst>
  <p:notesMasterIdLst>
    <p:notesMasterId r:id="rId33"/>
  </p:notesMasterIdLst>
  <p:sldIdLst>
    <p:sldId id="329" r:id="rId4"/>
    <p:sldId id="376" r:id="rId5"/>
    <p:sldId id="375" r:id="rId6"/>
    <p:sldId id="368" r:id="rId7"/>
    <p:sldId id="374" r:id="rId8"/>
    <p:sldId id="335" r:id="rId9"/>
    <p:sldId id="371" r:id="rId10"/>
    <p:sldId id="351" r:id="rId11"/>
    <p:sldId id="333" r:id="rId12"/>
    <p:sldId id="334" r:id="rId13"/>
    <p:sldId id="338" r:id="rId14"/>
    <p:sldId id="339" r:id="rId15"/>
    <p:sldId id="383" r:id="rId16"/>
    <p:sldId id="355" r:id="rId17"/>
    <p:sldId id="360" r:id="rId18"/>
    <p:sldId id="361" r:id="rId19"/>
    <p:sldId id="363" r:id="rId20"/>
    <p:sldId id="364" r:id="rId21"/>
    <p:sldId id="385" r:id="rId22"/>
    <p:sldId id="384" r:id="rId23"/>
    <p:sldId id="365" r:id="rId24"/>
    <p:sldId id="377" r:id="rId25"/>
    <p:sldId id="366" r:id="rId26"/>
    <p:sldId id="386" r:id="rId27"/>
    <p:sldId id="387" r:id="rId28"/>
    <p:sldId id="388" r:id="rId29"/>
    <p:sldId id="346" r:id="rId30"/>
    <p:sldId id="347" r:id="rId31"/>
    <p:sldId id="372" r:id="rId32"/>
  </p:sldIdLst>
  <p:sldSz cx="9144000" cy="6858000" type="screen4x3"/>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4A02"/>
    <a:srgbClr val="2F97FF"/>
    <a:srgbClr val="0000CC"/>
    <a:srgbClr val="00823B"/>
    <a:srgbClr val="009A46"/>
    <a:srgbClr val="FF3300"/>
    <a:srgbClr val="3E6C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1" autoAdjust="0"/>
    <p:restoredTop sz="91935" autoAdjust="0"/>
  </p:normalViewPr>
  <p:slideViewPr>
    <p:cSldViewPr>
      <p:cViewPr>
        <p:scale>
          <a:sx n="50" d="100"/>
          <a:sy n="50" d="100"/>
        </p:scale>
        <p:origin x="-1926" y="-4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137581-12A2-47D6-B45D-E3490DA40B56}" type="datetimeFigureOut">
              <a:rPr lang="en-US" smtClean="0"/>
              <a:pPr/>
              <a:t>12/16/2014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08812F-7C9F-46E2-AFDF-4E93CE124B49}" type="slidenum">
              <a:rPr lang="en-US" smtClean="0"/>
              <a:pPr/>
              <a:t>‹#›</a:t>
            </a:fld>
            <a:endParaRPr lang="en-US"/>
          </a:p>
        </p:txBody>
      </p:sp>
    </p:spTree>
    <p:extLst>
      <p:ext uri="{BB962C8B-B14F-4D97-AF65-F5344CB8AC3E}">
        <p14:creationId xmlns:p14="http://schemas.microsoft.com/office/powerpoint/2010/main" val="620450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www.merriam-webster.com/dictionary/momentary" TargetMode="External"/><Relationship Id="rId13" Type="http://schemas.openxmlformats.org/officeDocument/2006/relationships/hyperlink" Target="http://www.merriam-webster.com/dictionary/short-lived" TargetMode="External"/><Relationship Id="rId3" Type="http://schemas.openxmlformats.org/officeDocument/2006/relationships/hyperlink" Target="http://www.merriam-webster.com/dictionary/brief" TargetMode="External"/><Relationship Id="rId7" Type="http://schemas.openxmlformats.org/officeDocument/2006/relationships/hyperlink" Target="http://www.merriam-webster.com/dictionary/flash" TargetMode="External"/><Relationship Id="rId12" Type="http://schemas.openxmlformats.org/officeDocument/2006/relationships/hyperlink" Target="http://www.merriam-webster.com/dictionary/passing" TargetMode="External"/><Relationship Id="rId2" Type="http://schemas.openxmlformats.org/officeDocument/2006/relationships/slide" Target="../slides/slide8.xml"/><Relationship Id="rId16" Type="http://schemas.openxmlformats.org/officeDocument/2006/relationships/hyperlink" Target="http://www.merriam-webster.com/dictionary/transitory" TargetMode="External"/><Relationship Id="rId1" Type="http://schemas.openxmlformats.org/officeDocument/2006/relationships/notesMaster" Target="../notesMasters/notesMaster1.xml"/><Relationship Id="rId6" Type="http://schemas.openxmlformats.org/officeDocument/2006/relationships/hyperlink" Target="http://www.merriam-webster.com/dictionary/evanescent" TargetMode="External"/><Relationship Id="rId11" Type="http://schemas.openxmlformats.org/officeDocument/2006/relationships/hyperlink" Target="http://www.merriam-webster.com/dictionary/impermanent" TargetMode="External"/><Relationship Id="rId5" Type="http://schemas.openxmlformats.org/officeDocument/2006/relationships/hyperlink" Target="http://www.merriam-webster.com/dictionary/ephemeral" TargetMode="External"/><Relationship Id="rId15" Type="http://schemas.openxmlformats.org/officeDocument/2006/relationships/hyperlink" Target="http://www.merriam-webster.com/dictionary/transient" TargetMode="External"/><Relationship Id="rId10" Type="http://schemas.openxmlformats.org/officeDocument/2006/relationships/hyperlink" Target="http://www.merriam-webster.com/dictionary/fugitive" TargetMode="External"/><Relationship Id="rId4" Type="http://schemas.openxmlformats.org/officeDocument/2006/relationships/hyperlink" Target="http://www.merriam-webster.com/dictionary/deciduous" TargetMode="External"/><Relationship Id="rId9" Type="http://schemas.openxmlformats.org/officeDocument/2006/relationships/hyperlink" Target="http://www.merriam-webster.com/dictionary/fugacious" TargetMode="External"/><Relationship Id="rId14" Type="http://schemas.openxmlformats.org/officeDocument/2006/relationships/hyperlink" Target="http://www.merriam-webster.com/dictionary/temporary"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Delete</a:t>
            </a:r>
            <a:r>
              <a:rPr lang="en-US" baseline="0" dirty="0" smtClean="0"/>
              <a:t> 4 pictures</a:t>
            </a: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2741909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a:spcBef>
                <a:spcPct val="0"/>
              </a:spcBef>
            </a:pPr>
            <a:endParaRPr lang="en-GB" dirty="0" smtClean="0"/>
          </a:p>
        </p:txBody>
      </p:sp>
      <p:sp>
        <p:nvSpPr>
          <p:cNvPr id="5124" name="Slide Number Placeholder 3"/>
          <p:cNvSpPr>
            <a:spLocks noGrp="1"/>
          </p:cNvSpPr>
          <p:nvPr>
            <p:ph type="sldNum" sz="quarter" idx="5"/>
          </p:nvPr>
        </p:nvSpPr>
        <p:spPr bwMode="auto">
          <a:ln>
            <a:miter lim="800000"/>
            <a:headEnd/>
            <a:tailEnd/>
          </a:ln>
        </p:spPr>
        <p:txBody>
          <a:bodyPr/>
          <a:lstStyle/>
          <a:p>
            <a:fld id="{6141AA2E-AEFD-4257-9350-E50811B2CA08}" type="slidenum">
              <a:rPr lang="en-US">
                <a:solidFill>
                  <a:prstClr val="black"/>
                </a:solidFill>
              </a:rPr>
              <a:pPr/>
              <a:t>3</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bwMode="auto">
          <a:noFill/>
          <a:ln>
            <a:solidFill>
              <a:srgbClr val="000000"/>
            </a:solidFill>
            <a:miter lim="800000"/>
            <a:headEnd/>
            <a:tailEnd/>
          </a:ln>
        </p:spPr>
      </p:sp>
      <p:sp>
        <p:nvSpPr>
          <p:cNvPr id="81923" name="Rectangle 3"/>
          <p:cNvSpPr>
            <a:spLocks noGrp="1"/>
          </p:cNvSpPr>
          <p:nvPr>
            <p:ph type="body" idx="1"/>
          </p:nvPr>
        </p:nvSpPr>
        <p:spPr bwMode="auto">
          <a:noFill/>
        </p:spPr>
        <p:txBody>
          <a:bodyPr wrap="square" numCol="1" anchor="t" anchorCtr="0" compatLnSpc="1">
            <a:prstTxWarp prst="textNoShape">
              <a:avLst/>
            </a:prstTxWarp>
          </a:bodyPr>
          <a:lstStyle/>
          <a:p>
            <a:pPr marL="0" indent="0">
              <a:buFontTx/>
              <a:buNone/>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Now it is very much like the US markets but historically</a:t>
            </a:r>
            <a:r>
              <a:rPr lang="en-US" baseline="0" dirty="0" smtClean="0"/>
              <a:t> it has lot of special features such as warning quotes, and delayed trading</a:t>
            </a: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r>
                  <a:rPr lang="en-US" sz="1200" b="1" dirty="0" smtClean="0">
                    <a:effectLst/>
                  </a:rPr>
                  <a:t>Foucault, R</a:t>
                </a:r>
                <a14:m>
                  <m:oMath xmlns:m="http://schemas.openxmlformats.org/officeDocument/2006/math">
                    <m:acc>
                      <m:accPr>
                        <m:chr m:val="̈"/>
                        <m:ctrlPr>
                          <a:rPr lang="en-US" sz="1200" b="1" i="1">
                            <a:effectLst/>
                            <a:latin typeface="Cambria Math"/>
                          </a:rPr>
                        </m:ctrlPr>
                      </m:accPr>
                      <m:e>
                        <m:r>
                          <m:rPr>
                            <m:sty m:val="p"/>
                          </m:rPr>
                          <a:rPr lang="en-US" sz="1200" b="1">
                            <a:effectLst/>
                            <a:latin typeface="Cambria Math"/>
                          </a:rPr>
                          <m:t>o</m:t>
                        </m:r>
                      </m:e>
                    </m:acc>
                  </m:oMath>
                </a14:m>
                <a:r>
                  <a:rPr lang="en-US" sz="1200" b="1" dirty="0">
                    <a:effectLst/>
                  </a:rPr>
                  <a:t>ell, and San</a:t>
                </a:r>
                <a14:m>
                  <m:oMath xmlns:m="http://schemas.openxmlformats.org/officeDocument/2006/math">
                    <m:acc>
                      <m:accPr>
                        <m:chr m:val="̇"/>
                        <m:ctrlPr>
                          <a:rPr lang="en-US" sz="1200" b="1" i="1">
                            <a:effectLst/>
                            <a:latin typeface="Cambria Math"/>
                          </a:rPr>
                        </m:ctrlPr>
                      </m:accPr>
                      <m:e>
                        <m:r>
                          <m:rPr>
                            <m:sty m:val="p"/>
                          </m:rPr>
                          <a:rPr lang="en-US" sz="1200" b="1">
                            <a:effectLst/>
                            <a:latin typeface="Cambria Math"/>
                          </a:rPr>
                          <m:t>d</m:t>
                        </m:r>
                      </m:e>
                    </m:acc>
                  </m:oMath>
                </a14:m>
                <a:r>
                  <a:rPr lang="en-US" sz="1200" b="1" dirty="0">
                    <a:effectLst/>
                  </a:rPr>
                  <a:t>as, </a:t>
                </a:r>
                <a:r>
                  <a:rPr lang="en-US" sz="1200" b="1" dirty="0" smtClean="0">
                    <a:effectLst/>
                  </a:rPr>
                  <a:t>2003: </a:t>
                </a:r>
                <a:r>
                  <a:rPr lang="en-US" sz="1200" u="sng" kern="1200" dirty="0" smtClean="0">
                    <a:solidFill>
                      <a:schemeClr val="tx1"/>
                    </a:solidFill>
                    <a:effectLst/>
                    <a:latin typeface="+mn-lt"/>
                    <a:ea typeface="+mn-ea"/>
                    <a:cs typeface="+mn-cs"/>
                  </a:rPr>
                  <a:t>theoretical model show that faster markets can raise adverse selection costs because informed liquidity demanders can more closely monitor the market for any temporary mispricing or stale quotes. </a:t>
                </a:r>
              </a:p>
              <a:p>
                <a:r>
                  <a:rPr lang="en-US" sz="1200" u="sng" kern="1200" dirty="0" err="1" smtClean="0">
                    <a:solidFill>
                      <a:schemeClr val="tx1"/>
                    </a:solidFill>
                    <a:effectLst/>
                    <a:latin typeface="+mn-lt"/>
                    <a:ea typeface="+mn-ea"/>
                    <a:cs typeface="+mn-cs"/>
                  </a:rPr>
                  <a:t>Boehmer</a:t>
                </a:r>
                <a:r>
                  <a:rPr lang="en-US" sz="1200" u="sng" kern="1200" dirty="0" smtClean="0">
                    <a:solidFill>
                      <a:schemeClr val="tx1"/>
                    </a:solidFill>
                    <a:effectLst/>
                    <a:latin typeface="+mn-lt"/>
                    <a:ea typeface="+mn-ea"/>
                    <a:cs typeface="+mn-cs"/>
                  </a:rPr>
                  <a:t>, Saar and Yu (2005) suggest that the increased transparency and higher speed of trading can increase the competition among liquidity suppliers at various price points that, in turn, should reduce the cost of immediacy for liquidity demanders. </a:t>
                </a:r>
              </a:p>
              <a:p>
                <a:endParaRPr lang="en-US" sz="1200" u="sng" kern="1200" dirty="0" smtClean="0">
                  <a:solidFill>
                    <a:schemeClr val="tx1"/>
                  </a:solidFill>
                  <a:effectLst/>
                  <a:latin typeface="+mn-lt"/>
                  <a:ea typeface="+mn-ea"/>
                  <a:cs typeface="+mn-cs"/>
                </a:endParaRPr>
              </a:p>
              <a:p>
                <a:r>
                  <a:rPr lang="en-US" sz="1200" u="sng" kern="1200" dirty="0" err="1" smtClean="0">
                    <a:solidFill>
                      <a:schemeClr val="tx1"/>
                    </a:solidFill>
                    <a:effectLst/>
                    <a:latin typeface="+mn-lt"/>
                    <a:ea typeface="+mn-ea"/>
                    <a:cs typeface="+mn-cs"/>
                  </a:rPr>
                  <a:t>Hendershott</a:t>
                </a:r>
                <a:r>
                  <a:rPr lang="en-US" sz="1200" u="sng" kern="1200" dirty="0" smtClean="0">
                    <a:solidFill>
                      <a:schemeClr val="tx1"/>
                    </a:solidFill>
                    <a:effectLst/>
                    <a:latin typeface="+mn-lt"/>
                    <a:ea typeface="+mn-ea"/>
                    <a:cs typeface="+mn-cs"/>
                  </a:rPr>
                  <a:t>, Jones, and </a:t>
                </a:r>
                <a:r>
                  <a:rPr lang="en-US" sz="1200" u="sng" kern="1200" dirty="0" err="1" smtClean="0">
                    <a:solidFill>
                      <a:schemeClr val="tx1"/>
                    </a:solidFill>
                    <a:effectLst/>
                    <a:latin typeface="+mn-lt"/>
                    <a:ea typeface="+mn-ea"/>
                    <a:cs typeface="+mn-cs"/>
                  </a:rPr>
                  <a:t>Menkveld</a:t>
                </a:r>
                <a:r>
                  <a:rPr lang="en-US" sz="1200" u="sng" kern="1200" dirty="0" smtClean="0">
                    <a:solidFill>
                      <a:schemeClr val="tx1"/>
                    </a:solidFill>
                    <a:effectLst/>
                    <a:latin typeface="+mn-lt"/>
                    <a:ea typeface="+mn-ea"/>
                    <a:cs typeface="+mn-cs"/>
                  </a:rPr>
                  <a:t> (2011) and </a:t>
                </a:r>
                <a:r>
                  <a:rPr lang="en-US" sz="1200" u="sng" kern="1200" dirty="0" err="1" smtClean="0">
                    <a:solidFill>
                      <a:schemeClr val="tx1"/>
                    </a:solidFill>
                    <a:effectLst/>
                    <a:latin typeface="+mn-lt"/>
                    <a:ea typeface="+mn-ea"/>
                    <a:cs typeface="+mn-cs"/>
                  </a:rPr>
                  <a:t>Hendershott</a:t>
                </a:r>
                <a:r>
                  <a:rPr lang="en-US" sz="1200" u="sng" kern="1200" dirty="0" smtClean="0">
                    <a:solidFill>
                      <a:schemeClr val="tx1"/>
                    </a:solidFill>
                    <a:effectLst/>
                    <a:latin typeface="+mn-lt"/>
                    <a:ea typeface="+mn-ea"/>
                    <a:cs typeface="+mn-cs"/>
                  </a:rPr>
                  <a:t> and Moulton (2011) find that HFT increases COI and, thereby, leads to a significant increase in volatility whereas </a:t>
                </a:r>
                <a:r>
                  <a:rPr lang="en-US" sz="1200" u="sng" kern="1200" dirty="0" err="1" smtClean="0">
                    <a:solidFill>
                      <a:schemeClr val="tx1"/>
                    </a:solidFill>
                    <a:effectLst/>
                    <a:latin typeface="+mn-lt"/>
                    <a:ea typeface="+mn-ea"/>
                    <a:cs typeface="+mn-cs"/>
                  </a:rPr>
                  <a:t>Brogaard</a:t>
                </a:r>
                <a:r>
                  <a:rPr lang="en-US" sz="1200" u="sng" kern="1200" dirty="0" smtClean="0">
                    <a:solidFill>
                      <a:schemeClr val="tx1"/>
                    </a:solidFill>
                    <a:effectLst/>
                    <a:latin typeface="+mn-lt"/>
                    <a:ea typeface="+mn-ea"/>
                    <a:cs typeface="+mn-cs"/>
                  </a:rPr>
                  <a:t> (2010) and Hasbrouck and Saar (2011) argue that HFT enables aggressively competitive electronic liquidity provision at a much lower cost than that of traditional market makers and, therefore dampens short-term volatility. </a:t>
                </a:r>
                <a:endParaRPr lang="en-US" dirty="0"/>
              </a:p>
            </p:txBody>
          </p:sp>
        </mc:Choice>
        <mc:Fallback xmlns="">
          <p:sp>
            <p:nvSpPr>
              <p:cNvPr id="3" name="Notes Placeholder 2"/>
              <p:cNvSpPr>
                <a:spLocks noGrp="1"/>
              </p:cNvSpPr>
              <p:nvPr>
                <p:ph type="body" idx="1"/>
              </p:nvPr>
            </p:nvSpPr>
            <p:spPr/>
            <p:txBody>
              <a:bodyPr>
                <a:normAutofit/>
              </a:bodyPr>
              <a:lstStyle/>
              <a:p>
                <a:r>
                  <a:rPr lang="en-US" sz="1200" b="1" dirty="0" smtClean="0">
                    <a:effectLst/>
                  </a:rPr>
                  <a:t>Foucault, R</a:t>
                </a:r>
                <a:r>
                  <a:rPr lang="en-US" sz="1200" b="1" i="0">
                    <a:effectLst/>
                    <a:latin typeface="Cambria Math"/>
                  </a:rPr>
                  <a:t>o ̈</a:t>
                </a:r>
                <a:r>
                  <a:rPr lang="en-US" sz="1200" b="1" dirty="0">
                    <a:effectLst/>
                  </a:rPr>
                  <a:t>ell, and San</a:t>
                </a:r>
                <a:r>
                  <a:rPr lang="en-US" sz="1200" b="1" i="0">
                    <a:effectLst/>
                    <a:latin typeface="Cambria Math"/>
                  </a:rPr>
                  <a:t>d ̇</a:t>
                </a:r>
                <a:r>
                  <a:rPr lang="en-US" sz="1200" b="1" dirty="0">
                    <a:effectLst/>
                  </a:rPr>
                  <a:t>as, </a:t>
                </a:r>
                <a:r>
                  <a:rPr lang="en-US" sz="1200" b="1" dirty="0" smtClean="0">
                    <a:effectLst/>
                  </a:rPr>
                  <a:t>2003: </a:t>
                </a:r>
                <a:r>
                  <a:rPr lang="en-US" sz="1200" u="sng" kern="1200" dirty="0" smtClean="0">
                    <a:solidFill>
                      <a:schemeClr val="tx1"/>
                    </a:solidFill>
                    <a:effectLst/>
                    <a:latin typeface="+mn-lt"/>
                    <a:ea typeface="+mn-ea"/>
                    <a:cs typeface="+mn-cs"/>
                  </a:rPr>
                  <a:t>theoretical model show that faster markets can raise adverse selection costs because informed liquidity demanders can more closely monitor the market for any temporary mispricing or stale quotes. </a:t>
                </a:r>
              </a:p>
              <a:p>
                <a:r>
                  <a:rPr lang="en-US" sz="1200" u="sng" kern="1200" dirty="0" err="1" smtClean="0">
                    <a:solidFill>
                      <a:schemeClr val="tx1"/>
                    </a:solidFill>
                    <a:effectLst/>
                    <a:latin typeface="+mn-lt"/>
                    <a:ea typeface="+mn-ea"/>
                    <a:cs typeface="+mn-cs"/>
                  </a:rPr>
                  <a:t>Boehmer</a:t>
                </a:r>
                <a:r>
                  <a:rPr lang="en-US" sz="1200" u="sng" kern="1200" dirty="0" smtClean="0">
                    <a:solidFill>
                      <a:schemeClr val="tx1"/>
                    </a:solidFill>
                    <a:effectLst/>
                    <a:latin typeface="+mn-lt"/>
                    <a:ea typeface="+mn-ea"/>
                    <a:cs typeface="+mn-cs"/>
                  </a:rPr>
                  <a:t>, Saar and Yu (2005) suggest that the increased transparency and higher speed of trading can increase the competition among liquidity suppliers at various price points that, in turn, should reduce the cost of immediacy for liquidity demanders. </a:t>
                </a:r>
              </a:p>
              <a:p>
                <a:r>
                  <a:rPr lang="en-US" sz="1200" u="sng" kern="1200" dirty="0" err="1" smtClean="0">
                    <a:solidFill>
                      <a:schemeClr val="tx1"/>
                    </a:solidFill>
                    <a:effectLst/>
                    <a:latin typeface="+mn-lt"/>
                    <a:ea typeface="+mn-ea"/>
                    <a:cs typeface="+mn-cs"/>
                  </a:rPr>
                  <a:t>Hendershott</a:t>
                </a:r>
                <a:r>
                  <a:rPr lang="en-US" sz="1200" u="sng" kern="1200" dirty="0" smtClean="0">
                    <a:solidFill>
                      <a:schemeClr val="tx1"/>
                    </a:solidFill>
                    <a:effectLst/>
                    <a:latin typeface="+mn-lt"/>
                    <a:ea typeface="+mn-ea"/>
                    <a:cs typeface="+mn-cs"/>
                  </a:rPr>
                  <a:t>, Jones, and </a:t>
                </a:r>
                <a:r>
                  <a:rPr lang="en-US" sz="1200" u="sng" kern="1200" dirty="0" err="1" smtClean="0">
                    <a:solidFill>
                      <a:schemeClr val="tx1"/>
                    </a:solidFill>
                    <a:effectLst/>
                    <a:latin typeface="+mn-lt"/>
                    <a:ea typeface="+mn-ea"/>
                    <a:cs typeface="+mn-cs"/>
                  </a:rPr>
                  <a:t>Menkveld</a:t>
                </a:r>
                <a:r>
                  <a:rPr lang="en-US" sz="1200" u="sng" kern="1200" dirty="0" smtClean="0">
                    <a:solidFill>
                      <a:schemeClr val="tx1"/>
                    </a:solidFill>
                    <a:effectLst/>
                    <a:latin typeface="+mn-lt"/>
                    <a:ea typeface="+mn-ea"/>
                    <a:cs typeface="+mn-cs"/>
                  </a:rPr>
                  <a:t> (2011) and </a:t>
                </a:r>
                <a:r>
                  <a:rPr lang="en-US" sz="1200" u="sng" kern="1200" dirty="0" err="1" smtClean="0">
                    <a:solidFill>
                      <a:schemeClr val="tx1"/>
                    </a:solidFill>
                    <a:effectLst/>
                    <a:latin typeface="+mn-lt"/>
                    <a:ea typeface="+mn-ea"/>
                    <a:cs typeface="+mn-cs"/>
                  </a:rPr>
                  <a:t>Hendershott</a:t>
                </a:r>
                <a:r>
                  <a:rPr lang="en-US" sz="1200" u="sng" kern="1200" dirty="0" smtClean="0">
                    <a:solidFill>
                      <a:schemeClr val="tx1"/>
                    </a:solidFill>
                    <a:effectLst/>
                    <a:latin typeface="+mn-lt"/>
                    <a:ea typeface="+mn-ea"/>
                    <a:cs typeface="+mn-cs"/>
                  </a:rPr>
                  <a:t> and Moulton (2011) find that HFT increases COI and, thereby, leads to a significant increase in volatility whereas </a:t>
                </a:r>
                <a:r>
                  <a:rPr lang="en-US" sz="1200" u="sng" kern="1200" dirty="0" err="1" smtClean="0">
                    <a:solidFill>
                      <a:schemeClr val="tx1"/>
                    </a:solidFill>
                    <a:effectLst/>
                    <a:latin typeface="+mn-lt"/>
                    <a:ea typeface="+mn-ea"/>
                    <a:cs typeface="+mn-cs"/>
                  </a:rPr>
                  <a:t>Brogaard</a:t>
                </a:r>
                <a:r>
                  <a:rPr lang="en-US" sz="1200" u="sng" kern="1200" dirty="0" smtClean="0">
                    <a:solidFill>
                      <a:schemeClr val="tx1"/>
                    </a:solidFill>
                    <a:effectLst/>
                    <a:latin typeface="+mn-lt"/>
                    <a:ea typeface="+mn-ea"/>
                    <a:cs typeface="+mn-cs"/>
                  </a:rPr>
                  <a:t> (2010) and Hasbrouck and Saar (2011) argue that HFT enables aggressively competitive electronic liquidity provision at a much lower cost than that of traditional market makers and, therefore dampens short-term volatility. </a:t>
                </a:r>
                <a:endParaRPr lang="en-US" dirty="0"/>
              </a:p>
            </p:txBody>
          </p:sp>
        </mc:Fallback>
      </mc:AlternateContent>
      <p:sp>
        <p:nvSpPr>
          <p:cNvPr id="4" name="Slide Number Placeholder 3"/>
          <p:cNvSpPr>
            <a:spLocks noGrp="1"/>
          </p:cNvSpPr>
          <p:nvPr>
            <p:ph type="sldNum" sz="quarter" idx="10"/>
          </p:nvPr>
        </p:nvSpPr>
        <p:spPr/>
        <p:txBody>
          <a:bodyPr/>
          <a:lstStyle/>
          <a:p>
            <a:fld id="{7908812F-7C9F-46E2-AFDF-4E93CE124B49}"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r>
                  <a:rPr lang="en-US" dirty="0" smtClean="0"/>
                  <a:t>Quotes-to-trade</a:t>
                </a:r>
                <a:r>
                  <a:rPr lang="en-US" baseline="0" dirty="0" smtClean="0"/>
                  <a:t> ratio is good if there is true intent to trade, since TSE is not fragmented.</a:t>
                </a:r>
              </a:p>
              <a:p>
                <a:r>
                  <a:rPr lang="en-US" dirty="0" smtClean="0"/>
                  <a:t>Negative autocorrelation: an order increasing</a:t>
                </a:r>
                <a:r>
                  <a:rPr lang="en-US" baseline="0" dirty="0" smtClean="0"/>
                  <a:t> the depth of the LOB is followed by order reducing the depth due to lower cost of trading.</a:t>
                </a:r>
              </a:p>
              <a:p>
                <a:r>
                  <a:rPr lang="en-US" baseline="0" dirty="0" smtClean="0"/>
                  <a:t>Positive </a:t>
                </a:r>
                <a:r>
                  <a:rPr lang="en-US" baseline="0" dirty="0" err="1" smtClean="0"/>
                  <a:t>autocorr</a:t>
                </a:r>
                <a:r>
                  <a:rPr lang="en-US" baseline="0" dirty="0" smtClean="0"/>
                  <a:t> due to stealth trading</a:t>
                </a:r>
              </a:p>
              <a:p>
                <a:r>
                  <a:rPr lang="en-US" baseline="0" dirty="0" smtClean="0"/>
                  <a:t>Arrowhead can intensify the order slicing activity leading to increase in </a:t>
                </a:r>
                <a:r>
                  <a:rPr lang="en-US" baseline="0" dirty="0" err="1" smtClean="0"/>
                  <a:t>autocorr</a:t>
                </a:r>
                <a:r>
                  <a:rPr lang="en-US" baseline="0" dirty="0" smtClean="0"/>
                  <a:t>.</a:t>
                </a:r>
                <a:endParaRPr lang="en-US" dirty="0" smtClean="0"/>
              </a:p>
              <a:p>
                <a:r>
                  <a:rPr lang="en-US" dirty="0" smtClean="0"/>
                  <a:t>Baker and </a:t>
                </a:r>
                <a:r>
                  <a:rPr lang="en-US" dirty="0" err="1" smtClean="0"/>
                  <a:t>Wurgler</a:t>
                </a:r>
                <a:r>
                  <a:rPr lang="en-US" dirty="0" smtClean="0"/>
                  <a:t>: Lower cross</a:t>
                </a:r>
                <a:r>
                  <a:rPr lang="en-US" baseline="0" dirty="0" smtClean="0"/>
                  <a:t> </a:t>
                </a:r>
                <a:r>
                  <a:rPr lang="en-US" baseline="0" dirty="0" err="1" smtClean="0"/>
                  <a:t>corr</a:t>
                </a:r>
                <a:r>
                  <a:rPr lang="en-US" baseline="0" dirty="0" smtClean="0"/>
                  <a:t> due to stock specific information generation, leading to trading in individual stocks.</a:t>
                </a:r>
              </a:p>
              <a:p>
                <a:r>
                  <a:rPr lang="en-US" b="1" dirty="0" err="1" smtClean="0">
                    <a:effectLst/>
                  </a:rPr>
                  <a:t>Chordia</a:t>
                </a:r>
                <a:r>
                  <a:rPr lang="en-US" b="1" dirty="0" smtClean="0">
                    <a:effectLst/>
                  </a:rPr>
                  <a:t>, Roll, and </a:t>
                </a:r>
                <a:r>
                  <a:rPr lang="en-US" b="1" dirty="0" err="1" smtClean="0">
                    <a:effectLst/>
                  </a:rPr>
                  <a:t>Subrahmanyam</a:t>
                </a:r>
                <a:r>
                  <a:rPr lang="en-US" b="1" dirty="0" smtClean="0">
                    <a:effectLst/>
                  </a:rPr>
                  <a:t>:</a:t>
                </a:r>
                <a:r>
                  <a:rPr lang="en-US" b="1" baseline="0" dirty="0" smtClean="0">
                    <a:effectLst/>
                  </a:rPr>
                  <a:t> Liquidity makes it easier to trade baskets of </a:t>
                </a:r>
                <a:r>
                  <a:rPr lang="en-US" b="1" baseline="0" dirty="0" err="1" smtClean="0">
                    <a:effectLst/>
                  </a:rPr>
                  <a:t>informationally</a:t>
                </a:r>
                <a:r>
                  <a:rPr lang="en-US" b="1" baseline="0" dirty="0" smtClean="0">
                    <a:effectLst/>
                  </a:rPr>
                  <a:t> related securities.</a:t>
                </a:r>
              </a:p>
              <a:p>
                <a:r>
                  <a:rPr lang="en-US" b="1" baseline="0" dirty="0" smtClean="0">
                    <a:effectLst/>
                  </a:rPr>
                  <a:t>Arrowhead should increase cross </a:t>
                </a:r>
                <a:r>
                  <a:rPr lang="en-US" b="1" baseline="0" dirty="0" err="1" smtClean="0">
                    <a:effectLst/>
                  </a:rPr>
                  <a:t>corr</a:t>
                </a:r>
                <a:r>
                  <a:rPr lang="en-US" b="1" baseline="0" dirty="0" smtClean="0">
                    <a:effectLst/>
                  </a:rPr>
                  <a:t> due to increase in program trading. The co-located servers have access to similar information.</a:t>
                </a:r>
                <a:endParaRPr lang="en-US" dirty="0" smtClean="0"/>
              </a:p>
            </p:txBody>
          </p:sp>
        </mc:Choice>
        <mc:Fallback xmlns="">
          <p:sp>
            <p:nvSpPr>
              <p:cNvPr id="3" name="Notes Placeholder 2"/>
              <p:cNvSpPr>
                <a:spLocks noGrp="1"/>
              </p:cNvSpPr>
              <p:nvPr>
                <p:ph type="body" idx="1"/>
              </p:nvPr>
            </p:nvSpPr>
            <p:spPr/>
            <p:txBody>
              <a:bodyPr>
                <a:normAutofit/>
              </a:bodyPr>
              <a:lstStyle/>
              <a:p>
                <a:r>
                  <a:rPr lang="en-US" sz="1200" b="1" dirty="0" smtClean="0">
                    <a:effectLst/>
                  </a:rPr>
                  <a:t>Foucault, R</a:t>
                </a:r>
                <a:r>
                  <a:rPr lang="en-US" sz="1200" b="1" i="0">
                    <a:effectLst/>
                    <a:latin typeface="Cambria Math"/>
                  </a:rPr>
                  <a:t>o ̈</a:t>
                </a:r>
                <a:r>
                  <a:rPr lang="en-US" sz="1200" b="1" dirty="0">
                    <a:effectLst/>
                  </a:rPr>
                  <a:t>ell, and San</a:t>
                </a:r>
                <a:r>
                  <a:rPr lang="en-US" sz="1200" b="1" i="0">
                    <a:effectLst/>
                    <a:latin typeface="Cambria Math"/>
                  </a:rPr>
                  <a:t>d ̇</a:t>
                </a:r>
                <a:r>
                  <a:rPr lang="en-US" sz="1200" b="1" dirty="0">
                    <a:effectLst/>
                  </a:rPr>
                  <a:t>as, </a:t>
                </a:r>
                <a:r>
                  <a:rPr lang="en-US" sz="1200" b="1" dirty="0" smtClean="0">
                    <a:effectLst/>
                  </a:rPr>
                  <a:t>2003: </a:t>
                </a:r>
                <a:r>
                  <a:rPr lang="en-US" sz="1200" u="sng" kern="1200" dirty="0" smtClean="0">
                    <a:solidFill>
                      <a:schemeClr val="tx1"/>
                    </a:solidFill>
                    <a:effectLst/>
                    <a:latin typeface="+mn-lt"/>
                    <a:ea typeface="+mn-ea"/>
                    <a:cs typeface="+mn-cs"/>
                  </a:rPr>
                  <a:t>theoretical model show that faster markets can raise adverse selection costs because informed liquidity demanders can more closely monitor the market for any temporary mispricing or stale quotes. </a:t>
                </a:r>
              </a:p>
              <a:p>
                <a:r>
                  <a:rPr lang="en-US" sz="1200" u="sng" kern="1200" dirty="0" err="1" smtClean="0">
                    <a:solidFill>
                      <a:schemeClr val="tx1"/>
                    </a:solidFill>
                    <a:effectLst/>
                    <a:latin typeface="+mn-lt"/>
                    <a:ea typeface="+mn-ea"/>
                    <a:cs typeface="+mn-cs"/>
                  </a:rPr>
                  <a:t>Boehmer</a:t>
                </a:r>
                <a:r>
                  <a:rPr lang="en-US" sz="1200" u="sng" kern="1200" dirty="0" smtClean="0">
                    <a:solidFill>
                      <a:schemeClr val="tx1"/>
                    </a:solidFill>
                    <a:effectLst/>
                    <a:latin typeface="+mn-lt"/>
                    <a:ea typeface="+mn-ea"/>
                    <a:cs typeface="+mn-cs"/>
                  </a:rPr>
                  <a:t>, Saar and Yu (2005) suggest that the increased transparency and higher speed of trading can increase the competition among liquidity suppliers at various price points that, in turn, should reduce the cost of immediacy for liquidity demanders. </a:t>
                </a:r>
              </a:p>
              <a:p>
                <a:r>
                  <a:rPr lang="en-US" sz="1200" u="sng" kern="1200" dirty="0" err="1" smtClean="0">
                    <a:solidFill>
                      <a:schemeClr val="tx1"/>
                    </a:solidFill>
                    <a:effectLst/>
                    <a:latin typeface="+mn-lt"/>
                    <a:ea typeface="+mn-ea"/>
                    <a:cs typeface="+mn-cs"/>
                  </a:rPr>
                  <a:t>Hendershott</a:t>
                </a:r>
                <a:r>
                  <a:rPr lang="en-US" sz="1200" u="sng" kern="1200" dirty="0" smtClean="0">
                    <a:solidFill>
                      <a:schemeClr val="tx1"/>
                    </a:solidFill>
                    <a:effectLst/>
                    <a:latin typeface="+mn-lt"/>
                    <a:ea typeface="+mn-ea"/>
                    <a:cs typeface="+mn-cs"/>
                  </a:rPr>
                  <a:t>, Jones, and </a:t>
                </a:r>
                <a:r>
                  <a:rPr lang="en-US" sz="1200" u="sng" kern="1200" dirty="0" err="1" smtClean="0">
                    <a:solidFill>
                      <a:schemeClr val="tx1"/>
                    </a:solidFill>
                    <a:effectLst/>
                    <a:latin typeface="+mn-lt"/>
                    <a:ea typeface="+mn-ea"/>
                    <a:cs typeface="+mn-cs"/>
                  </a:rPr>
                  <a:t>Menkveld</a:t>
                </a:r>
                <a:r>
                  <a:rPr lang="en-US" sz="1200" u="sng" kern="1200" dirty="0" smtClean="0">
                    <a:solidFill>
                      <a:schemeClr val="tx1"/>
                    </a:solidFill>
                    <a:effectLst/>
                    <a:latin typeface="+mn-lt"/>
                    <a:ea typeface="+mn-ea"/>
                    <a:cs typeface="+mn-cs"/>
                  </a:rPr>
                  <a:t> (2011) and </a:t>
                </a:r>
                <a:r>
                  <a:rPr lang="en-US" sz="1200" u="sng" kern="1200" dirty="0" err="1" smtClean="0">
                    <a:solidFill>
                      <a:schemeClr val="tx1"/>
                    </a:solidFill>
                    <a:effectLst/>
                    <a:latin typeface="+mn-lt"/>
                    <a:ea typeface="+mn-ea"/>
                    <a:cs typeface="+mn-cs"/>
                  </a:rPr>
                  <a:t>Hendershott</a:t>
                </a:r>
                <a:r>
                  <a:rPr lang="en-US" sz="1200" u="sng" kern="1200" dirty="0" smtClean="0">
                    <a:solidFill>
                      <a:schemeClr val="tx1"/>
                    </a:solidFill>
                    <a:effectLst/>
                    <a:latin typeface="+mn-lt"/>
                    <a:ea typeface="+mn-ea"/>
                    <a:cs typeface="+mn-cs"/>
                  </a:rPr>
                  <a:t> and Moulton (2011) find that HFT increases COI and, thereby, leads to a significant increase in volatility whereas </a:t>
                </a:r>
                <a:r>
                  <a:rPr lang="en-US" sz="1200" u="sng" kern="1200" dirty="0" err="1" smtClean="0">
                    <a:solidFill>
                      <a:schemeClr val="tx1"/>
                    </a:solidFill>
                    <a:effectLst/>
                    <a:latin typeface="+mn-lt"/>
                    <a:ea typeface="+mn-ea"/>
                    <a:cs typeface="+mn-cs"/>
                  </a:rPr>
                  <a:t>Brogaard</a:t>
                </a:r>
                <a:r>
                  <a:rPr lang="en-US" sz="1200" u="sng" kern="1200" dirty="0" smtClean="0">
                    <a:solidFill>
                      <a:schemeClr val="tx1"/>
                    </a:solidFill>
                    <a:effectLst/>
                    <a:latin typeface="+mn-lt"/>
                    <a:ea typeface="+mn-ea"/>
                    <a:cs typeface="+mn-cs"/>
                  </a:rPr>
                  <a:t> (2010) and Hasbrouck and Saar (2011) argue that HFT enables aggressively competitive electronic liquidity provision at a much lower cost than that of traditional market makers and, therefore dampens short-term volatility. </a:t>
                </a:r>
                <a:endParaRPr lang="en-US" dirty="0"/>
              </a:p>
            </p:txBody>
          </p:sp>
        </mc:Fallback>
      </mc:AlternateContent>
      <p:sp>
        <p:nvSpPr>
          <p:cNvPr id="4" name="Slide Number Placeholder 3"/>
          <p:cNvSpPr>
            <a:spLocks noGrp="1"/>
          </p:cNvSpPr>
          <p:nvPr>
            <p:ph type="sldNum" sz="quarter" idx="10"/>
          </p:nvPr>
        </p:nvSpPr>
        <p:spPr/>
        <p:txBody>
          <a:bodyPr/>
          <a:lstStyle/>
          <a:p>
            <a:fld id="{7908812F-7C9F-46E2-AFDF-4E93CE124B49}"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00150" lvl="2"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market orders (</a:t>
            </a:r>
            <a:r>
              <a:rPr lang="en-US" b="1" kern="1200" dirty="0" err="1" smtClean="0">
                <a:effectLst/>
                <a:latin typeface="Times New Roman" pitchFamily="18" charset="0"/>
                <a:ea typeface="+mn-ea"/>
                <a:cs typeface="Times New Roman" pitchFamily="18" charset="0"/>
              </a:rPr>
              <a:t>Glosten</a:t>
            </a:r>
            <a:r>
              <a:rPr lang="en-US" b="1" kern="1200" dirty="0" smtClean="0">
                <a:effectLst/>
                <a:latin typeface="Times New Roman" pitchFamily="18" charset="0"/>
                <a:ea typeface="+mn-ea"/>
                <a:cs typeface="Times New Roman" pitchFamily="18" charset="0"/>
              </a:rPr>
              <a:t>, 1994; Rock, 1996; </a:t>
            </a:r>
            <a:r>
              <a:rPr lang="en-US" b="1" kern="1200" dirty="0" err="1" smtClean="0">
                <a:effectLst/>
                <a:latin typeface="Times New Roman" pitchFamily="18" charset="0"/>
                <a:ea typeface="+mn-ea"/>
                <a:cs typeface="Times New Roman" pitchFamily="18" charset="0"/>
              </a:rPr>
              <a:t>Seppi</a:t>
            </a:r>
            <a:r>
              <a:rPr lang="en-US" b="1" kern="1200" dirty="0" smtClean="0">
                <a:effectLst/>
                <a:latin typeface="Times New Roman" pitchFamily="18" charset="0"/>
                <a:ea typeface="+mn-ea"/>
                <a:cs typeface="Times New Roman" pitchFamily="18" charset="0"/>
              </a:rPr>
              <a:t>, 1997).</a:t>
            </a:r>
          </a:p>
          <a:p>
            <a:pPr marL="1200150" lvl="2"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limit orders (Chung, Van Ness, and Van Ness, 1999; Bloomfield, O’Hara, and Saar, 2005; </a:t>
            </a:r>
            <a:r>
              <a:rPr lang="en-US" b="1" kern="1200" dirty="0" err="1" smtClean="0">
                <a:effectLst/>
                <a:latin typeface="Times New Roman" pitchFamily="18" charset="0"/>
                <a:ea typeface="+mn-ea"/>
                <a:cs typeface="Times New Roman" pitchFamily="18" charset="0"/>
              </a:rPr>
              <a:t>Kaniel</a:t>
            </a:r>
            <a:r>
              <a:rPr lang="en-US" b="1" kern="1200" dirty="0" smtClean="0">
                <a:effectLst/>
                <a:latin typeface="Times New Roman" pitchFamily="18" charset="0"/>
                <a:ea typeface="+mn-ea"/>
                <a:cs typeface="Times New Roman" pitchFamily="18" charset="0"/>
              </a:rPr>
              <a:t> and Liu, 2006).</a:t>
            </a:r>
          </a:p>
          <a:p>
            <a:pPr marL="1200150" lvl="2"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HFT should increase the </a:t>
            </a:r>
            <a:r>
              <a:rPr lang="en-US" b="1" kern="1200" dirty="0" err="1" smtClean="0">
                <a:effectLst/>
                <a:latin typeface="Times New Roman" pitchFamily="18" charset="0"/>
                <a:ea typeface="+mn-ea"/>
                <a:cs typeface="Times New Roman" pitchFamily="18" charset="0"/>
              </a:rPr>
              <a:t>informativeness</a:t>
            </a:r>
            <a:r>
              <a:rPr lang="en-US" b="1" kern="1200" dirty="0" smtClean="0">
                <a:effectLst/>
                <a:latin typeface="Times New Roman" pitchFamily="18" charset="0"/>
                <a:ea typeface="+mn-ea"/>
                <a:cs typeface="Times New Roman" pitchFamily="18" charset="0"/>
              </a:rPr>
              <a:t> of LOB </a:t>
            </a:r>
          </a:p>
          <a:p>
            <a:pPr marL="1200150" lvl="2"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Write the dictionary meaning of Fleeting </a:t>
            </a:r>
            <a:r>
              <a:rPr lang="en-US" sz="1200" b="1" i="0" kern="1200" dirty="0" smtClean="0">
                <a:solidFill>
                  <a:schemeClr val="tx1"/>
                </a:solidFill>
                <a:effectLst/>
                <a:latin typeface="+mn-lt"/>
                <a:ea typeface="+mn-ea"/>
                <a:cs typeface="+mn-cs"/>
              </a:rPr>
              <a:t>Synonyms:</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3"/>
              </a:rPr>
              <a:t>brief</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4"/>
              </a:rPr>
              <a:t>deciduous</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5"/>
              </a:rPr>
              <a:t>ephemeral</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6"/>
              </a:rPr>
              <a:t>evanescent</a:t>
            </a:r>
            <a:r>
              <a:rPr lang="en-US" sz="1200" b="0" i="0" kern="1200" dirty="0" smtClean="0">
                <a:solidFill>
                  <a:schemeClr val="tx1"/>
                </a:solidFill>
                <a:effectLst/>
                <a:latin typeface="+mn-lt"/>
                <a:ea typeface="+mn-ea"/>
                <a:cs typeface="+mn-cs"/>
              </a:rPr>
              <a:t>, </a:t>
            </a:r>
            <a:r>
              <a:rPr lang="en-US" sz="1200" b="0" i="0" u="none" strike="noStrike" kern="1200" dirty="0" err="1" smtClean="0">
                <a:solidFill>
                  <a:schemeClr val="tx1"/>
                </a:solidFill>
                <a:effectLst/>
                <a:latin typeface="+mn-lt"/>
                <a:ea typeface="+mn-ea"/>
                <a:cs typeface="+mn-cs"/>
                <a:hlinkClick r:id="rId7"/>
              </a:rPr>
              <a:t>flash</a:t>
            </a:r>
            <a:r>
              <a:rPr lang="en-US" sz="1200" b="0" i="0" kern="1200" dirty="0" err="1" smtClean="0">
                <a:solidFill>
                  <a:schemeClr val="tx1"/>
                </a:solidFill>
                <a:effectLst/>
                <a:latin typeface="+mn-lt"/>
                <a:ea typeface="+mn-ea"/>
                <a:cs typeface="+mn-cs"/>
              </a:rPr>
              <a:t>,</a:t>
            </a:r>
            <a:r>
              <a:rPr lang="en-US" sz="1200" b="0" i="0" u="none" strike="noStrike" kern="1200" dirty="0" err="1" smtClean="0">
                <a:solidFill>
                  <a:schemeClr val="tx1"/>
                </a:solidFill>
                <a:effectLst/>
                <a:latin typeface="+mn-lt"/>
                <a:ea typeface="+mn-ea"/>
                <a:cs typeface="+mn-cs"/>
                <a:hlinkClick r:id="rId8"/>
              </a:rPr>
              <a:t>momentary</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9"/>
              </a:rPr>
              <a:t>fugacious</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0"/>
              </a:rPr>
              <a:t>fugitive</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1"/>
              </a:rPr>
              <a:t>impermanent</a:t>
            </a:r>
            <a:r>
              <a:rPr lang="en-US" sz="1200" b="0" i="0" kern="1200" dirty="0" smtClean="0">
                <a:solidFill>
                  <a:schemeClr val="tx1"/>
                </a:solidFill>
                <a:effectLst/>
                <a:latin typeface="+mn-lt"/>
                <a:ea typeface="+mn-ea"/>
                <a:cs typeface="+mn-cs"/>
              </a:rPr>
              <a:t>, </a:t>
            </a:r>
            <a:r>
              <a:rPr lang="en-US" sz="1200" b="0" i="0" u="none" strike="noStrike" kern="1200" dirty="0" err="1" smtClean="0">
                <a:solidFill>
                  <a:schemeClr val="tx1"/>
                </a:solidFill>
                <a:effectLst/>
                <a:latin typeface="+mn-lt"/>
                <a:ea typeface="+mn-ea"/>
                <a:cs typeface="+mn-cs"/>
                <a:hlinkClick r:id="rId12"/>
              </a:rPr>
              <a:t>passing</a:t>
            </a:r>
            <a:r>
              <a:rPr lang="en-US" sz="1200" b="0" i="0" kern="1200" dirty="0" err="1" smtClean="0">
                <a:solidFill>
                  <a:schemeClr val="tx1"/>
                </a:solidFill>
                <a:effectLst/>
                <a:latin typeface="+mn-lt"/>
                <a:ea typeface="+mn-ea"/>
                <a:cs typeface="+mn-cs"/>
              </a:rPr>
              <a:t>,</a:t>
            </a:r>
            <a:r>
              <a:rPr lang="en-US" sz="1200" b="0" i="0" u="none" strike="noStrike" kern="1200" dirty="0" err="1" smtClean="0">
                <a:solidFill>
                  <a:schemeClr val="tx1"/>
                </a:solidFill>
                <a:effectLst/>
                <a:latin typeface="+mn-lt"/>
                <a:ea typeface="+mn-ea"/>
                <a:cs typeface="+mn-cs"/>
                <a:hlinkClick r:id="rId13"/>
              </a:rPr>
              <a:t>short</a:t>
            </a:r>
            <a:r>
              <a:rPr lang="en-US" sz="1200" b="0" i="0" u="none" strike="noStrike" kern="1200" dirty="0" smtClean="0">
                <a:solidFill>
                  <a:schemeClr val="tx1"/>
                </a:solidFill>
                <a:effectLst/>
                <a:latin typeface="+mn-lt"/>
                <a:ea typeface="+mn-ea"/>
                <a:cs typeface="+mn-cs"/>
                <a:hlinkClick r:id="rId13"/>
              </a:rPr>
              <a:t>-lived</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4"/>
              </a:rPr>
              <a:t>temporary</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5"/>
              </a:rPr>
              <a:t>transient</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6"/>
              </a:rPr>
              <a:t>transitory</a:t>
            </a:r>
            <a:endParaRPr lang="en-US" b="1" kern="1200" dirty="0" smtClean="0">
              <a:effectLst/>
              <a:latin typeface="Times New Roman" pitchFamily="18" charset="0"/>
              <a:ea typeface="+mn-ea"/>
              <a:cs typeface="Times New Roman" pitchFamily="18" charset="0"/>
            </a:endParaRPr>
          </a:p>
          <a:p>
            <a:pPr marL="1200150" lvl="2"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Fleeting orders: Traders are hiding like cops, and comes out</a:t>
            </a:r>
            <a:r>
              <a:rPr lang="en-US" b="1" kern="1200" baseline="0" dirty="0" smtClean="0">
                <a:effectLst/>
                <a:latin typeface="Times New Roman" pitchFamily="18" charset="0"/>
                <a:ea typeface="+mn-ea"/>
                <a:cs typeface="Times New Roman" pitchFamily="18" charset="0"/>
              </a:rPr>
              <a:t> only when someone is speeding.</a:t>
            </a:r>
            <a:endParaRPr lang="en-US" b="1" dirty="0" smtClean="0">
              <a:effectLst/>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8</a:t>
            </a:fld>
            <a:endParaRPr lang="en-US"/>
          </a:p>
        </p:txBody>
      </p:sp>
    </p:spTree>
    <p:extLst>
      <p:ext uri="{BB962C8B-B14F-4D97-AF65-F5344CB8AC3E}">
        <p14:creationId xmlns:p14="http://schemas.microsoft.com/office/powerpoint/2010/main" val="1958548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800100" lvl="1" indent="-342900">
              <a:buFont typeface="+mj-lt"/>
              <a:buNone/>
            </a:pP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11</a:t>
            </a:fld>
            <a:endParaRPr lang="en-US"/>
          </a:p>
        </p:txBody>
      </p:sp>
    </p:spTree>
    <p:extLst>
      <p:ext uri="{BB962C8B-B14F-4D97-AF65-F5344CB8AC3E}">
        <p14:creationId xmlns:p14="http://schemas.microsoft.com/office/powerpoint/2010/main" val="3166670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Nikkei Digital Media Inc.’s Nikkei Economic Electronic Database Systems (NEEDS) database. Add an external link to sample data</a:t>
            </a:r>
            <a:r>
              <a:rPr lang="en-US" baseline="0" dirty="0" smtClean="0"/>
              <a:t> in excel. Test in the classroom.</a:t>
            </a: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W-shaped for the Japanese markets instead of U-shape for US markets</a:t>
            </a:r>
          </a:p>
          <a:p>
            <a:r>
              <a:rPr lang="en-US" dirty="0" smtClean="0"/>
              <a:t>People wait to know</a:t>
            </a:r>
            <a:r>
              <a:rPr lang="en-US" baseline="0" dirty="0" smtClean="0"/>
              <a:t> the price before the true price is revealed</a:t>
            </a:r>
          </a:p>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14</a:t>
            </a:fld>
            <a:endParaRPr lang="en-US"/>
          </a:p>
        </p:txBody>
      </p:sp>
    </p:spTree>
    <p:extLst>
      <p:ext uri="{BB962C8B-B14F-4D97-AF65-F5344CB8AC3E}">
        <p14:creationId xmlns:p14="http://schemas.microsoft.com/office/powerpoint/2010/main" val="3796605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Baker and </a:t>
            </a:r>
            <a:r>
              <a:rPr lang="en-US" dirty="0" err="1" smtClean="0"/>
              <a:t>Wurgler</a:t>
            </a:r>
            <a:r>
              <a:rPr lang="en-US" dirty="0" smtClean="0"/>
              <a:t>: Lower cross</a:t>
            </a:r>
            <a:r>
              <a:rPr lang="en-US" baseline="0" dirty="0" smtClean="0"/>
              <a:t> </a:t>
            </a:r>
            <a:r>
              <a:rPr lang="en-US" baseline="0" dirty="0" err="1" smtClean="0"/>
              <a:t>corr</a:t>
            </a:r>
            <a:r>
              <a:rPr lang="en-US" baseline="0" dirty="0" smtClean="0"/>
              <a:t> due to stock specific information generation, leading to trading in individual stocks.</a:t>
            </a:r>
          </a:p>
          <a:p>
            <a:r>
              <a:rPr lang="en-US" b="1" dirty="0" err="1" smtClean="0">
                <a:effectLst/>
              </a:rPr>
              <a:t>Chordia</a:t>
            </a:r>
            <a:r>
              <a:rPr lang="en-US" b="1" dirty="0" smtClean="0">
                <a:effectLst/>
              </a:rPr>
              <a:t>, Roll, and </a:t>
            </a:r>
            <a:r>
              <a:rPr lang="en-US" b="1" dirty="0" err="1" smtClean="0">
                <a:effectLst/>
              </a:rPr>
              <a:t>Subrahmanyam</a:t>
            </a:r>
            <a:r>
              <a:rPr lang="en-US" b="1" dirty="0" smtClean="0">
                <a:effectLst/>
              </a:rPr>
              <a:t>:</a:t>
            </a:r>
            <a:r>
              <a:rPr lang="en-US" b="1" baseline="0" dirty="0" smtClean="0">
                <a:effectLst/>
              </a:rPr>
              <a:t> Liquidity makes it easier to trade baskets of </a:t>
            </a:r>
            <a:r>
              <a:rPr lang="en-US" b="1" baseline="0" dirty="0" err="1" smtClean="0">
                <a:effectLst/>
              </a:rPr>
              <a:t>informationally</a:t>
            </a:r>
            <a:r>
              <a:rPr lang="en-US" b="1" baseline="0" dirty="0" smtClean="0">
                <a:effectLst/>
              </a:rPr>
              <a:t> related securities.</a:t>
            </a:r>
          </a:p>
          <a:p>
            <a:r>
              <a:rPr lang="en-US" b="1" baseline="0" dirty="0" smtClean="0">
                <a:effectLst/>
              </a:rPr>
              <a:t>Arrowhead should increase cross </a:t>
            </a:r>
            <a:r>
              <a:rPr lang="en-US" b="1" baseline="0" dirty="0" err="1" smtClean="0">
                <a:effectLst/>
              </a:rPr>
              <a:t>corr</a:t>
            </a:r>
            <a:r>
              <a:rPr lang="en-US" b="1" baseline="0" dirty="0" smtClean="0">
                <a:effectLst/>
              </a:rPr>
              <a:t> due to increase in program trading. The co-located servers have access to similar information.</a:t>
            </a: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Add animation</a:t>
            </a:r>
            <a:r>
              <a:rPr lang="en-US" baseline="0" dirty="0" smtClean="0"/>
              <a:t> for new order arrival at 20.5</a:t>
            </a: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908812F-7C9F-46E2-AFDF-4E93CE124B49}" type="slidenum">
              <a:rPr lang="en-US" smtClean="0"/>
              <a:pPr/>
              <a:t>27</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Autocorr</a:t>
            </a:r>
            <a:r>
              <a:rPr lang="en-US" dirty="0" smtClean="0"/>
              <a:t>: Spiral and Cross </a:t>
            </a:r>
            <a:r>
              <a:rPr lang="en-US" dirty="0" err="1" smtClean="0"/>
              <a:t>corr</a:t>
            </a:r>
            <a:r>
              <a:rPr lang="en-US" dirty="0" smtClean="0"/>
              <a:t>: cascade effects and </a:t>
            </a:r>
            <a:r>
              <a:rPr lang="en-US" smtClean="0"/>
              <a:t>systemic risk</a:t>
            </a:r>
            <a:endParaRPr lang="en-US" dirty="0"/>
          </a:p>
        </p:txBody>
      </p:sp>
      <p:sp>
        <p:nvSpPr>
          <p:cNvPr id="4" name="Slide Number Placeholder 3"/>
          <p:cNvSpPr>
            <a:spLocks noGrp="1"/>
          </p:cNvSpPr>
          <p:nvPr>
            <p:ph type="sldNum" sz="quarter" idx="10"/>
          </p:nvPr>
        </p:nvSpPr>
        <p:spPr/>
        <p:txBody>
          <a:bodyPr/>
          <a:lstStyle/>
          <a:p>
            <a:fld id="{7908812F-7C9F-46E2-AFDF-4E93CE124B49}"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1606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662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8358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71562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46477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2042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9508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18265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61046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6221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227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2075101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43921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947943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6764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069787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879793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356996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440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55203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507503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01865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17170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304800"/>
            <a:ext cx="63627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65467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95864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339701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70826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6764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467266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059032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152488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43488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17092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068382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090462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17170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304800"/>
            <a:ext cx="63627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55153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B0197C-6BA3-4C88-8D00-F4D454EF5AAF}" type="datetimeFigureOut">
              <a:rPr lang="en-US" smtClean="0">
                <a:solidFill>
                  <a:prstClr val="black">
                    <a:tint val="75000"/>
                  </a:prstClr>
                </a:solidFill>
              </a:rPr>
              <a:pPr/>
              <a:t>12/16/2014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341083-7A50-4961-A762-C038F92F47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318455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536" name="Text Box 8"/>
          <p:cNvSpPr txBox="1">
            <a:spLocks noChangeArrowheads="1"/>
          </p:cNvSpPr>
          <p:nvPr/>
        </p:nvSpPr>
        <p:spPr bwMode="auto">
          <a:xfrm>
            <a:off x="7251700" y="12700"/>
            <a:ext cx="1828800" cy="212725"/>
          </a:xfrm>
          <a:prstGeom prst="rect">
            <a:avLst/>
          </a:prstGeom>
          <a:noFill/>
          <a:ln w="9525">
            <a:noFill/>
            <a:miter lim="800000"/>
            <a:headEnd/>
            <a:tailEnd/>
          </a:ln>
          <a:effectLst/>
        </p:spPr>
        <p:txBody>
          <a:bodyPr lIns="0" tIns="0" rIns="0" bIns="0">
            <a:spAutoFit/>
          </a:bodyPr>
          <a:lstStyle/>
          <a:p>
            <a:pPr algn="r" eaLnBrk="0" hangingPunct="0">
              <a:spcBef>
                <a:spcPct val="50000"/>
              </a:spcBef>
              <a:defRPr/>
            </a:pPr>
            <a:r>
              <a:rPr lang="en-GB" sz="1400">
                <a:solidFill>
                  <a:srgbClr val="000099"/>
                </a:solidFill>
              </a:rPr>
              <a:t>© 2003 By Default!</a:t>
            </a:r>
          </a:p>
        </p:txBody>
      </p:sp>
      <p:sp>
        <p:nvSpPr>
          <p:cNvPr id="22530" name="Text Box 2"/>
          <p:cNvSpPr txBox="1">
            <a:spLocks noChangeArrowheads="1"/>
          </p:cNvSpPr>
          <p:nvPr/>
        </p:nvSpPr>
        <p:spPr bwMode="auto">
          <a:xfrm>
            <a:off x="76200" y="6645275"/>
            <a:ext cx="4876800" cy="136525"/>
          </a:xfrm>
          <a:prstGeom prst="rect">
            <a:avLst/>
          </a:prstGeom>
          <a:noFill/>
          <a:ln w="9525">
            <a:noFill/>
            <a:miter lim="800000"/>
            <a:headEnd/>
            <a:tailEnd/>
          </a:ln>
          <a:effectLst/>
        </p:spPr>
        <p:txBody>
          <a:bodyPr lIns="0" tIns="0" rIns="0" bIns="0">
            <a:spAutoFit/>
          </a:bodyPr>
          <a:lstStyle/>
          <a:p>
            <a:pPr eaLnBrk="0" hangingPunct="0">
              <a:spcBef>
                <a:spcPct val="50000"/>
              </a:spcBef>
              <a:defRPr/>
            </a:pPr>
            <a:r>
              <a:rPr lang="en-GB" sz="900">
                <a:solidFill>
                  <a:srgbClr val="000099"/>
                </a:solidFill>
              </a:rPr>
              <a:t>A Free sample background from www.awesomebackgrounds.com</a:t>
            </a:r>
          </a:p>
        </p:txBody>
      </p:sp>
      <p:pic>
        <p:nvPicPr>
          <p:cNvPr id="13316" name="Picture 3" descr="C:\!work\!ppt-Back\CD-Rom\blue\Png\800index\etched.PNG"/>
          <p:cNvPicPr>
            <a:picLocks noChangeAspect="1" noChangeArrowheads="1"/>
          </p:cNvPicPr>
          <p:nvPr/>
        </p:nvPicPr>
        <p:blipFill>
          <a:blip r:embed="rId13" cstate="print"/>
          <a:srcRect/>
          <a:stretch>
            <a:fillRect/>
          </a:stretch>
        </p:blipFill>
        <p:spPr bwMode="hidden">
          <a:xfrm>
            <a:off x="0" y="0"/>
            <a:ext cx="9144000" cy="6858000"/>
          </a:xfrm>
          <a:prstGeom prst="rect">
            <a:avLst/>
          </a:prstGeom>
          <a:noFill/>
          <a:ln w="9525">
            <a:noFill/>
            <a:miter lim="800000"/>
            <a:headEnd/>
            <a:tailEnd/>
          </a:ln>
        </p:spPr>
      </p:pic>
      <p:sp>
        <p:nvSpPr>
          <p:cNvPr id="22532" name="Rectangle 4"/>
          <p:cNvSpPr>
            <a:spLocks noGrp="1" noChangeArrowheads="1"/>
          </p:cNvSpPr>
          <p:nvPr>
            <p:ph type="title"/>
          </p:nvPr>
        </p:nvSpPr>
        <p:spPr bwMode="auto">
          <a:xfrm>
            <a:off x="228600" y="304800"/>
            <a:ext cx="8686800" cy="685800"/>
          </a:xfrm>
          <a:prstGeom prst="rect">
            <a:avLst/>
          </a:prstGeom>
          <a:noFill/>
          <a:ln w="9525">
            <a:noFill/>
            <a:miter lim="800000"/>
            <a:headEnd/>
            <a:tailEnd/>
          </a:ln>
          <a:effectLst/>
        </p:spPr>
        <p:txBody>
          <a:bodyPr vert="horz" wrap="square" lIns="36000" tIns="45720" rIns="36000" bIns="45720" numCol="1" anchor="t" anchorCtr="1" compatLnSpc="1">
            <a:prstTxWarp prst="textNoShape">
              <a:avLst/>
            </a:prstTxWarp>
          </a:bodyPr>
          <a:lstStyle/>
          <a:p>
            <a:pPr lvl="0"/>
            <a:r>
              <a:rPr lang="en-US" smtClean="0"/>
              <a:t>Click to edit Master title style</a:t>
            </a:r>
          </a:p>
        </p:txBody>
      </p:sp>
      <p:sp>
        <p:nvSpPr>
          <p:cNvPr id="22533" name="Rectangle 5"/>
          <p:cNvSpPr>
            <a:spLocks noGrp="1" noChangeArrowheads="1"/>
          </p:cNvSpPr>
          <p:nvPr>
            <p:ph type="body" idx="1"/>
          </p:nvPr>
        </p:nvSpPr>
        <p:spPr bwMode="auto">
          <a:xfrm>
            <a:off x="228600" y="1676400"/>
            <a:ext cx="8686800" cy="4343400"/>
          </a:xfrm>
          <a:prstGeom prst="rect">
            <a:avLst/>
          </a:prstGeom>
          <a:noFill/>
          <a:ln w="9525">
            <a:noFill/>
            <a:miter lim="800000"/>
            <a:headEnd/>
            <a:tailEnd/>
          </a:ln>
          <a:effectLst/>
        </p:spPr>
        <p:txBody>
          <a:bodyPr vert="horz" wrap="square" lIns="91440" tIns="45720" rIns="91440" bIns="45720" numCol="1" anchor="t" anchorCtr="1"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2534" name="Text Box 6"/>
          <p:cNvSpPr txBox="1">
            <a:spLocks noChangeArrowheads="1"/>
          </p:cNvSpPr>
          <p:nvPr/>
        </p:nvSpPr>
        <p:spPr bwMode="auto">
          <a:xfrm>
            <a:off x="50800" y="12700"/>
            <a:ext cx="1828800" cy="212725"/>
          </a:xfrm>
          <a:prstGeom prst="rect">
            <a:avLst/>
          </a:prstGeom>
          <a:noFill/>
          <a:ln w="9525">
            <a:noFill/>
            <a:miter lim="800000"/>
            <a:headEnd/>
            <a:tailEnd/>
          </a:ln>
          <a:effectLst/>
        </p:spPr>
        <p:txBody>
          <a:bodyPr lIns="0" tIns="0" rIns="0" bIns="0">
            <a:spAutoFit/>
          </a:bodyPr>
          <a:lstStyle/>
          <a:p>
            <a:pPr eaLnBrk="0" hangingPunct="0">
              <a:spcBef>
                <a:spcPct val="50000"/>
              </a:spcBef>
              <a:defRPr/>
            </a:pPr>
            <a:r>
              <a:rPr lang="en-GB" sz="1400">
                <a:solidFill>
                  <a:srgbClr val="000058"/>
                </a:solidFill>
              </a:rPr>
              <a:t>Slide </a:t>
            </a:r>
            <a:fld id="{9074A8C2-ED51-4872-9C30-1156CF93297E}" type="slidenum">
              <a:rPr lang="en-GB" sz="1400">
                <a:solidFill>
                  <a:srgbClr val="000058"/>
                </a:solidFill>
              </a:rPr>
              <a:pPr eaLnBrk="0" hangingPunct="0">
                <a:spcBef>
                  <a:spcPct val="50000"/>
                </a:spcBef>
                <a:defRPr/>
              </a:pPr>
              <a:t>‹#›</a:t>
            </a:fld>
            <a:endParaRPr lang="en-GB" sz="1400">
              <a:solidFill>
                <a:srgbClr val="000058"/>
              </a:solidFill>
            </a:endParaRPr>
          </a:p>
        </p:txBody>
      </p:sp>
    </p:spTree>
    <p:extLst>
      <p:ext uri="{BB962C8B-B14F-4D97-AF65-F5344CB8AC3E}">
        <p14:creationId xmlns:p14="http://schemas.microsoft.com/office/powerpoint/2010/main" val="339235295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2pPr>
      <a:lvl3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3pPr>
      <a:lvl4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4pPr>
      <a:lvl5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5pPr>
      <a:lvl6pPr marL="4572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lnSpc>
          <a:spcPct val="85000"/>
        </a:lnSpc>
        <a:spcBef>
          <a:spcPct val="20000"/>
        </a:spcBef>
        <a:spcAft>
          <a:spcPct val="0"/>
        </a:spcAft>
        <a:buClr>
          <a:schemeClr val="tx2"/>
        </a:buClr>
        <a:buSzPct val="8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lnSpc>
          <a:spcPct val="85000"/>
        </a:lnSpc>
        <a:spcBef>
          <a:spcPct val="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lnSpc>
          <a:spcPct val="85000"/>
        </a:lnSpc>
        <a:spcBef>
          <a:spcPct val="15000"/>
        </a:spcBef>
        <a:spcAft>
          <a:spcPct val="0"/>
        </a:spcAft>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5pPr>
      <a:lvl6pPr marL="25146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6pPr>
      <a:lvl7pPr marL="29718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7pPr>
      <a:lvl8pPr marL="34290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8pPr>
      <a:lvl9pPr marL="3886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6" name="Text Box 8"/>
          <p:cNvSpPr txBox="1">
            <a:spLocks noChangeArrowheads="1"/>
          </p:cNvSpPr>
          <p:nvPr/>
        </p:nvSpPr>
        <p:spPr bwMode="auto">
          <a:xfrm>
            <a:off x="7251700" y="12700"/>
            <a:ext cx="1828800" cy="212725"/>
          </a:xfrm>
          <a:prstGeom prst="rect">
            <a:avLst/>
          </a:prstGeom>
          <a:noFill/>
          <a:ln w="9525">
            <a:noFill/>
            <a:miter lim="800000"/>
            <a:headEnd/>
            <a:tailEnd/>
          </a:ln>
          <a:effectLst/>
        </p:spPr>
        <p:txBody>
          <a:bodyPr lIns="0" tIns="0" rIns="0" bIns="0">
            <a:spAutoFit/>
          </a:bodyPr>
          <a:lstStyle/>
          <a:p>
            <a:pPr algn="r" eaLnBrk="0" hangingPunct="0">
              <a:spcBef>
                <a:spcPct val="50000"/>
              </a:spcBef>
            </a:pPr>
            <a:r>
              <a:rPr lang="en-GB" sz="1400">
                <a:solidFill>
                  <a:srgbClr val="000099"/>
                </a:solidFill>
              </a:rPr>
              <a:t>© 2003 By Default!</a:t>
            </a:r>
          </a:p>
        </p:txBody>
      </p:sp>
      <p:sp>
        <p:nvSpPr>
          <p:cNvPr id="22530" name="Text Box 2"/>
          <p:cNvSpPr txBox="1">
            <a:spLocks noChangeArrowheads="1"/>
          </p:cNvSpPr>
          <p:nvPr/>
        </p:nvSpPr>
        <p:spPr bwMode="auto">
          <a:xfrm>
            <a:off x="76200" y="6645275"/>
            <a:ext cx="4876800" cy="136525"/>
          </a:xfrm>
          <a:prstGeom prst="rect">
            <a:avLst/>
          </a:prstGeom>
          <a:noFill/>
          <a:ln w="9525">
            <a:noFill/>
            <a:miter lim="800000"/>
            <a:headEnd/>
            <a:tailEnd/>
          </a:ln>
          <a:effectLst/>
        </p:spPr>
        <p:txBody>
          <a:bodyPr lIns="0" tIns="0" rIns="0" bIns="0">
            <a:spAutoFit/>
          </a:bodyPr>
          <a:lstStyle/>
          <a:p>
            <a:pPr eaLnBrk="0" hangingPunct="0">
              <a:spcBef>
                <a:spcPct val="50000"/>
              </a:spcBef>
            </a:pPr>
            <a:r>
              <a:rPr lang="en-GB" sz="900">
                <a:solidFill>
                  <a:srgbClr val="000099"/>
                </a:solidFill>
              </a:rPr>
              <a:t>A Free sample background from www.awesomebackgrounds.com</a:t>
            </a:r>
          </a:p>
        </p:txBody>
      </p:sp>
      <p:pic>
        <p:nvPicPr>
          <p:cNvPr id="22531" name="Picture 3" descr="C:\!work\!ppt-Back\CD-Rom\blue\Png\800index\etched.PNG"/>
          <p:cNvPicPr>
            <a:picLocks noChangeAspect="1" noChangeArrowheads="1"/>
          </p:cNvPicPr>
          <p:nvPr/>
        </p:nvPicPr>
        <p:blipFill>
          <a:blip r:embed="rId13" cstate="print"/>
          <a:srcRect/>
          <a:stretch>
            <a:fillRect/>
          </a:stretch>
        </p:blipFill>
        <p:spPr bwMode="hidden">
          <a:xfrm>
            <a:off x="0" y="0"/>
            <a:ext cx="9144000" cy="6858000"/>
          </a:xfrm>
          <a:prstGeom prst="rect">
            <a:avLst/>
          </a:prstGeom>
          <a:noFill/>
        </p:spPr>
      </p:pic>
      <p:sp>
        <p:nvSpPr>
          <p:cNvPr id="22532" name="Rectangle 4"/>
          <p:cNvSpPr>
            <a:spLocks noGrp="1" noChangeArrowheads="1"/>
          </p:cNvSpPr>
          <p:nvPr>
            <p:ph type="title"/>
          </p:nvPr>
        </p:nvSpPr>
        <p:spPr bwMode="auto">
          <a:xfrm>
            <a:off x="228600" y="304800"/>
            <a:ext cx="8686800" cy="685800"/>
          </a:xfrm>
          <a:prstGeom prst="rect">
            <a:avLst/>
          </a:prstGeom>
          <a:noFill/>
          <a:ln w="9525">
            <a:noFill/>
            <a:miter lim="800000"/>
            <a:headEnd/>
            <a:tailEnd/>
          </a:ln>
          <a:effectLst/>
        </p:spPr>
        <p:txBody>
          <a:bodyPr vert="horz" wrap="square" lIns="36000" tIns="45720" rIns="36000" bIns="45720" numCol="1" anchor="t" anchorCtr="1" compatLnSpc="1">
            <a:prstTxWarp prst="textNoShape">
              <a:avLst/>
            </a:prstTxWarp>
          </a:bodyPr>
          <a:lstStyle/>
          <a:p>
            <a:pPr lvl="0"/>
            <a:r>
              <a:rPr lang="en-US" smtClean="0"/>
              <a:t>Click to edit Master title style</a:t>
            </a:r>
          </a:p>
        </p:txBody>
      </p:sp>
      <p:sp>
        <p:nvSpPr>
          <p:cNvPr id="22533" name="Rectangle 5"/>
          <p:cNvSpPr>
            <a:spLocks noGrp="1" noChangeArrowheads="1"/>
          </p:cNvSpPr>
          <p:nvPr>
            <p:ph type="body" idx="1"/>
          </p:nvPr>
        </p:nvSpPr>
        <p:spPr bwMode="auto">
          <a:xfrm>
            <a:off x="228600" y="1676400"/>
            <a:ext cx="8686800" cy="4343400"/>
          </a:xfrm>
          <a:prstGeom prst="rect">
            <a:avLst/>
          </a:prstGeom>
          <a:noFill/>
          <a:ln w="9525">
            <a:noFill/>
            <a:miter lim="800000"/>
            <a:headEnd/>
            <a:tailEnd/>
          </a:ln>
          <a:effectLst/>
        </p:spPr>
        <p:txBody>
          <a:bodyPr vert="horz" wrap="square" lIns="91440" tIns="45720" rIns="91440" bIns="45720" numCol="1" anchor="t" anchorCtr="1"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2534" name="Text Box 6"/>
          <p:cNvSpPr txBox="1">
            <a:spLocks noChangeArrowheads="1"/>
          </p:cNvSpPr>
          <p:nvPr/>
        </p:nvSpPr>
        <p:spPr bwMode="auto">
          <a:xfrm>
            <a:off x="50800" y="12700"/>
            <a:ext cx="1828800" cy="212725"/>
          </a:xfrm>
          <a:prstGeom prst="rect">
            <a:avLst/>
          </a:prstGeom>
          <a:noFill/>
          <a:ln w="9525">
            <a:noFill/>
            <a:miter lim="800000"/>
            <a:headEnd/>
            <a:tailEnd/>
          </a:ln>
          <a:effectLst/>
        </p:spPr>
        <p:txBody>
          <a:bodyPr lIns="0" tIns="0" rIns="0" bIns="0">
            <a:spAutoFit/>
          </a:bodyPr>
          <a:lstStyle/>
          <a:p>
            <a:pPr eaLnBrk="0" hangingPunct="0">
              <a:spcBef>
                <a:spcPct val="50000"/>
              </a:spcBef>
            </a:pPr>
            <a:r>
              <a:rPr lang="en-GB" sz="1400">
                <a:solidFill>
                  <a:srgbClr val="000058"/>
                </a:solidFill>
              </a:rPr>
              <a:t>Slide </a:t>
            </a:r>
            <a:fld id="{4190E345-9192-4F54-BE89-228B1E631A23}" type="slidenum">
              <a:rPr lang="en-GB" sz="1400">
                <a:solidFill>
                  <a:srgbClr val="000058"/>
                </a:solidFill>
              </a:rPr>
              <a:pPr eaLnBrk="0" hangingPunct="0">
                <a:spcBef>
                  <a:spcPct val="50000"/>
                </a:spcBef>
              </a:pPr>
              <a:t>‹#›</a:t>
            </a:fld>
            <a:endParaRPr lang="en-GB" sz="1400">
              <a:solidFill>
                <a:srgbClr val="000058"/>
              </a:solidFill>
            </a:endParaRPr>
          </a:p>
        </p:txBody>
      </p:sp>
    </p:spTree>
    <p:extLst>
      <p:ext uri="{BB962C8B-B14F-4D97-AF65-F5344CB8AC3E}">
        <p14:creationId xmlns:p14="http://schemas.microsoft.com/office/powerpoint/2010/main" val="2287652505"/>
      </p:ext>
    </p:extLst>
  </p:cSld>
  <p:clrMap bg1="dk2" tx1="lt1" bg2="dk1"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2pPr>
      <a:lvl3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3pPr>
      <a:lvl4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4pPr>
      <a:lvl5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5pPr>
      <a:lvl6pPr marL="4572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lnSpc>
          <a:spcPct val="85000"/>
        </a:lnSpc>
        <a:spcBef>
          <a:spcPct val="20000"/>
        </a:spcBef>
        <a:spcAft>
          <a:spcPct val="0"/>
        </a:spcAft>
        <a:buClr>
          <a:schemeClr val="tx2"/>
        </a:buClr>
        <a:buSzPct val="8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lnSpc>
          <a:spcPct val="85000"/>
        </a:lnSpc>
        <a:spcBef>
          <a:spcPct val="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lnSpc>
          <a:spcPct val="85000"/>
        </a:lnSpc>
        <a:spcBef>
          <a:spcPct val="15000"/>
        </a:spcBef>
        <a:spcAft>
          <a:spcPct val="0"/>
        </a:spcAft>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5pPr>
      <a:lvl6pPr marL="25146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6pPr>
      <a:lvl7pPr marL="29718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7pPr>
      <a:lvl8pPr marL="34290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8pPr>
      <a:lvl9pPr marL="3886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jpeg"/><Relationship Id="rId2" Type="http://schemas.openxmlformats.org/officeDocument/2006/relationships/slideLayout" Target="../slideLayouts/slideLayout12.xml"/><Relationship Id="rId1" Type="http://schemas.openxmlformats.org/officeDocument/2006/relationships/audio" Target="file:///C:\Users\Pawan\Pictures\dreamworks.wav" TargetMode="Externa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audio" Target="../media/audio2.wav"/><Relationship Id="rId3" Type="http://schemas.openxmlformats.org/officeDocument/2006/relationships/notesSlide" Target="../notesSlides/notesSlide1.xml"/><Relationship Id="rId7" Type="http://schemas.openxmlformats.org/officeDocument/2006/relationships/image" Target="../media/image8.png"/><Relationship Id="rId2" Type="http://schemas.openxmlformats.org/officeDocument/2006/relationships/slideLayout" Target="../slideLayouts/slideLayout24.xml"/><Relationship Id="rId1" Type="http://schemas.openxmlformats.org/officeDocument/2006/relationships/tags" Target="../tags/tag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audio" Target="../media/audio2.wav"/></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audio" Target="../media/audio3.wav"/><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umdrive.memphis.edu/pjain1/public/PawanJain.html" TargetMode="External"/><Relationship Id="rId5" Type="http://schemas.openxmlformats.org/officeDocument/2006/relationships/hyperlink" Target="mailto:jain1p@cmich.edu" TargetMode="External"/><Relationship Id="rId4" Type="http://schemas.openxmlformats.org/officeDocument/2006/relationships/image" Target="../media/image9.gif"/><Relationship Id="rId9" Type="http://schemas.openxmlformats.org/officeDocument/2006/relationships/audio" Target="../media/audio20.wav"/></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8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9.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0.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slide" Target="slide29.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Microsoft_Excel_97-2003_Worksheet1.xls"/><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17" name="dreamworks.wav">
            <a:hlinkClick r:id="" action="ppaction://media"/>
          </p:cNvPr>
          <p:cNvPicPr>
            <a:picLocks noRot="1" noChangeAspect="1"/>
          </p:cNvPicPr>
          <p:nvPr>
            <a:audioFile r:link="rId1"/>
          </p:nvPr>
        </p:nvPicPr>
        <p:blipFill>
          <a:blip r:embed="rId4" cstate="print"/>
          <a:stretch>
            <a:fillRect/>
          </a:stretch>
        </p:blipFill>
        <p:spPr>
          <a:xfrm>
            <a:off x="4419600" y="3276600"/>
            <a:ext cx="304800" cy="304800"/>
          </a:xfrm>
          <a:prstGeom prst="rect">
            <a:avLst/>
          </a:prstGeom>
        </p:spPr>
      </p:pic>
      <p:pic>
        <p:nvPicPr>
          <p:cNvPr id="16" name="dreamworks.wav">
            <a:hlinkClick r:id="" action="ppaction://media"/>
          </p:cNvPr>
          <p:cNvPicPr>
            <a:picLocks noRot="1" noChangeAspect="1"/>
          </p:cNvPicPr>
          <p:nvPr>
            <a:audioFile r:link="rId1"/>
          </p:nvPr>
        </p:nvPicPr>
        <p:blipFill>
          <a:blip r:embed="rId5" cstate="print"/>
          <a:stretch>
            <a:fillRect/>
          </a:stretch>
        </p:blipFill>
        <p:spPr>
          <a:xfrm>
            <a:off x="5715000" y="5562600"/>
            <a:ext cx="304800" cy="304800"/>
          </a:xfrm>
          <a:prstGeom prst="rect">
            <a:avLst/>
          </a:prstGeom>
        </p:spPr>
      </p:pic>
      <p:pic>
        <p:nvPicPr>
          <p:cNvPr id="2050" name="Picture 2" descr="C:\Users\Pawan\Pictures\movie-theater1.jpg"/>
          <p:cNvPicPr>
            <a:picLocks noChangeAspect="1" noChangeArrowheads="1"/>
          </p:cNvPicPr>
          <p:nvPr/>
        </p:nvPicPr>
        <p:blipFill>
          <a:blip r:embed="rId6" cstate="print"/>
          <a:srcRect/>
          <a:stretch>
            <a:fillRect/>
          </a:stretch>
        </p:blipFill>
        <p:spPr bwMode="auto">
          <a:xfrm>
            <a:off x="0" y="0"/>
            <a:ext cx="9144000" cy="6861758"/>
          </a:xfrm>
          <a:prstGeom prst="rect">
            <a:avLst/>
          </a:prstGeom>
          <a:noFill/>
        </p:spPr>
      </p:pic>
      <p:sp>
        <p:nvSpPr>
          <p:cNvPr id="9" name="Rectangle 8"/>
          <p:cNvSpPr/>
          <p:nvPr/>
        </p:nvSpPr>
        <p:spPr bwMode="auto">
          <a:xfrm rot="547442">
            <a:off x="1967136" y="1144812"/>
            <a:ext cx="502484" cy="1568470"/>
          </a:xfrm>
          <a:prstGeom prst="rect">
            <a:avLst/>
          </a:prstGeom>
          <a:solidFill>
            <a:schemeClr val="accent1"/>
          </a:solidFill>
          <a:ln w="9525" cap="flat" cmpd="sng" algn="ctr">
            <a:solidFill>
              <a:schemeClr val="tx1"/>
            </a:solidFill>
            <a:prstDash val="solid"/>
            <a:round/>
            <a:headEnd type="none" w="med" len="med"/>
            <a:tailEnd type="none" w="med" len="med"/>
          </a:ln>
          <a:effectLst>
            <a:glow rad="228600">
              <a:schemeClr val="accent1">
                <a:satMod val="175000"/>
                <a:alpha val="40000"/>
              </a:schemeClr>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a:endParaRPr>
          </a:p>
        </p:txBody>
      </p:sp>
      <p:sp>
        <p:nvSpPr>
          <p:cNvPr id="10" name="Rectangle 9"/>
          <p:cNvSpPr/>
          <p:nvPr/>
        </p:nvSpPr>
        <p:spPr bwMode="auto">
          <a:xfrm rot="21063510">
            <a:off x="6599434" y="1181090"/>
            <a:ext cx="607812" cy="1504940"/>
          </a:xfrm>
          <a:prstGeom prst="rect">
            <a:avLst/>
          </a:prstGeom>
          <a:solidFill>
            <a:schemeClr val="accent1"/>
          </a:solidFill>
          <a:ln w="9525" cap="flat" cmpd="sng" algn="ctr">
            <a:solidFill>
              <a:schemeClr val="tx1"/>
            </a:solidFill>
            <a:prstDash val="solid"/>
            <a:round/>
            <a:headEnd type="none" w="med" len="med"/>
            <a:tailEnd type="none" w="med" len="med"/>
          </a:ln>
          <a:effectLst>
            <a:glow rad="228600">
              <a:schemeClr val="accent1">
                <a:satMod val="175000"/>
                <a:alpha val="40000"/>
              </a:schemeClr>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a:endParaRPr>
          </a:p>
        </p:txBody>
      </p:sp>
      <p:pic>
        <p:nvPicPr>
          <p:cNvPr id="1028" name="Picture 4" descr="C:\Users\Pawan\Pictures\imagesCA0XKD25.jpg"/>
          <p:cNvPicPr>
            <a:picLocks noChangeAspect="1" noChangeArrowheads="1"/>
          </p:cNvPicPr>
          <p:nvPr/>
        </p:nvPicPr>
        <p:blipFill>
          <a:blip r:embed="rId7" cstate="print"/>
          <a:srcRect/>
          <a:stretch>
            <a:fillRect/>
          </a:stretch>
        </p:blipFill>
        <p:spPr bwMode="auto">
          <a:xfrm>
            <a:off x="4267200" y="990600"/>
            <a:ext cx="628650" cy="1695450"/>
          </a:xfrm>
          <a:prstGeom prst="rect">
            <a:avLst/>
          </a:prstGeom>
          <a:noFill/>
        </p:spPr>
      </p:pic>
      <p:sp>
        <p:nvSpPr>
          <p:cNvPr id="13" name="Rectangle 12"/>
          <p:cNvSpPr/>
          <p:nvPr/>
        </p:nvSpPr>
        <p:spPr bwMode="auto">
          <a:xfrm rot="264028">
            <a:off x="3127034" y="1393398"/>
            <a:ext cx="634844" cy="1278766"/>
          </a:xfrm>
          <a:prstGeom prst="rect">
            <a:avLst/>
          </a:prstGeom>
          <a:solidFill>
            <a:srgbClr val="FF0000"/>
          </a:solidFill>
          <a:ln w="9525" cap="flat" cmpd="sng" algn="ctr">
            <a:solidFill>
              <a:schemeClr val="tx1"/>
            </a:solidFill>
            <a:prstDash val="solid"/>
            <a:round/>
            <a:headEnd type="none" w="med" len="med"/>
            <a:tailEnd type="none" w="med" len="med"/>
          </a:ln>
          <a:effectLst>
            <a:glow rad="228600">
              <a:schemeClr val="accent1">
                <a:satMod val="175000"/>
                <a:alpha val="40000"/>
              </a:schemeClr>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a:endParaRPr>
          </a:p>
        </p:txBody>
      </p:sp>
      <p:sp>
        <p:nvSpPr>
          <p:cNvPr id="14" name="Rectangle 13"/>
          <p:cNvSpPr/>
          <p:nvPr/>
        </p:nvSpPr>
        <p:spPr bwMode="auto">
          <a:xfrm rot="21401794">
            <a:off x="5382123" y="1465029"/>
            <a:ext cx="634844" cy="1278766"/>
          </a:xfrm>
          <a:prstGeom prst="rect">
            <a:avLst/>
          </a:prstGeom>
          <a:solidFill>
            <a:srgbClr val="FF0000"/>
          </a:solidFill>
          <a:ln w="9525" cap="flat" cmpd="sng" algn="ctr">
            <a:solidFill>
              <a:schemeClr val="tx1"/>
            </a:solidFill>
            <a:prstDash val="solid"/>
            <a:round/>
            <a:headEnd type="none" w="med" len="med"/>
            <a:tailEnd type="none" w="med" len="med"/>
          </a:ln>
          <a:effectLst>
            <a:glow rad="228600">
              <a:schemeClr val="accent1">
                <a:satMod val="175000"/>
                <a:alpha val="40000"/>
              </a:schemeClr>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a:endParaRPr>
          </a:p>
        </p:txBody>
      </p:sp>
      <p:sp>
        <p:nvSpPr>
          <p:cNvPr id="11" name="TextBox 10"/>
          <p:cNvSpPr txBox="1"/>
          <p:nvPr/>
        </p:nvSpPr>
        <p:spPr>
          <a:xfrm>
            <a:off x="3581400" y="3562290"/>
            <a:ext cx="2438400" cy="400110"/>
          </a:xfrm>
          <a:prstGeom prst="rect">
            <a:avLst/>
          </a:prstGeom>
          <a:noFill/>
        </p:spPr>
        <p:txBody>
          <a:bodyPr wrap="square" rtlCol="0">
            <a:spAutoFit/>
          </a:bodyPr>
          <a:lstStyle/>
          <a:p>
            <a:r>
              <a:rPr lang="en-US" sz="2000" b="1" dirty="0" smtClean="0">
                <a:solidFill>
                  <a:schemeClr val="bg2"/>
                </a:solidFill>
                <a:latin typeface="Arial Black" pitchFamily="34" charset="0"/>
              </a:rPr>
              <a:t>Now Playing</a:t>
            </a:r>
            <a:endParaRPr lang="en-US" sz="2000" b="1" dirty="0">
              <a:solidFill>
                <a:schemeClr val="bg2"/>
              </a:solidFill>
              <a:latin typeface="Arial Black" pitchFamily="34" charset="0"/>
            </a:endParaRPr>
          </a:p>
        </p:txBody>
      </p:sp>
      <p:sp>
        <p:nvSpPr>
          <p:cNvPr id="12" name="TextBox 11"/>
          <p:cNvSpPr txBox="1"/>
          <p:nvPr/>
        </p:nvSpPr>
        <p:spPr>
          <a:xfrm>
            <a:off x="1371600" y="3810000"/>
            <a:ext cx="6324600" cy="954107"/>
          </a:xfrm>
          <a:prstGeom prst="rect">
            <a:avLst/>
          </a:prstGeom>
          <a:noFill/>
        </p:spPr>
        <p:txBody>
          <a:bodyPr wrap="square" rtlCol="0">
            <a:spAutoFit/>
          </a:bodyPr>
          <a:lstStyle/>
          <a:p>
            <a:pPr algn="ctr"/>
            <a:r>
              <a:rPr lang="en-US" sz="2800" dirty="0" smtClean="0">
                <a:solidFill>
                  <a:srgbClr val="FF3300"/>
                </a:solidFill>
                <a:effectLst>
                  <a:outerShdw blurRad="38100" dist="38100" dir="2700000" algn="tl">
                    <a:srgbClr val="000000">
                      <a:alpha val="43137"/>
                    </a:srgbClr>
                  </a:outerShdw>
                </a:effectLst>
              </a:rPr>
              <a:t>Systemic Microstructure Risks of</a:t>
            </a:r>
          </a:p>
          <a:p>
            <a:pPr algn="ctr"/>
            <a:r>
              <a:rPr lang="en-US" sz="2800" dirty="0" smtClean="0">
                <a:solidFill>
                  <a:srgbClr val="FF3300"/>
                </a:solidFill>
                <a:effectLst>
                  <a:outerShdw blurRad="38100" dist="38100" dir="2700000" algn="tl">
                    <a:srgbClr val="000000">
                      <a:alpha val="43137"/>
                    </a:srgbClr>
                  </a:outerShdw>
                </a:effectLst>
              </a:rPr>
              <a:t>High Frequency Trading</a:t>
            </a:r>
            <a:endParaRPr lang="en-US" sz="2800" dirty="0">
              <a:solidFill>
                <a:srgbClr val="FF3300"/>
              </a:solidFill>
              <a:effectLst>
                <a:outerShdw blurRad="38100" dist="38100" dir="2700000" algn="tl">
                  <a:srgbClr val="000000">
                    <a:alpha val="43137"/>
                  </a:srgbClr>
                </a:outerShdw>
              </a:effectLst>
            </a:endParaRPr>
          </a:p>
        </p:txBody>
      </p:sp>
    </p:spTree>
  </p:cSld>
  <p:clrMapOvr>
    <a:masterClrMapping/>
  </p:clrMapOvr>
  <p:transition advTm="270">
    <p:zoom/>
    <p:sndAc>
      <p:stSnd>
        <p:snd r:embed="rId3" name="dreamwork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mph" presetSubtype="0" repeatCount="indefinite" fill="hold" grpId="0" nodeType="afterEffect">
                                  <p:stCondLst>
                                    <p:cond delay="0"/>
                                  </p:stCondLst>
                                  <p:endCondLst>
                                    <p:cond evt="onNext" delay="0">
                                      <p:tgtEl>
                                        <p:sldTgt/>
                                      </p:tgtEl>
                                    </p:cond>
                                  </p:endCondLst>
                                  <p:childTnLst>
                                    <p:animClr clrSpc="hsl" dir="cw">
                                      <p:cBhvr override="childStyle">
                                        <p:cTn id="6" dur="500" fill="hold"/>
                                        <p:tgtEl>
                                          <p:spTgt spid="9"/>
                                        </p:tgtEl>
                                        <p:attrNameLst>
                                          <p:attrName>style.color</p:attrName>
                                        </p:attrNameLst>
                                      </p:cBhvr>
                                      <p:by>
                                        <p:hsl h="10842353" s="0" l="0"/>
                                      </p:by>
                                    </p:animClr>
                                    <p:animClr clrSpc="hsl" dir="cw">
                                      <p:cBhvr>
                                        <p:cTn id="7" dur="500" fill="hold"/>
                                        <p:tgtEl>
                                          <p:spTgt spid="9"/>
                                        </p:tgtEl>
                                        <p:attrNameLst>
                                          <p:attrName>fillcolor</p:attrName>
                                        </p:attrNameLst>
                                      </p:cBhvr>
                                      <p:by>
                                        <p:hsl h="10842353" s="0" l="0"/>
                                      </p:by>
                                    </p:animClr>
                                    <p:animClr clrSpc="hsl" dir="cw">
                                      <p:cBhvr>
                                        <p:cTn id="8" dur="500" fill="hold"/>
                                        <p:tgtEl>
                                          <p:spTgt spid="9"/>
                                        </p:tgtEl>
                                        <p:attrNameLst>
                                          <p:attrName>stroke.color</p:attrName>
                                        </p:attrNameLst>
                                      </p:cBhvr>
                                      <p:by>
                                        <p:hsl h="10842353" s="0" l="0"/>
                                      </p:by>
                                    </p:animClr>
                                    <p:set>
                                      <p:cBhvr>
                                        <p:cTn id="9" dur="500" fill="hold"/>
                                        <p:tgtEl>
                                          <p:spTgt spid="9"/>
                                        </p:tgtEl>
                                        <p:attrNameLst>
                                          <p:attrName>fill.type</p:attrName>
                                        </p:attrNameLst>
                                      </p:cBhvr>
                                      <p:to>
                                        <p:strVal val="solid"/>
                                      </p:to>
                                    </p:set>
                                  </p:childTnLst>
                                </p:cTn>
                              </p:par>
                              <p:par>
                                <p:cTn id="10"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11" dur="500" fill="hold"/>
                                        <p:tgtEl>
                                          <p:spTgt spid="10"/>
                                        </p:tgtEl>
                                        <p:attrNameLst>
                                          <p:attrName>style.color</p:attrName>
                                        </p:attrNameLst>
                                      </p:cBhvr>
                                      <p:by>
                                        <p:hsl h="10842353" s="0" l="0"/>
                                      </p:by>
                                    </p:animClr>
                                    <p:animClr clrSpc="hsl" dir="cw">
                                      <p:cBhvr>
                                        <p:cTn id="12" dur="500" fill="hold"/>
                                        <p:tgtEl>
                                          <p:spTgt spid="10"/>
                                        </p:tgtEl>
                                        <p:attrNameLst>
                                          <p:attrName>fillcolor</p:attrName>
                                        </p:attrNameLst>
                                      </p:cBhvr>
                                      <p:by>
                                        <p:hsl h="10842353" s="0" l="0"/>
                                      </p:by>
                                    </p:animClr>
                                    <p:animClr clrSpc="hsl" dir="cw">
                                      <p:cBhvr>
                                        <p:cTn id="13" dur="500" fill="hold"/>
                                        <p:tgtEl>
                                          <p:spTgt spid="10"/>
                                        </p:tgtEl>
                                        <p:attrNameLst>
                                          <p:attrName>stroke.color</p:attrName>
                                        </p:attrNameLst>
                                      </p:cBhvr>
                                      <p:by>
                                        <p:hsl h="10842353" s="0" l="0"/>
                                      </p:by>
                                    </p:animClr>
                                    <p:set>
                                      <p:cBhvr>
                                        <p:cTn id="14" dur="500" fill="hold"/>
                                        <p:tgtEl>
                                          <p:spTgt spid="10"/>
                                        </p:tgtEl>
                                        <p:attrNameLst>
                                          <p:attrName>fill.type</p:attrName>
                                        </p:attrNameLst>
                                      </p:cBhvr>
                                      <p:to>
                                        <p:strVal val="solid"/>
                                      </p:to>
                                    </p:set>
                                  </p:childTnLst>
                                </p:cTn>
                              </p:par>
                              <p:par>
                                <p:cTn id="15" presetID="23" presetClass="emph" presetSubtype="0" repeatCount="indefinite" fill="hold" nodeType="withEffect">
                                  <p:stCondLst>
                                    <p:cond delay="0"/>
                                  </p:stCondLst>
                                  <p:endCondLst>
                                    <p:cond evt="onNext" delay="0">
                                      <p:tgtEl>
                                        <p:sldTgt/>
                                      </p:tgtEl>
                                    </p:cond>
                                  </p:endCondLst>
                                  <p:childTnLst>
                                    <p:animClr clrSpc="hsl" dir="cw">
                                      <p:cBhvr override="childStyle">
                                        <p:cTn id="16" dur="500" fill="hold"/>
                                        <p:tgtEl>
                                          <p:spTgt spid="1028"/>
                                        </p:tgtEl>
                                        <p:attrNameLst>
                                          <p:attrName>style.color</p:attrName>
                                        </p:attrNameLst>
                                      </p:cBhvr>
                                      <p:by>
                                        <p:hsl h="10842353" s="0" l="0"/>
                                      </p:by>
                                    </p:animClr>
                                    <p:animClr clrSpc="hsl" dir="cw">
                                      <p:cBhvr>
                                        <p:cTn id="17" dur="500" fill="hold"/>
                                        <p:tgtEl>
                                          <p:spTgt spid="1028"/>
                                        </p:tgtEl>
                                        <p:attrNameLst>
                                          <p:attrName>fillcolor</p:attrName>
                                        </p:attrNameLst>
                                      </p:cBhvr>
                                      <p:by>
                                        <p:hsl h="10842353" s="0" l="0"/>
                                      </p:by>
                                    </p:animClr>
                                    <p:animClr clrSpc="hsl" dir="cw">
                                      <p:cBhvr>
                                        <p:cTn id="18" dur="500" fill="hold"/>
                                        <p:tgtEl>
                                          <p:spTgt spid="1028"/>
                                        </p:tgtEl>
                                        <p:attrNameLst>
                                          <p:attrName>stroke.color</p:attrName>
                                        </p:attrNameLst>
                                      </p:cBhvr>
                                      <p:by>
                                        <p:hsl h="10842353" s="0" l="0"/>
                                      </p:by>
                                    </p:animClr>
                                    <p:set>
                                      <p:cBhvr>
                                        <p:cTn id="19" dur="500" fill="hold"/>
                                        <p:tgtEl>
                                          <p:spTgt spid="1028"/>
                                        </p:tgtEl>
                                        <p:attrNameLst>
                                          <p:attrName>fill.type</p:attrName>
                                        </p:attrNameLst>
                                      </p:cBhvr>
                                      <p:to>
                                        <p:strVal val="solid"/>
                                      </p:to>
                                    </p:set>
                                  </p:childTnLst>
                                </p:cTn>
                              </p:par>
                              <p:par>
                                <p:cTn id="20"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21" dur="500" fill="hold"/>
                                        <p:tgtEl>
                                          <p:spTgt spid="13"/>
                                        </p:tgtEl>
                                        <p:attrNameLst>
                                          <p:attrName>style.color</p:attrName>
                                        </p:attrNameLst>
                                      </p:cBhvr>
                                      <p:by>
                                        <p:hsl h="10842353" s="0" l="0"/>
                                      </p:by>
                                    </p:animClr>
                                    <p:animClr clrSpc="hsl" dir="cw">
                                      <p:cBhvr>
                                        <p:cTn id="22" dur="500" fill="hold"/>
                                        <p:tgtEl>
                                          <p:spTgt spid="13"/>
                                        </p:tgtEl>
                                        <p:attrNameLst>
                                          <p:attrName>fillcolor</p:attrName>
                                        </p:attrNameLst>
                                      </p:cBhvr>
                                      <p:by>
                                        <p:hsl h="10842353" s="0" l="0"/>
                                      </p:by>
                                    </p:animClr>
                                    <p:animClr clrSpc="hsl" dir="cw">
                                      <p:cBhvr>
                                        <p:cTn id="23" dur="500" fill="hold"/>
                                        <p:tgtEl>
                                          <p:spTgt spid="13"/>
                                        </p:tgtEl>
                                        <p:attrNameLst>
                                          <p:attrName>stroke.color</p:attrName>
                                        </p:attrNameLst>
                                      </p:cBhvr>
                                      <p:by>
                                        <p:hsl h="10842353" s="0" l="0"/>
                                      </p:by>
                                    </p:animClr>
                                    <p:set>
                                      <p:cBhvr>
                                        <p:cTn id="24" dur="500" fill="hold"/>
                                        <p:tgtEl>
                                          <p:spTgt spid="13"/>
                                        </p:tgtEl>
                                        <p:attrNameLst>
                                          <p:attrName>fill.type</p:attrName>
                                        </p:attrNameLst>
                                      </p:cBhvr>
                                      <p:to>
                                        <p:strVal val="solid"/>
                                      </p:to>
                                    </p:set>
                                  </p:childTnLst>
                                </p:cTn>
                              </p:par>
                              <p:par>
                                <p:cTn id="25"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26" dur="500" fill="hold"/>
                                        <p:tgtEl>
                                          <p:spTgt spid="14"/>
                                        </p:tgtEl>
                                        <p:attrNameLst>
                                          <p:attrName>style.color</p:attrName>
                                        </p:attrNameLst>
                                      </p:cBhvr>
                                      <p:by>
                                        <p:hsl h="10842353" s="0" l="0"/>
                                      </p:by>
                                    </p:animClr>
                                    <p:animClr clrSpc="hsl" dir="cw">
                                      <p:cBhvr>
                                        <p:cTn id="27" dur="500" fill="hold"/>
                                        <p:tgtEl>
                                          <p:spTgt spid="14"/>
                                        </p:tgtEl>
                                        <p:attrNameLst>
                                          <p:attrName>fillcolor</p:attrName>
                                        </p:attrNameLst>
                                      </p:cBhvr>
                                      <p:by>
                                        <p:hsl h="10842353" s="0" l="0"/>
                                      </p:by>
                                    </p:animClr>
                                    <p:animClr clrSpc="hsl" dir="cw">
                                      <p:cBhvr>
                                        <p:cTn id="28" dur="500" fill="hold"/>
                                        <p:tgtEl>
                                          <p:spTgt spid="14"/>
                                        </p:tgtEl>
                                        <p:attrNameLst>
                                          <p:attrName>stroke.color</p:attrName>
                                        </p:attrNameLst>
                                      </p:cBhvr>
                                      <p:by>
                                        <p:hsl h="10842353" s="0" l="0"/>
                                      </p:by>
                                    </p:animClr>
                                    <p:set>
                                      <p:cBhvr>
                                        <p:cTn id="29" dur="500" fill="hold"/>
                                        <p:tgtEl>
                                          <p:spTgt spid="14"/>
                                        </p:tgtEl>
                                        <p:attrNameLst>
                                          <p:attrName>fill.type</p:attrName>
                                        </p:attrNameLst>
                                      </p:cBhvr>
                                      <p:to>
                                        <p:strVal val="solid"/>
                                      </p:to>
                                    </p:set>
                                  </p:childTnLst>
                                </p:cTn>
                              </p:par>
                              <p:par>
                                <p:cTn id="30" presetID="21" presetClass="emph" presetSubtype="0" repeatCount="indefinite" fill="hold" nodeType="withEffect">
                                  <p:stCondLst>
                                    <p:cond delay="0"/>
                                  </p:stCondLst>
                                  <p:endCondLst>
                                    <p:cond evt="onNext" delay="0">
                                      <p:tgtEl>
                                        <p:sldTgt/>
                                      </p:tgtEl>
                                    </p:cond>
                                  </p:endCondLst>
                                  <p:iterate type="wd">
                                    <p:tmPct val="10000"/>
                                  </p:iterate>
                                  <p:childTnLst>
                                    <p:animClr clrSpc="hsl" dir="cw">
                                      <p:cBhvr override="childStyle">
                                        <p:cTn id="31" dur="500" fill="hold"/>
                                        <p:tgtEl>
                                          <p:spTgt spid="12">
                                            <p:txEl>
                                              <p:pRg st="0" end="0"/>
                                            </p:txEl>
                                          </p:spTgt>
                                        </p:tgtEl>
                                        <p:attrNameLst>
                                          <p:attrName>style.color</p:attrName>
                                        </p:attrNameLst>
                                      </p:cBhvr>
                                      <p:by>
                                        <p:hsl h="7200000" s="0" l="0"/>
                                      </p:by>
                                    </p:animClr>
                                    <p:animClr clrSpc="hsl" dir="cw">
                                      <p:cBhvr>
                                        <p:cTn id="32" dur="500" fill="hold"/>
                                        <p:tgtEl>
                                          <p:spTgt spid="12">
                                            <p:txEl>
                                              <p:pRg st="0" end="0"/>
                                            </p:txEl>
                                          </p:spTgt>
                                        </p:tgtEl>
                                        <p:attrNameLst>
                                          <p:attrName>fillcolor</p:attrName>
                                        </p:attrNameLst>
                                      </p:cBhvr>
                                      <p:by>
                                        <p:hsl h="7200000" s="0" l="0"/>
                                      </p:by>
                                    </p:animClr>
                                    <p:animClr clrSpc="hsl" dir="cw">
                                      <p:cBhvr>
                                        <p:cTn id="33" dur="500" fill="hold"/>
                                        <p:tgtEl>
                                          <p:spTgt spid="12">
                                            <p:txEl>
                                              <p:pRg st="0" end="0"/>
                                            </p:txEl>
                                          </p:spTgt>
                                        </p:tgtEl>
                                        <p:attrNameLst>
                                          <p:attrName>stroke.color</p:attrName>
                                        </p:attrNameLst>
                                      </p:cBhvr>
                                      <p:by>
                                        <p:hsl h="7200000" s="0" l="0"/>
                                      </p:by>
                                    </p:animClr>
                                    <p:set>
                                      <p:cBhvr>
                                        <p:cTn id="34" dur="500" fill="hold"/>
                                        <p:tgtEl>
                                          <p:spTgt spid="12">
                                            <p:txEl>
                                              <p:pRg st="0" end="0"/>
                                            </p:txEl>
                                          </p:spTgt>
                                        </p:tgtEl>
                                        <p:attrNameLst>
                                          <p:attrName>fill.type</p:attrName>
                                        </p:attrNameLst>
                                      </p:cBhvr>
                                      <p:to>
                                        <p:strVal val="solid"/>
                                      </p:to>
                                    </p:set>
                                  </p:childTnLst>
                                </p:cTn>
                              </p:par>
                              <p:par>
                                <p:cTn id="35" presetID="21" presetClass="emph" presetSubtype="0" repeatCount="indefinite" fill="hold" nodeType="withEffect">
                                  <p:stCondLst>
                                    <p:cond delay="0"/>
                                  </p:stCondLst>
                                  <p:endCondLst>
                                    <p:cond evt="onNext" delay="0">
                                      <p:tgtEl>
                                        <p:sldTgt/>
                                      </p:tgtEl>
                                    </p:cond>
                                  </p:endCondLst>
                                  <p:iterate type="wd">
                                    <p:tmPct val="10000"/>
                                  </p:iterate>
                                  <p:childTnLst>
                                    <p:animClr clrSpc="hsl" dir="cw">
                                      <p:cBhvr override="childStyle">
                                        <p:cTn id="36" dur="500" fill="hold"/>
                                        <p:tgtEl>
                                          <p:spTgt spid="12">
                                            <p:txEl>
                                              <p:pRg st="1" end="1"/>
                                            </p:txEl>
                                          </p:spTgt>
                                        </p:tgtEl>
                                        <p:attrNameLst>
                                          <p:attrName>style.color</p:attrName>
                                        </p:attrNameLst>
                                      </p:cBhvr>
                                      <p:by>
                                        <p:hsl h="7200000" s="0" l="0"/>
                                      </p:by>
                                    </p:animClr>
                                    <p:animClr clrSpc="hsl" dir="cw">
                                      <p:cBhvr>
                                        <p:cTn id="37" dur="500" fill="hold"/>
                                        <p:tgtEl>
                                          <p:spTgt spid="12">
                                            <p:txEl>
                                              <p:pRg st="1" end="1"/>
                                            </p:txEl>
                                          </p:spTgt>
                                        </p:tgtEl>
                                        <p:attrNameLst>
                                          <p:attrName>fillcolor</p:attrName>
                                        </p:attrNameLst>
                                      </p:cBhvr>
                                      <p:by>
                                        <p:hsl h="7200000" s="0" l="0"/>
                                      </p:by>
                                    </p:animClr>
                                    <p:animClr clrSpc="hsl" dir="cw">
                                      <p:cBhvr>
                                        <p:cTn id="38" dur="500" fill="hold"/>
                                        <p:tgtEl>
                                          <p:spTgt spid="12">
                                            <p:txEl>
                                              <p:pRg st="1" end="1"/>
                                            </p:txEl>
                                          </p:spTgt>
                                        </p:tgtEl>
                                        <p:attrNameLst>
                                          <p:attrName>stroke.color</p:attrName>
                                        </p:attrNameLst>
                                      </p:cBhvr>
                                      <p:by>
                                        <p:hsl h="7200000" s="0" l="0"/>
                                      </p:by>
                                    </p:animClr>
                                    <p:set>
                                      <p:cBhvr>
                                        <p:cTn id="39" dur="500" fill="hold"/>
                                        <p:tgtEl>
                                          <p:spTgt spid="12">
                                            <p:txEl>
                                              <p:pRg st="1" end="1"/>
                                            </p:txEl>
                                          </p:spTgt>
                                        </p:tgtEl>
                                        <p:attrNameLst>
                                          <p:attrName>fill.type</p:attrName>
                                        </p:attrNameLst>
                                      </p:cBhvr>
                                      <p:to>
                                        <p:strVal val="solid"/>
                                      </p:to>
                                    </p:set>
                                  </p:childTnLst>
                                </p:cTn>
                              </p:par>
                            </p:childTnLst>
                          </p:cTn>
                        </p:par>
                        <p:par>
                          <p:cTn id="40" fill="hold">
                            <p:stCondLst>
                              <p:cond delay="650"/>
                            </p:stCondLst>
                            <p:childTnLst>
                              <p:par>
                                <p:cTn id="41" presetID="1" presetClass="mediacall" presetSubtype="0" fill="hold" nodeType="afterEffect">
                                  <p:stCondLst>
                                    <p:cond delay="16700"/>
                                  </p:stCondLst>
                                  <p:childTnLst>
                                    <p:cmd type="call" cmd="playFrom(43)">
                                      <p:cBhvr>
                                        <p:cTn id="42"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43" repeatCount="indefinite" fill="hold" display="0">
                  <p:stCondLst>
                    <p:cond delay="indefinite"/>
                  </p:stCondLst>
                  <p:endCondLst>
                    <p:cond evt="onNext" delay="0">
                      <p:tgtEl>
                        <p:sldTgt/>
                      </p:tgtEl>
                    </p:cond>
                    <p:cond evt="onPrev" delay="0">
                      <p:tgtEl>
                        <p:sldTgt/>
                      </p:tgtEl>
                    </p:cond>
                    <p:cond evt="onStopAudio" delay="0">
                      <p:tgtEl>
                        <p:sldTgt/>
                      </p:tgtEl>
                    </p:cond>
                  </p:endCondLst>
                </p:cTn>
                <p:tgtEl>
                  <p:spTgt spid="16"/>
                </p:tgtEl>
              </p:cMediaNode>
            </p:audio>
            <p:audio>
              <p:cMediaNode>
                <p:cTn id="44" fill="hold" display="0">
                  <p:stCondLst>
                    <p:cond delay="indefinite"/>
                  </p:stCondLst>
                  <p:endCondLst>
                    <p:cond evt="onPrev" delay="0">
                      <p:tgtEl>
                        <p:sldTgt/>
                      </p:tgtEl>
                    </p:cond>
                    <p:cond evt="onStopAudio" delay="0">
                      <p:tgtEl>
                        <p:sldTgt/>
                      </p:tgtEl>
                    </p:cond>
                    <p:cond evt="onNext" delay="0">
                      <p:tgtEl>
                        <p:sldTgt/>
                      </p:tgtEl>
                    </p:cond>
                  </p:endCondLst>
                </p:cTn>
                <p:tgtEl>
                  <p:spTgt spid="17"/>
                </p:tgtEl>
              </p:cMediaNode>
            </p:audio>
          </p:childTnLst>
        </p:cTn>
      </p:par>
    </p:tnLst>
    <p:bldLst>
      <p:bldP spid="9" grpId="0" animBg="1"/>
      <p:bldP spid="10"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C:\Users\Pawan\Pictures\678402ab595951f0f135e8686ba4e5fc_image_789x500.jpg"/>
          <p:cNvPicPr>
            <a:picLocks noChangeAspect="1" noChangeArrowheads="1"/>
          </p:cNvPicPr>
          <p:nvPr/>
        </p:nvPicPr>
        <p:blipFill>
          <a:blip r:embed="rId5"/>
          <a:srcRect/>
          <a:stretch>
            <a:fillRect/>
          </a:stretch>
        </p:blipFill>
        <p:spPr bwMode="auto">
          <a:xfrm>
            <a:off x="0" y="0"/>
            <a:ext cx="9525000" cy="6858000"/>
          </a:xfrm>
          <a:prstGeom prst="rect">
            <a:avLst/>
          </a:prstGeom>
          <a:noFill/>
        </p:spPr>
      </p:pic>
      <p:pic>
        <p:nvPicPr>
          <p:cNvPr id="1026" name="Picture 2" descr="C:\Users\Pawan\Pictures\Technology1.jpg"/>
          <p:cNvPicPr>
            <a:picLocks noChangeAspect="1" noChangeArrowheads="1"/>
          </p:cNvPicPr>
          <p:nvPr/>
        </p:nvPicPr>
        <p:blipFill>
          <a:blip r:embed="rId6" cstate="print"/>
          <a:srcRect/>
          <a:stretch>
            <a:fillRect/>
          </a:stretch>
        </p:blipFill>
        <p:spPr bwMode="auto">
          <a:xfrm>
            <a:off x="1" y="0"/>
            <a:ext cx="9677400" cy="6449225"/>
          </a:xfrm>
          <a:prstGeom prst="rect">
            <a:avLst/>
          </a:prstGeom>
          <a:noFill/>
        </p:spPr>
      </p:pic>
      <p:pic>
        <p:nvPicPr>
          <p:cNvPr id="3074" name="Picture 2" descr="C:\Users\Pawan\Pictures\stock-market-historical.png"/>
          <p:cNvPicPr>
            <a:picLocks noChangeAspect="1" noChangeArrowheads="1"/>
          </p:cNvPicPr>
          <p:nvPr/>
        </p:nvPicPr>
        <p:blipFill>
          <a:blip r:embed="rId7"/>
          <a:srcRect/>
          <a:stretch>
            <a:fillRect/>
          </a:stretch>
        </p:blipFill>
        <p:spPr bwMode="auto">
          <a:xfrm>
            <a:off x="0" y="-1"/>
            <a:ext cx="9144000" cy="6858001"/>
          </a:xfrm>
          <a:prstGeom prst="rect">
            <a:avLst/>
          </a:prstGeom>
          <a:noFill/>
        </p:spPr>
      </p:pic>
    </p:spTree>
    <p:custDataLst>
      <p:tags r:id="rId1"/>
    </p:custDataLst>
    <p:extLst>
      <p:ext uri="{BB962C8B-B14F-4D97-AF65-F5344CB8AC3E}">
        <p14:creationId xmlns:p14="http://schemas.microsoft.com/office/powerpoint/2010/main" val="1675202352"/>
      </p:ext>
    </p:extLst>
  </p:cSld>
  <p:clrMapOvr>
    <a:masterClrMapping/>
  </p:clrMapOvr>
  <mc:AlternateContent xmlns:mc="http://schemas.openxmlformats.org/markup-compatibility/2006" xmlns:p14="http://schemas.microsoft.com/office/powerpoint/2010/main">
    <mc:Choice Requires="p14">
      <p:transition spd="slow" p14:dur="2250" advTm="290">
        <p14:vortex dir="r"/>
        <p:sndAc>
          <p:stSnd>
            <p:snd r:embed="rId4" name="waltdisneyhomeentertainment.wav"/>
          </p:stSnd>
        </p:sndAc>
      </p:transition>
    </mc:Choice>
    <mc:Fallback xmlns="">
      <p:transition spd="slow" advTm="290">
        <p:fade/>
        <p:sndAc>
          <p:stSnd>
            <p:snd r:embed="rId8" name="waltdisneyhomeentertainment.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76"/>
                                        </p:tgtEl>
                                      </p:cBhvr>
                                    </p:animEffect>
                                    <p:set>
                                      <p:cBhvr>
                                        <p:cTn id="7" dur="1" fill="hold">
                                          <p:stCondLst>
                                            <p:cond delay="499"/>
                                          </p:stCondLst>
                                        </p:cTn>
                                        <p:tgtEl>
                                          <p:spTgt spid="3076"/>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74"/>
                                        </p:tgtEl>
                                        <p:attrNameLst>
                                          <p:attrName>style.visibility</p:attrName>
                                        </p:attrNameLst>
                                      </p:cBhvr>
                                      <p:to>
                                        <p:strVal val="visible"/>
                                      </p:to>
                                    </p:set>
                                    <p:animEffect transition="in" filter="fade">
                                      <p:cBhvr>
                                        <p:cTn id="11" dur="500"/>
                                        <p:tgtEl>
                                          <p:spTgt spid="307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3074"/>
                                        </p:tgtEl>
                                      </p:cBhvr>
                                    </p:animEffect>
                                    <p:set>
                                      <p:cBhvr>
                                        <p:cTn id="16" dur="1" fill="hold">
                                          <p:stCondLst>
                                            <p:cond delay="499"/>
                                          </p:stCondLst>
                                        </p:cTn>
                                        <p:tgtEl>
                                          <p:spTgt spid="3074"/>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09" name="Rectangle 37"/>
          <p:cNvSpPr>
            <a:spLocks noGrp="1"/>
          </p:cNvSpPr>
          <p:nvPr>
            <p:ph type="ctrTitle"/>
          </p:nvPr>
        </p:nvSpPr>
        <p:spPr>
          <a:xfrm>
            <a:off x="-228600" y="1270356"/>
            <a:ext cx="9639300" cy="1434828"/>
          </a:xfrm>
        </p:spPr>
        <p:txBody>
          <a:bodyPr>
            <a:normAutofit/>
          </a:bodyPr>
          <a:lstStyle/>
          <a:p>
            <a:r>
              <a:rPr lang="en-US" sz="3200" b="1" dirty="0"/>
              <a:t>Systemic Microstructure Risks of High Speed </a:t>
            </a:r>
            <a:r>
              <a:rPr lang="en-US" sz="3200" b="1" dirty="0" smtClean="0"/>
              <a:t>Trading</a:t>
            </a:r>
            <a:endParaRPr lang="en-US" sz="3200" b="1" dirty="0"/>
          </a:p>
        </p:txBody>
      </p:sp>
      <p:sp>
        <p:nvSpPr>
          <p:cNvPr id="3110" name="Rectangle 38"/>
          <p:cNvSpPr>
            <a:spLocks noGrp="1"/>
          </p:cNvSpPr>
          <p:nvPr>
            <p:ph type="subTitle" idx="1"/>
          </p:nvPr>
        </p:nvSpPr>
        <p:spPr>
          <a:xfrm>
            <a:off x="152400" y="2438400"/>
            <a:ext cx="8839200" cy="1752600"/>
          </a:xfrm>
          <a:noFill/>
          <a:ln/>
        </p:spPr>
        <p:txBody>
          <a:bodyPr/>
          <a:lstStyle/>
          <a:p>
            <a:r>
              <a:rPr lang="en-US" dirty="0" err="1" smtClean="0"/>
              <a:t>Pankaj</a:t>
            </a:r>
            <a:r>
              <a:rPr lang="en-US" dirty="0" smtClean="0"/>
              <a:t> Jain,  </a:t>
            </a:r>
            <a:r>
              <a:rPr lang="en-US" dirty="0" err="1" smtClean="0"/>
              <a:t>Pawan</a:t>
            </a:r>
            <a:r>
              <a:rPr lang="en-US" dirty="0" smtClean="0"/>
              <a:t> Jain, and Thomas H. </a:t>
            </a:r>
            <a:r>
              <a:rPr lang="en-US" dirty="0" err="1" smtClean="0"/>
              <a:t>McInish</a:t>
            </a:r>
            <a:endParaRPr lang="en-US" dirty="0"/>
          </a:p>
        </p:txBody>
      </p:sp>
      <p:pic>
        <p:nvPicPr>
          <p:cNvPr id="13" name="Picture 2" descr="C:\Users\Pawan\Pictures\SUMO RACER.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62600" y="4343401"/>
            <a:ext cx="3581400" cy="25145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4267200"/>
            <a:ext cx="5029200" cy="3447098"/>
          </a:xfrm>
          <a:prstGeom prst="rect">
            <a:avLst/>
          </a:prstGeom>
        </p:spPr>
        <p:txBody>
          <a:bodyPr wrap="square">
            <a:spAutoFit/>
          </a:bodyPr>
          <a:lstStyle/>
          <a:p>
            <a:pPr algn="ctr"/>
            <a:r>
              <a:rPr lang="en-US" sz="3200" dirty="0">
                <a:solidFill>
                  <a:prstClr val="black"/>
                </a:solidFill>
              </a:rPr>
              <a:t>Presented by:</a:t>
            </a:r>
          </a:p>
          <a:p>
            <a:pPr algn="ctr"/>
            <a:r>
              <a:rPr lang="en-US" sz="3200" b="1" u="sng" dirty="0" err="1" smtClean="0">
                <a:solidFill>
                  <a:prstClr val="black"/>
                </a:solidFill>
              </a:rPr>
              <a:t>Pawan</a:t>
            </a:r>
            <a:r>
              <a:rPr lang="en-US" sz="3200" b="1" u="sng" dirty="0" smtClean="0">
                <a:solidFill>
                  <a:prstClr val="black"/>
                </a:solidFill>
              </a:rPr>
              <a:t> Jain</a:t>
            </a:r>
          </a:p>
          <a:p>
            <a:pPr algn="ctr"/>
            <a:endParaRPr lang="en-US" b="1" u="sng" dirty="0" smtClean="0">
              <a:solidFill>
                <a:prstClr val="black"/>
              </a:solidFill>
            </a:endParaRPr>
          </a:p>
          <a:p>
            <a:pPr algn="ctr"/>
            <a:r>
              <a:rPr lang="en-US" dirty="0" smtClean="0">
                <a:solidFill>
                  <a:prstClr val="black"/>
                </a:solidFill>
              </a:rPr>
              <a:t>Email: </a:t>
            </a:r>
            <a:r>
              <a:rPr lang="en-US" dirty="0" smtClean="0">
                <a:solidFill>
                  <a:prstClr val="black"/>
                </a:solidFill>
                <a:hlinkClick r:id="rId5"/>
              </a:rPr>
              <a:t>jain1p@cmich.edu</a:t>
            </a:r>
            <a:endParaRPr lang="en-US" dirty="0" smtClean="0">
              <a:solidFill>
                <a:prstClr val="black"/>
              </a:solidFill>
            </a:endParaRPr>
          </a:p>
          <a:p>
            <a:pPr algn="ctr"/>
            <a:r>
              <a:rPr lang="en-US" dirty="0" smtClean="0">
                <a:solidFill>
                  <a:prstClr val="black"/>
                </a:solidFill>
              </a:rPr>
              <a:t>Cell #: 307-220-1900</a:t>
            </a:r>
          </a:p>
          <a:p>
            <a:pPr algn="ctr"/>
            <a:r>
              <a:rPr lang="en-US" dirty="0" err="1" smtClean="0">
                <a:solidFill>
                  <a:prstClr val="black"/>
                </a:solidFill>
              </a:rPr>
              <a:t>Web:</a:t>
            </a:r>
            <a:r>
              <a:rPr lang="en-US" dirty="0" err="1" smtClean="0">
                <a:solidFill>
                  <a:prstClr val="black"/>
                </a:solidFill>
                <a:hlinkClick r:id="rId6"/>
              </a:rPr>
              <a:t>https</a:t>
            </a:r>
            <a:r>
              <a:rPr lang="en-US" dirty="0">
                <a:solidFill>
                  <a:prstClr val="black"/>
                </a:solidFill>
                <a:hlinkClick r:id="rId6"/>
              </a:rPr>
              <a:t>://</a:t>
            </a:r>
            <a:r>
              <a:rPr lang="en-US" dirty="0" smtClean="0">
                <a:solidFill>
                  <a:prstClr val="black"/>
                </a:solidFill>
                <a:hlinkClick r:id="rId6"/>
              </a:rPr>
              <a:t>umdrive.memphis.edu/pjain1/public/PawanJain.html</a:t>
            </a:r>
            <a:endParaRPr lang="en-US" dirty="0" smtClean="0">
              <a:solidFill>
                <a:prstClr val="black"/>
              </a:solidFill>
            </a:endParaRPr>
          </a:p>
          <a:p>
            <a:endParaRPr lang="en-US" sz="3200" dirty="0" smtClean="0">
              <a:solidFill>
                <a:prstClr val="black"/>
              </a:solidFill>
            </a:endParaRPr>
          </a:p>
          <a:p>
            <a:pPr algn="ctr"/>
            <a:endParaRPr lang="en-US" sz="3200" dirty="0">
              <a:solidFill>
                <a:prstClr val="black"/>
              </a:solidFill>
            </a:endParaRPr>
          </a:p>
        </p:txBody>
      </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20727" y="108306"/>
            <a:ext cx="141125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0525" y="95250"/>
            <a:ext cx="4638675" cy="1156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2782243"/>
      </p:ext>
    </p:extLst>
  </p:cSld>
  <p:clrMapOvr>
    <a:masterClrMapping/>
  </p:clrMapOvr>
  <mc:AlternateContent xmlns:mc="http://schemas.openxmlformats.org/markup-compatibility/2006" xmlns:p14="http://schemas.microsoft.com/office/powerpoint/2010/main">
    <mc:Choice Requires="p14">
      <p:transition spd="slow" p14:dur="2000">
        <p14:reveal/>
        <p:sndAc>
          <p:stSnd>
            <p:snd r:embed="rId3" name="20thcenturyfox.wav"/>
          </p:stSnd>
        </p:sndAc>
      </p:transition>
    </mc:Choice>
    <mc:Fallback xmlns="">
      <p:transition spd="slow">
        <p:fade/>
        <p:sndAc>
          <p:stSnd>
            <p:snd r:embed="rId9" name="20thcenturyfox.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109"/>
                                        </p:tgtEl>
                                        <p:attrNameLst>
                                          <p:attrName>style.visibility</p:attrName>
                                        </p:attrNameLst>
                                      </p:cBhvr>
                                      <p:to>
                                        <p:strVal val="visible"/>
                                      </p:to>
                                    </p:set>
                                    <p:animEffect transition="in" filter="fade">
                                      <p:cBhvr>
                                        <p:cTn id="7" dur="1000"/>
                                        <p:tgtEl>
                                          <p:spTgt spid="3109"/>
                                        </p:tgtEl>
                                      </p:cBhvr>
                                    </p:animEffect>
                                    <p:anim calcmode="lin" valueType="num">
                                      <p:cBhvr>
                                        <p:cTn id="8" dur="1000" fill="hold"/>
                                        <p:tgtEl>
                                          <p:spTgt spid="3109"/>
                                        </p:tgtEl>
                                        <p:attrNameLst>
                                          <p:attrName>ppt_x</p:attrName>
                                        </p:attrNameLst>
                                      </p:cBhvr>
                                      <p:tavLst>
                                        <p:tav tm="0">
                                          <p:val>
                                            <p:strVal val="#ppt_x"/>
                                          </p:val>
                                        </p:tav>
                                        <p:tav tm="100000">
                                          <p:val>
                                            <p:strVal val="#ppt_x"/>
                                          </p:val>
                                        </p:tav>
                                      </p:tavLst>
                                    </p:anim>
                                    <p:anim calcmode="lin" valueType="num">
                                      <p:cBhvr>
                                        <p:cTn id="9" dur="1000" fill="hold"/>
                                        <p:tgtEl>
                                          <p:spTgt spid="3109"/>
                                        </p:tgtEl>
                                        <p:attrNameLst>
                                          <p:attrName>ppt_y</p:attrName>
                                        </p:attrNameLst>
                                      </p:cBhvr>
                                      <p:tavLst>
                                        <p:tav tm="0">
                                          <p:val>
                                            <p:strVal val="#ppt_y+.1"/>
                                          </p:val>
                                        </p:tav>
                                        <p:tav tm="100000">
                                          <p:val>
                                            <p:strVal val="#ppt_y"/>
                                          </p:val>
                                        </p:tav>
                                      </p:tavLst>
                                    </p:anim>
                                  </p:childTnLst>
                                </p:cTn>
                              </p:par>
                            </p:childTnLst>
                          </p:cTn>
                        </p:par>
                        <p:par>
                          <p:cTn id="10" fill="hold">
                            <p:stCondLst>
                              <p:cond delay="1200"/>
                            </p:stCondLst>
                            <p:childTnLst>
                              <p:par>
                                <p:cTn id="11" presetID="47" presetClass="entr" presetSubtype="0" fill="hold" grpId="0" nodeType="afterEffect">
                                  <p:stCondLst>
                                    <p:cond delay="0"/>
                                  </p:stCondLst>
                                  <p:childTnLst>
                                    <p:set>
                                      <p:cBhvr>
                                        <p:cTn id="12" dur="1" fill="hold">
                                          <p:stCondLst>
                                            <p:cond delay="0"/>
                                          </p:stCondLst>
                                        </p:cTn>
                                        <p:tgtEl>
                                          <p:spTgt spid="3110">
                                            <p:txEl>
                                              <p:pRg st="0" end="0"/>
                                            </p:txEl>
                                          </p:spTgt>
                                        </p:tgtEl>
                                        <p:attrNameLst>
                                          <p:attrName>style.visibility</p:attrName>
                                        </p:attrNameLst>
                                      </p:cBhvr>
                                      <p:to>
                                        <p:strVal val="visible"/>
                                      </p:to>
                                    </p:set>
                                    <p:animEffect transition="in" filter="fade">
                                      <p:cBhvr>
                                        <p:cTn id="13" dur="1000"/>
                                        <p:tgtEl>
                                          <p:spTgt spid="3110">
                                            <p:txEl>
                                              <p:pRg st="0" end="0"/>
                                            </p:txEl>
                                          </p:spTgt>
                                        </p:tgtEl>
                                      </p:cBhvr>
                                    </p:animEffect>
                                    <p:anim calcmode="lin" valueType="num">
                                      <p:cBhvr>
                                        <p:cTn id="14" dur="1000" fill="hold"/>
                                        <p:tgtEl>
                                          <p:spTgt spid="3110">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110">
                                            <p:txEl>
                                              <p:pRg st="0" end="0"/>
                                            </p:txEl>
                                          </p:spTgt>
                                        </p:tgtEl>
                                        <p:attrNameLst>
                                          <p:attrName>ppt_y</p:attrName>
                                        </p:attrNameLst>
                                      </p:cBhvr>
                                      <p:tavLst>
                                        <p:tav tm="0">
                                          <p:val>
                                            <p:strVal val="#ppt_y-.1"/>
                                          </p:val>
                                        </p:tav>
                                        <p:tav tm="100000">
                                          <p:val>
                                            <p:strVal val="#ppt_y"/>
                                          </p:val>
                                        </p:tav>
                                      </p:tavLst>
                                    </p:anim>
                                  </p:childTnLst>
                                </p:cTn>
                              </p:par>
                              <p:par>
                                <p:cTn id="16" presetID="1"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9" grpId="0"/>
      <p:bldP spid="3110" grpId="0"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4" name="Rectangle 4"/>
          <p:cNvSpPr>
            <a:spLocks noChangeArrowheads="1"/>
          </p:cNvSpPr>
          <p:nvPr/>
        </p:nvSpPr>
        <p:spPr bwMode="auto">
          <a:xfrm>
            <a:off x="3048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defRPr/>
            </a:pPr>
            <a:endParaRPr lang="en-US">
              <a:solidFill>
                <a:srgbClr val="FFFFFF"/>
              </a:solidFill>
            </a:endParaRPr>
          </a:p>
        </p:txBody>
      </p:sp>
      <p:sp>
        <p:nvSpPr>
          <p:cNvPr id="5122" name="Rectangle 2"/>
          <p:cNvSpPr>
            <a:spLocks noGrp="1" noChangeArrowheads="1"/>
          </p:cNvSpPr>
          <p:nvPr>
            <p:ph type="ctrTitle"/>
          </p:nvPr>
        </p:nvSpPr>
        <p:spPr bwMode="blackWhite">
          <a:xfrm>
            <a:off x="457200" y="152400"/>
            <a:ext cx="8229600" cy="1066800"/>
          </a:xfrm>
          <a:gradFill rotWithShape="0">
            <a:gsLst>
              <a:gs pos="0">
                <a:schemeClr val="accent1">
                  <a:gamma/>
                  <a:shade val="50196"/>
                  <a:invGamma/>
                </a:schemeClr>
              </a:gs>
              <a:gs pos="100000">
                <a:schemeClr val="accent1"/>
              </a:gs>
            </a:gsLst>
            <a:lin ang="2700000" scaled="1"/>
          </a:gradFill>
        </p:spPr>
        <p:txBody>
          <a:bodyPr anchor="ctr"/>
          <a:lstStyle/>
          <a:p>
            <a:r>
              <a:rPr lang="en-US" sz="3600" dirty="0" smtClean="0">
                <a:solidFill>
                  <a:schemeClr val="bg1"/>
                </a:solidFill>
              </a:rPr>
              <a:t>Implementing Arrowhead:</a:t>
            </a:r>
            <a:r>
              <a:rPr lang="en-US" sz="3200" dirty="0" smtClean="0">
                <a:solidFill>
                  <a:schemeClr val="bg1"/>
                </a:solidFill>
              </a:rPr>
              <a:t>                    A Natural Experiment</a:t>
            </a:r>
            <a:endParaRPr lang="en-GB" sz="3200" dirty="0" smtClean="0">
              <a:solidFill>
                <a:schemeClr val="bg1"/>
              </a:solidFill>
            </a:endParaRPr>
          </a:p>
        </p:txBody>
      </p:sp>
      <p:sp>
        <p:nvSpPr>
          <p:cNvPr id="5123" name="Rectangle 3"/>
          <p:cNvSpPr>
            <a:spLocks noGrp="1" noChangeArrowheads="1"/>
          </p:cNvSpPr>
          <p:nvPr>
            <p:ph type="subTitle" idx="1"/>
          </p:nvPr>
        </p:nvSpPr>
        <p:spPr>
          <a:xfrm>
            <a:off x="0" y="1447800"/>
            <a:ext cx="9144000" cy="5257800"/>
          </a:xfrm>
        </p:spPr>
        <p:txBody>
          <a:bodyPr/>
          <a:lstStyle/>
          <a:p>
            <a:pPr marL="457200" indent="-457200" algn="l">
              <a:lnSpc>
                <a:spcPct val="75000"/>
              </a:lnSpc>
            </a:pPr>
            <a:r>
              <a:rPr lang="en-US" sz="3600" u="sng" dirty="0" smtClean="0">
                <a:effectLst/>
                <a:latin typeface="Times New Roman" pitchFamily="18" charset="0"/>
                <a:cs typeface="Times New Roman" pitchFamily="18" charset="0"/>
              </a:rPr>
              <a:t>Event:</a:t>
            </a:r>
          </a:p>
          <a:p>
            <a:pPr marL="457200" indent="-457200" algn="l">
              <a:lnSpc>
                <a:spcPct val="75000"/>
              </a:lnSpc>
              <a:spcBef>
                <a:spcPts val="1200"/>
              </a:spcBef>
              <a:buFont typeface="Wingdings" pitchFamily="2" charset="2"/>
              <a:buChar char="Ø"/>
            </a:pPr>
            <a:r>
              <a:rPr lang="en-US" sz="2800" dirty="0" smtClean="0">
                <a:effectLst/>
                <a:latin typeface="Times New Roman" pitchFamily="18" charset="0"/>
                <a:cs typeface="Times New Roman" pitchFamily="18" charset="0"/>
              </a:rPr>
              <a:t>January 4, 2010 – Tokyo Stock Exchange (TSE) launches enhanced trading platform: “Arrowhead” </a:t>
            </a:r>
          </a:p>
          <a:p>
            <a:pPr marL="457200" indent="-457200" algn="l">
              <a:lnSpc>
                <a:spcPct val="100000"/>
              </a:lnSpc>
              <a:spcBef>
                <a:spcPts val="600"/>
              </a:spcBef>
              <a:buFont typeface="Wingdings" pitchFamily="2" charset="2"/>
              <a:buChar char="Ø"/>
            </a:pPr>
            <a:r>
              <a:rPr lang="en-US" sz="2800" dirty="0" smtClean="0">
                <a:effectLst/>
                <a:latin typeface="Times New Roman" pitchFamily="18" charset="0"/>
                <a:cs typeface="Times New Roman" pitchFamily="18" charset="0"/>
              </a:rPr>
              <a:t>1500x Increase in System Speed vs. Prior System</a:t>
            </a:r>
          </a:p>
          <a:p>
            <a:pPr marL="914400" lvl="1" indent="-457200" algn="l">
              <a:lnSpc>
                <a:spcPct val="100000"/>
              </a:lnSpc>
              <a:spcBef>
                <a:spcPts val="600"/>
              </a:spcBef>
              <a:buFont typeface="Wingdings" pitchFamily="2" charset="2"/>
              <a:buChar char="Ø"/>
            </a:pPr>
            <a:r>
              <a:rPr lang="en-US" sz="2400" dirty="0" smtClean="0">
                <a:effectLst/>
                <a:latin typeface="Times New Roman" pitchFamily="18" charset="0"/>
                <a:cs typeface="Times New Roman" pitchFamily="18" charset="0"/>
              </a:rPr>
              <a:t>Order processing latency reduced to 3 milliseconds</a:t>
            </a:r>
          </a:p>
          <a:p>
            <a:pPr marL="914400" lvl="1" indent="-457200" algn="l">
              <a:lnSpc>
                <a:spcPct val="100000"/>
              </a:lnSpc>
              <a:spcBef>
                <a:spcPts val="600"/>
              </a:spcBef>
              <a:buFont typeface="Wingdings" pitchFamily="2" charset="2"/>
              <a:buChar char="Ø"/>
            </a:pPr>
            <a:r>
              <a:rPr lang="en-US" sz="2400" dirty="0" smtClean="0">
                <a:effectLst/>
                <a:latin typeface="Times New Roman" pitchFamily="18" charset="0"/>
                <a:cs typeface="Times New Roman" pitchFamily="18" charset="0"/>
              </a:rPr>
              <a:t>No more delayed </a:t>
            </a:r>
            <a:r>
              <a:rPr lang="en-US" sz="2400" dirty="0">
                <a:effectLst/>
                <a:latin typeface="Times New Roman" pitchFamily="18" charset="0"/>
                <a:cs typeface="Times New Roman" pitchFamily="18" charset="0"/>
              </a:rPr>
              <a:t>trading </a:t>
            </a:r>
            <a:r>
              <a:rPr lang="en-US" sz="2400" dirty="0" smtClean="0">
                <a:effectLst/>
                <a:latin typeface="Times New Roman" pitchFamily="18" charset="0"/>
                <a:cs typeface="Times New Roman" pitchFamily="18" charset="0"/>
              </a:rPr>
              <a:t>(Lehmann </a:t>
            </a:r>
            <a:r>
              <a:rPr lang="en-US" sz="2400" dirty="0">
                <a:effectLst/>
                <a:latin typeface="Times New Roman" pitchFamily="18" charset="0"/>
                <a:cs typeface="Times New Roman" pitchFamily="18" charset="0"/>
              </a:rPr>
              <a:t>and Modest, 1994; </a:t>
            </a:r>
            <a:r>
              <a:rPr lang="en-US" sz="2400" dirty="0" err="1" smtClean="0">
                <a:effectLst/>
                <a:latin typeface="Times New Roman" pitchFamily="18" charset="0"/>
                <a:cs typeface="Times New Roman" pitchFamily="18" charset="0"/>
              </a:rPr>
              <a:t>Ahn</a:t>
            </a:r>
            <a:r>
              <a:rPr lang="en-US" sz="2400" dirty="0">
                <a:effectLst/>
                <a:latin typeface="Times New Roman" pitchFamily="18" charset="0"/>
                <a:cs typeface="Times New Roman" pitchFamily="18" charset="0"/>
              </a:rPr>
              <a:t>, </a:t>
            </a:r>
            <a:r>
              <a:rPr lang="en-US" sz="2400" dirty="0" err="1">
                <a:effectLst/>
                <a:latin typeface="Times New Roman" pitchFamily="18" charset="0"/>
                <a:cs typeface="Times New Roman" pitchFamily="18" charset="0"/>
              </a:rPr>
              <a:t>Hamao</a:t>
            </a:r>
            <a:r>
              <a:rPr lang="en-US" sz="2400" dirty="0">
                <a:effectLst/>
                <a:latin typeface="Times New Roman" pitchFamily="18" charset="0"/>
                <a:cs typeface="Times New Roman" pitchFamily="18" charset="0"/>
              </a:rPr>
              <a:t> and </a:t>
            </a:r>
            <a:r>
              <a:rPr lang="en-US" sz="2400" dirty="0" smtClean="0">
                <a:effectLst/>
                <a:latin typeface="Times New Roman" pitchFamily="18" charset="0"/>
                <a:cs typeface="Times New Roman" pitchFamily="18" charset="0"/>
              </a:rPr>
              <a:t>Ho, 2002; Uno and Shibata, 2012)</a:t>
            </a:r>
          </a:p>
          <a:p>
            <a:pPr marL="457200" indent="-457200" algn="l">
              <a:lnSpc>
                <a:spcPct val="75000"/>
              </a:lnSpc>
            </a:pPr>
            <a:r>
              <a:rPr lang="en-US" sz="3600" u="sng" dirty="0" smtClean="0">
                <a:effectLst/>
                <a:latin typeface="Times New Roman" pitchFamily="18" charset="0"/>
                <a:cs typeface="Times New Roman" pitchFamily="18" charset="0"/>
              </a:rPr>
              <a:t>Outcome:</a:t>
            </a:r>
          </a:p>
          <a:p>
            <a:pPr lvl="1" indent="-457200" algn="l">
              <a:lnSpc>
                <a:spcPct val="100000"/>
              </a:lnSpc>
              <a:spcBef>
                <a:spcPts val="1200"/>
              </a:spcBef>
              <a:buClr>
                <a:schemeClr val="tx2"/>
              </a:buClr>
              <a:buSzPct val="80000"/>
              <a:buFont typeface="Wingdings" pitchFamily="2" charset="2"/>
              <a:buChar char="Ø"/>
            </a:pPr>
            <a:r>
              <a:rPr lang="en-US" dirty="0" smtClean="0">
                <a:effectLst/>
                <a:latin typeface="Times New Roman" pitchFamily="18" charset="0"/>
                <a:cs typeface="Times New Roman" pitchFamily="18" charset="0"/>
              </a:rPr>
              <a:t>HFT increased </a:t>
            </a:r>
            <a:r>
              <a:rPr lang="en-US" dirty="0">
                <a:effectLst/>
                <a:latin typeface="Times New Roman" pitchFamily="18" charset="0"/>
                <a:cs typeface="Times New Roman" pitchFamily="18" charset="0"/>
              </a:rPr>
              <a:t>from 0% of total TSE trade volume to </a:t>
            </a:r>
            <a:r>
              <a:rPr lang="en-US" dirty="0" smtClean="0">
                <a:effectLst/>
                <a:latin typeface="Times New Roman" pitchFamily="18" charset="0"/>
                <a:cs typeface="Times New Roman" pitchFamily="18" charset="0"/>
              </a:rPr>
              <a:t>36% within </a:t>
            </a:r>
            <a:r>
              <a:rPr lang="en-US" dirty="0">
                <a:effectLst/>
                <a:latin typeface="Times New Roman" pitchFamily="18" charset="0"/>
                <a:cs typeface="Times New Roman" pitchFamily="18" charset="0"/>
              </a:rPr>
              <a:t>24 months </a:t>
            </a:r>
          </a:p>
          <a:p>
            <a:pPr marL="457200" indent="-457200" algn="l">
              <a:lnSpc>
                <a:spcPct val="75000"/>
              </a:lnSpc>
            </a:pPr>
            <a:endParaRPr lang="en-US" sz="800" u="sng" dirty="0" smtClean="0">
              <a:solidFill>
                <a:srgbClr val="FFFFFF"/>
              </a:solidFill>
              <a:effectLst/>
              <a:latin typeface="Times New Roman" pitchFamily="18" charset="0"/>
              <a:cs typeface="Times New Roman" pitchFamily="18" charset="0"/>
            </a:endParaRPr>
          </a:p>
          <a:p>
            <a:pPr marL="457200" indent="-457200">
              <a:lnSpc>
                <a:spcPct val="75000"/>
              </a:lnSpc>
            </a:pPr>
            <a:r>
              <a:rPr lang="en-US" sz="3600" kern="1200" dirty="0">
                <a:solidFill>
                  <a:schemeClr val="tx2"/>
                </a:solidFill>
                <a:effectLst/>
                <a:latin typeface="Times New Roman" pitchFamily="18" charset="0"/>
                <a:cs typeface="Times New Roman" pitchFamily="18" charset="0"/>
              </a:rPr>
              <a:t>How does </a:t>
            </a:r>
            <a:r>
              <a:rPr lang="en-US" sz="3600" kern="1200" dirty="0" smtClean="0">
                <a:solidFill>
                  <a:schemeClr val="tx2"/>
                </a:solidFill>
                <a:effectLst/>
                <a:latin typeface="Times New Roman" pitchFamily="18" charset="0"/>
                <a:cs typeface="Times New Roman" pitchFamily="18" charset="0"/>
              </a:rPr>
              <a:t>low latency </a:t>
            </a:r>
            <a:r>
              <a:rPr lang="en-US" sz="3600" kern="1200" dirty="0">
                <a:solidFill>
                  <a:schemeClr val="tx2"/>
                </a:solidFill>
                <a:effectLst/>
                <a:latin typeface="Times New Roman" pitchFamily="18" charset="0"/>
                <a:cs typeface="Times New Roman" pitchFamily="18" charset="0"/>
              </a:rPr>
              <a:t>effect Market Quality?</a:t>
            </a:r>
          </a:p>
          <a:p>
            <a:pPr marL="457200" indent="-457200" algn="l">
              <a:lnSpc>
                <a:spcPct val="75000"/>
              </a:lnSpc>
            </a:pPr>
            <a:endParaRPr lang="en-US" sz="2000" u="sng" dirty="0" smtClean="0">
              <a:solidFill>
                <a:srgbClr val="FFFFFF"/>
              </a:solidFill>
              <a:effectLst/>
              <a:latin typeface="Times New Roman" pitchFamily="18" charset="0"/>
              <a:cs typeface="Times New Roman" pitchFamily="18" charset="0"/>
            </a:endParaRPr>
          </a:p>
        </p:txBody>
      </p:sp>
    </p:spTree>
    <p:custDataLst>
      <p:tags r:id="rId1"/>
    </p:custDataLst>
    <p:extLst>
      <p:ext uri="{BB962C8B-B14F-4D97-AF65-F5344CB8AC3E}">
        <p14:creationId xmlns:p14="http://schemas.microsoft.com/office/powerpoint/2010/main" val="4243676304"/>
      </p:ext>
    </p:extLst>
  </p:cSld>
  <p:clrMapOvr>
    <a:masterClrMapping/>
  </p:clrMapOvr>
  <p:transition spd="slow" advTm="1098">
    <p:fade/>
    <p:sndAc>
      <p:end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ox(out)">
                                      <p:cBhvr>
                                        <p:cTn id="7" dur="500"/>
                                        <p:tgtEl>
                                          <p:spTgt spid="5124"/>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5122"/>
                                        </p:tgtEl>
                                        <p:attrNameLst>
                                          <p:attrName>style.visibility</p:attrName>
                                        </p:attrNameLst>
                                      </p:cBhvr>
                                      <p:to>
                                        <p:strVal val="visible"/>
                                      </p:to>
                                    </p:set>
                                    <p:animEffect transition="in" filter="box(in)">
                                      <p:cBhvr>
                                        <p:cTn id="11" dur="500"/>
                                        <p:tgtEl>
                                          <p:spTgt spid="512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123">
                                            <p:txEl>
                                              <p:pRg st="0" end="0"/>
                                            </p:txEl>
                                          </p:spTgt>
                                        </p:tgtEl>
                                        <p:attrNameLst>
                                          <p:attrName>style.visibility</p:attrName>
                                        </p:attrNameLst>
                                      </p:cBhvr>
                                      <p:to>
                                        <p:strVal val="visible"/>
                                      </p:to>
                                    </p:set>
                                    <p:animEffect transition="in" filter="wipe(left)">
                                      <p:cBhvr>
                                        <p:cTn id="15" dur="500"/>
                                        <p:tgtEl>
                                          <p:spTgt spid="5123">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123">
                                            <p:txEl>
                                              <p:pRg st="1" end="1"/>
                                            </p:txEl>
                                          </p:spTgt>
                                        </p:tgtEl>
                                        <p:attrNameLst>
                                          <p:attrName>style.visibility</p:attrName>
                                        </p:attrNameLst>
                                      </p:cBhvr>
                                      <p:to>
                                        <p:strVal val="visible"/>
                                      </p:to>
                                    </p:set>
                                    <p:animEffect transition="in" filter="wipe(left)">
                                      <p:cBhvr>
                                        <p:cTn id="19" dur="500"/>
                                        <p:tgtEl>
                                          <p:spTgt spid="5123">
                                            <p:txEl>
                                              <p:pRg st="1" end="1"/>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123">
                                            <p:txEl>
                                              <p:pRg st="2" end="2"/>
                                            </p:txEl>
                                          </p:spTgt>
                                        </p:tgtEl>
                                        <p:attrNameLst>
                                          <p:attrName>style.visibility</p:attrName>
                                        </p:attrNameLst>
                                      </p:cBhvr>
                                      <p:to>
                                        <p:strVal val="visible"/>
                                      </p:to>
                                    </p:set>
                                    <p:animEffect transition="in" filter="wipe(left)">
                                      <p:cBhvr>
                                        <p:cTn id="22" dur="500"/>
                                        <p:tgtEl>
                                          <p:spTgt spid="5123">
                                            <p:txEl>
                                              <p:pRg st="2" end="2"/>
                                            </p:txEl>
                                          </p:spTgt>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5123">
                                            <p:txEl>
                                              <p:pRg st="3" end="3"/>
                                            </p:txEl>
                                          </p:spTgt>
                                        </p:tgtEl>
                                        <p:attrNameLst>
                                          <p:attrName>style.visibility</p:attrName>
                                        </p:attrNameLst>
                                      </p:cBhvr>
                                      <p:to>
                                        <p:strVal val="visible"/>
                                      </p:to>
                                    </p:set>
                                    <p:animEffect transition="in" filter="wipe(left)">
                                      <p:cBhvr>
                                        <p:cTn id="26" dur="500"/>
                                        <p:tgtEl>
                                          <p:spTgt spid="5123">
                                            <p:txEl>
                                              <p:pRg st="3" end="3"/>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123">
                                            <p:txEl>
                                              <p:pRg st="4" end="4"/>
                                            </p:txEl>
                                          </p:spTgt>
                                        </p:tgtEl>
                                        <p:attrNameLst>
                                          <p:attrName>style.visibility</p:attrName>
                                        </p:attrNameLst>
                                      </p:cBhvr>
                                      <p:to>
                                        <p:strVal val="visible"/>
                                      </p:to>
                                    </p:set>
                                    <p:animEffect transition="in" filter="wipe(left)">
                                      <p:cBhvr>
                                        <p:cTn id="29" dur="500"/>
                                        <p:tgtEl>
                                          <p:spTgt spid="512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123">
                                            <p:txEl>
                                              <p:pRg st="5" end="5"/>
                                            </p:txEl>
                                          </p:spTgt>
                                        </p:tgtEl>
                                        <p:attrNameLst>
                                          <p:attrName>style.visibility</p:attrName>
                                        </p:attrNameLst>
                                      </p:cBhvr>
                                      <p:to>
                                        <p:strVal val="visible"/>
                                      </p:to>
                                    </p:set>
                                    <p:animEffect transition="in" filter="wipe(left)">
                                      <p:cBhvr>
                                        <p:cTn id="34" dur="500"/>
                                        <p:tgtEl>
                                          <p:spTgt spid="5123">
                                            <p:txEl>
                                              <p:pRg st="5" end="5"/>
                                            </p:txEl>
                                          </p:spTgt>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5123">
                                            <p:txEl>
                                              <p:pRg st="6" end="6"/>
                                            </p:txEl>
                                          </p:spTgt>
                                        </p:tgtEl>
                                        <p:attrNameLst>
                                          <p:attrName>style.visibility</p:attrName>
                                        </p:attrNameLst>
                                      </p:cBhvr>
                                      <p:to>
                                        <p:strVal val="visible"/>
                                      </p:to>
                                    </p:set>
                                    <p:animEffect transition="in" filter="wipe(left)">
                                      <p:cBhvr>
                                        <p:cTn id="38" dur="500"/>
                                        <p:tgtEl>
                                          <p:spTgt spid="5123">
                                            <p:txEl>
                                              <p:pRg st="6" end="6"/>
                                            </p:txEl>
                                          </p:spTgt>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5123">
                                            <p:txEl>
                                              <p:pRg st="8" end="8"/>
                                            </p:txEl>
                                          </p:spTgt>
                                        </p:tgtEl>
                                        <p:attrNameLst>
                                          <p:attrName>style.visibility</p:attrName>
                                        </p:attrNameLst>
                                      </p:cBhvr>
                                      <p:to>
                                        <p:strVal val="visible"/>
                                      </p:to>
                                    </p:set>
                                    <p:animEffect transition="in" filter="wipe(left)">
                                      <p:cBhvr>
                                        <p:cTn id="42" dur="500"/>
                                        <p:tgtEl>
                                          <p:spTgt spid="51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nimBg="1"/>
      <p:bldP spid="5122" grpId="0" animBg="1" autoUpdateAnimBg="0"/>
      <p:bldP spid="5123" grpId="0" uiExpand="1"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19200"/>
            <a:ext cx="9144000" cy="5867400"/>
          </a:xfrm>
        </p:spPr>
        <p:txBody>
          <a:bodyPr tIns="0" bIns="0">
            <a:noAutofit/>
          </a:bodyPr>
          <a:lstStyle/>
          <a:p>
            <a:pPr>
              <a:lnSpc>
                <a:spcPct val="100000"/>
              </a:lnSpc>
            </a:pPr>
            <a:r>
              <a:rPr lang="en-US" sz="3000" dirty="0" smtClean="0">
                <a:effectLst/>
              </a:rPr>
              <a:t>Total listed market cap over $3 trillion </a:t>
            </a:r>
          </a:p>
          <a:p>
            <a:pPr lvl="1">
              <a:lnSpc>
                <a:spcPct val="100000"/>
              </a:lnSpc>
              <a:spcBef>
                <a:spcPts val="300"/>
              </a:spcBef>
            </a:pPr>
            <a:r>
              <a:rPr lang="en-US" dirty="0" smtClean="0">
                <a:effectLst/>
              </a:rPr>
              <a:t>largest stock exchange headquartered outside the US</a:t>
            </a:r>
          </a:p>
          <a:p>
            <a:pPr lvl="1">
              <a:spcBef>
                <a:spcPts val="300"/>
              </a:spcBef>
            </a:pPr>
            <a:r>
              <a:rPr lang="en-US" dirty="0" smtClean="0"/>
              <a:t>NYSE Euronext /TSE agreement: linked network access </a:t>
            </a:r>
            <a:endParaRPr lang="en-GB" dirty="0" smtClean="0"/>
          </a:p>
          <a:p>
            <a:pPr>
              <a:lnSpc>
                <a:spcPct val="100000"/>
              </a:lnSpc>
            </a:pPr>
            <a:r>
              <a:rPr lang="en-US" sz="3000" dirty="0" smtClean="0">
                <a:effectLst/>
              </a:rPr>
              <a:t>Electronic automated trading system </a:t>
            </a:r>
          </a:p>
          <a:p>
            <a:pPr lvl="1">
              <a:lnSpc>
                <a:spcPct val="100000"/>
              </a:lnSpc>
              <a:spcBef>
                <a:spcPts val="0"/>
              </a:spcBef>
            </a:pPr>
            <a:r>
              <a:rPr lang="en-US" sz="2600" dirty="0" smtClean="0">
                <a:effectLst/>
              </a:rPr>
              <a:t>two trading sessions: 0900–1100 and 1230–1500 </a:t>
            </a:r>
          </a:p>
          <a:p>
            <a:pPr lvl="1">
              <a:spcBef>
                <a:spcPts val="0"/>
              </a:spcBef>
            </a:pPr>
            <a:r>
              <a:rPr lang="en-US" sz="2600" dirty="0" smtClean="0"/>
              <a:t>Purely order-driven market. </a:t>
            </a:r>
          </a:p>
          <a:p>
            <a:pPr lvl="1">
              <a:spcBef>
                <a:spcPts val="0"/>
              </a:spcBef>
            </a:pPr>
            <a:r>
              <a:rPr lang="en-US" sz="2600" dirty="0" smtClean="0"/>
              <a:t>No “Upstairs Market” =&gt; no hidden orders</a:t>
            </a:r>
          </a:p>
          <a:p>
            <a:pPr lvl="1">
              <a:spcBef>
                <a:spcPts val="0"/>
              </a:spcBef>
            </a:pPr>
            <a:r>
              <a:rPr lang="en-US" sz="2400" dirty="0" smtClean="0"/>
              <a:t>Varying tick sizes and minimum trading </a:t>
            </a:r>
          </a:p>
          <a:p>
            <a:pPr>
              <a:lnSpc>
                <a:spcPct val="100000"/>
              </a:lnSpc>
            </a:pPr>
            <a:r>
              <a:rPr lang="en-US" sz="3000" dirty="0" smtClean="0">
                <a:effectLst/>
              </a:rPr>
              <a:t>Not Fragmented </a:t>
            </a:r>
            <a:r>
              <a:rPr lang="en-US" sz="3000" dirty="0">
                <a:effectLst/>
              </a:rPr>
              <a:t>(</a:t>
            </a:r>
            <a:r>
              <a:rPr lang="en-US" sz="3000" dirty="0" smtClean="0">
                <a:effectLst/>
              </a:rPr>
              <a:t>TSE has 91% of total volume)</a:t>
            </a:r>
          </a:p>
          <a:p>
            <a:pPr lvl="1"/>
            <a:r>
              <a:rPr lang="en-US" sz="2400" dirty="0" smtClean="0"/>
              <a:t>Ideal non-fragmented set-up to study pure effects</a:t>
            </a:r>
            <a:endParaRPr lang="en-US" sz="2600" dirty="0" smtClean="0">
              <a:effectLst/>
            </a:endParaRPr>
          </a:p>
          <a:p>
            <a:pPr>
              <a:lnSpc>
                <a:spcPct val="100000"/>
              </a:lnSpc>
              <a:spcBef>
                <a:spcPts val="0"/>
              </a:spcBef>
            </a:pPr>
            <a:r>
              <a:rPr lang="en-US" sz="3000" dirty="0">
                <a:effectLst/>
              </a:rPr>
              <a:t>Chan, Hamao </a:t>
            </a:r>
            <a:r>
              <a:rPr lang="en-US" sz="3000" dirty="0" smtClean="0">
                <a:effectLst/>
              </a:rPr>
              <a:t>&amp; Lakonishok</a:t>
            </a:r>
            <a:r>
              <a:rPr lang="en-US" sz="3000" dirty="0">
                <a:effectLst/>
              </a:rPr>
              <a:t>, 1991; </a:t>
            </a:r>
            <a:r>
              <a:rPr lang="en-US" sz="3000" dirty="0" smtClean="0">
                <a:effectLst/>
              </a:rPr>
              <a:t>Bremer</a:t>
            </a:r>
            <a:r>
              <a:rPr lang="en-US" sz="3000" dirty="0">
                <a:effectLst/>
              </a:rPr>
              <a:t>, Hiraki, </a:t>
            </a:r>
            <a:r>
              <a:rPr lang="en-US" sz="3000" dirty="0" smtClean="0">
                <a:effectLst/>
              </a:rPr>
              <a:t>&amp; Sweeney</a:t>
            </a:r>
            <a:r>
              <a:rPr lang="en-US" sz="3000" dirty="0">
                <a:effectLst/>
              </a:rPr>
              <a:t>, 1997; Ahn, </a:t>
            </a:r>
            <a:r>
              <a:rPr lang="en-US" sz="3000" dirty="0" smtClean="0">
                <a:effectLst/>
              </a:rPr>
              <a:t>Hamao, &amp; Ho</a:t>
            </a:r>
            <a:r>
              <a:rPr lang="en-US" sz="3000" dirty="0">
                <a:effectLst/>
              </a:rPr>
              <a:t>, </a:t>
            </a:r>
            <a:r>
              <a:rPr lang="en-US" sz="3000" dirty="0" smtClean="0">
                <a:effectLst/>
              </a:rPr>
              <a:t>2002</a:t>
            </a:r>
          </a:p>
          <a:p>
            <a:pPr>
              <a:lnSpc>
                <a:spcPct val="100000"/>
              </a:lnSpc>
            </a:pPr>
            <a:endParaRPr lang="en-US" sz="3000" dirty="0" smtClean="0">
              <a:effectLst/>
            </a:endParaRPr>
          </a:p>
        </p:txBody>
      </p:sp>
      <p:sp>
        <p:nvSpPr>
          <p:cNvPr id="9" name="Rectangle 4"/>
          <p:cNvSpPr>
            <a:spLocks noChangeArrowheads="1"/>
          </p:cNvSpPr>
          <p:nvPr/>
        </p:nvSpPr>
        <p:spPr bwMode="auto">
          <a:xfrm>
            <a:off x="304800" y="76200"/>
            <a:ext cx="8534400" cy="965200"/>
          </a:xfrm>
          <a:prstGeom prst="rect">
            <a:avLst/>
          </a:prstGeom>
          <a:gradFill rotWithShape="0">
            <a:gsLst>
              <a:gs pos="0">
                <a:srgbClr val="3399FF"/>
              </a:gs>
              <a:gs pos="100000">
                <a:srgbClr val="3399FF">
                  <a:gamma/>
                  <a:shade val="40000"/>
                  <a:invGamma/>
                </a:srgbClr>
              </a:gs>
            </a:gsLst>
            <a:lin ang="2700000" scaled="1"/>
          </a:gradFill>
          <a:ln w="9525">
            <a:noFill/>
            <a:miter lim="800000"/>
            <a:headEnd/>
            <a:tailEnd/>
          </a:ln>
          <a:effectLst/>
        </p:spPr>
        <p:txBody>
          <a:bodyPr wrap="none"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0" name="Rectangle 2"/>
          <p:cNvSpPr txBox="1">
            <a:spLocks noChangeArrowheads="1"/>
          </p:cNvSpPr>
          <p:nvPr/>
        </p:nvSpPr>
        <p:spPr bwMode="blackWhite">
          <a:xfrm>
            <a:off x="457200" y="152400"/>
            <a:ext cx="8156772" cy="750711"/>
          </a:xfrm>
          <a:prstGeom prst="rect">
            <a:avLst/>
          </a:prstGeom>
          <a:gradFill rotWithShape="0">
            <a:gsLst>
              <a:gs pos="0">
                <a:srgbClr val="3399FF">
                  <a:gamma/>
                  <a:shade val="50196"/>
                  <a:invGamma/>
                </a:srgbClr>
              </a:gs>
              <a:gs pos="100000">
                <a:srgbClr val="3399FF"/>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lvl1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2pPr>
            <a:lvl3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3pPr>
            <a:lvl4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4pPr>
            <a:lvl5pPr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5pPr>
            <a:lvl6pPr marL="4572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eaLnBrk="0" fontAlgn="base" hangingPunct="0">
              <a:lnSpc>
                <a:spcPct val="85000"/>
              </a:lnSpc>
              <a:spcBef>
                <a:spcPct val="10000"/>
              </a:spcBef>
              <a:spcAft>
                <a:spcPct val="0"/>
              </a:spcAft>
              <a:defRPr sz="4400" b="1">
                <a:solidFill>
                  <a:schemeClr val="tx2"/>
                </a:solidFill>
                <a:effectLst>
                  <a:outerShdw blurRad="38100" dist="38100" dir="2700000" algn="tl">
                    <a:srgbClr val="000000"/>
                  </a:outerShdw>
                </a:effectLst>
                <a:latin typeface="Arial" charset="0"/>
              </a:defRPr>
            </a:lvl9pPr>
          </a:lstStyle>
          <a:p>
            <a:pPr marL="0" marR="0" lvl="0" indent="0" algn="ctr" defTabSz="914400" rtl="0" eaLnBrk="0" fontAlgn="base" latinLnBrk="0" hangingPunct="0">
              <a:lnSpc>
                <a:spcPct val="85000"/>
              </a:lnSpc>
              <a:spcBef>
                <a:spcPct val="10000"/>
              </a:spcBef>
              <a:spcAft>
                <a:spcPct val="0"/>
              </a:spcAft>
              <a:buClrTx/>
              <a:buSzTx/>
              <a:buFontTx/>
              <a:buNone/>
              <a:tabLst/>
              <a:defRPr/>
            </a:pPr>
            <a:r>
              <a:rPr kumimoji="0" lang="en-US" sz="3600" b="1" i="0" u="none" strike="noStrike" kern="0" cap="none" spc="0" normalizeH="0" baseline="0" noProof="0" dirty="0" smtClean="0">
                <a:ln>
                  <a:noFill/>
                </a:ln>
                <a:solidFill>
                  <a:srgbClr val="FFFFFF"/>
                </a:solidFill>
                <a:effectLst>
                  <a:outerShdw blurRad="38100" dist="38100" dir="2700000" algn="tl">
                    <a:srgbClr val="000000"/>
                  </a:outerShdw>
                </a:effectLst>
                <a:uLnTx/>
                <a:uFillTx/>
                <a:latin typeface="Arial"/>
                <a:ea typeface="+mj-ea"/>
                <a:cs typeface="+mj-cs"/>
              </a:rPr>
              <a:t>Institutional Details</a:t>
            </a:r>
            <a:endParaRPr kumimoji="0" lang="en-GB" sz="3200" b="1" i="0" u="none" strike="noStrike" kern="0" cap="none" spc="0" normalizeH="0" baseline="0" noProof="0" dirty="0" smtClean="0">
              <a:ln>
                <a:noFill/>
              </a:ln>
              <a:solidFill>
                <a:srgbClr val="FFFFFF"/>
              </a:solidFill>
              <a:effectLst>
                <a:outerShdw blurRad="38100" dist="38100" dir="2700000" algn="tl">
                  <a:srgbClr val="000000"/>
                </a:outerShdw>
              </a:effectLst>
              <a:uLnTx/>
              <a:uFillTx/>
              <a:latin typeface="Arial"/>
              <a:ea typeface="+mj-ea"/>
              <a:cs typeface="+mj-cs"/>
            </a:endParaRPr>
          </a:p>
        </p:txBody>
      </p:sp>
    </p:spTree>
    <p:custDataLst>
      <p:tags r:id="rId1"/>
    </p:custDataLst>
    <p:extLst>
      <p:ext uri="{BB962C8B-B14F-4D97-AF65-F5344CB8AC3E}">
        <p14:creationId xmlns:p14="http://schemas.microsoft.com/office/powerpoint/2010/main" val="3124033801"/>
      </p:ext>
    </p:extLst>
  </p:cSld>
  <p:clrMapOvr>
    <a:masterClrMapping/>
  </p:clrMapOvr>
  <mc:AlternateContent xmlns:mc="http://schemas.openxmlformats.org/markup-compatibility/2006" xmlns:p14="http://schemas.microsoft.com/office/powerpoint/2010/main">
    <mc:Choice Requires="p14">
      <p:transition spd="slow" p14:dur="1600" advTm="82696">
        <p14:conveyor dir="l"/>
      </p:transition>
    </mc:Choice>
    <mc:Fallback xmlns="">
      <p:transition spd="slow" advTm="8269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out)">
                                      <p:cBhvr>
                                        <p:cTn id="7" dur="500"/>
                                        <p:tgtEl>
                                          <p:spTgt spid="9"/>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ox(in)">
                                      <p:cBhvr>
                                        <p:cTn id="11" dur="500"/>
                                        <p:tgtEl>
                                          <p:spTgt spid="10"/>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1000"/>
                                        <p:tgtEl>
                                          <p:spTgt spid="3">
                                            <p:txEl>
                                              <p:pRg st="3" end="3"/>
                                            </p:txEl>
                                          </p:spTgt>
                                        </p:tgtEl>
                                      </p:cBhvr>
                                    </p:animEffect>
                                    <p:anim calcmode="lin" valueType="num">
                                      <p:cBhvr>
                                        <p:cTn id="3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1000"/>
                                        <p:tgtEl>
                                          <p:spTgt spid="3">
                                            <p:txEl>
                                              <p:pRg st="4" end="4"/>
                                            </p:txEl>
                                          </p:spTgt>
                                        </p:tgtEl>
                                      </p:cBhvr>
                                    </p:animEffect>
                                    <p:anim calcmode="lin" valueType="num">
                                      <p:cBhvr>
                                        <p:cTn id="3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1000"/>
                                        <p:tgtEl>
                                          <p:spTgt spid="3">
                                            <p:txEl>
                                              <p:pRg st="8" end="8"/>
                                            </p:txEl>
                                          </p:spTgt>
                                        </p:tgtEl>
                                      </p:cBhvr>
                                    </p:animEffect>
                                    <p:anim calcmode="lin" valueType="num">
                                      <p:cBhvr>
                                        <p:cTn id="6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8" end="8"/>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fade">
                                      <p:cBhvr>
                                        <p:cTn id="64" dur="1000"/>
                                        <p:tgtEl>
                                          <p:spTgt spid="3">
                                            <p:txEl>
                                              <p:pRg st="9" end="9"/>
                                            </p:txEl>
                                          </p:spTgt>
                                        </p:tgtEl>
                                      </p:cBhvr>
                                    </p:animEffect>
                                    <p:anim calcmode="lin" valueType="num">
                                      <p:cBhvr>
                                        <p:cTn id="6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animEffect transition="in" filter="fade">
                                      <p:cBhvr>
                                        <p:cTn id="69" dur="1000"/>
                                        <p:tgtEl>
                                          <p:spTgt spid="3">
                                            <p:txEl>
                                              <p:pRg st="10" end="10"/>
                                            </p:txEl>
                                          </p:spTgt>
                                        </p:tgtEl>
                                      </p:cBhvr>
                                    </p:animEffect>
                                    <p:anim calcmode="lin" valueType="num">
                                      <p:cBhvr>
                                        <p:cTn id="7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0"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76200" y="1600200"/>
                <a:ext cx="9144000" cy="5867400"/>
              </a:xfrm>
            </p:spPr>
            <p:txBody>
              <a:bodyPr>
                <a:noAutofit/>
                <a:scene3d>
                  <a:camera prst="orthographicFront"/>
                  <a:lightRig rig="soft" dir="t">
                    <a:rot lat="0" lon="0" rev="10800000"/>
                  </a:lightRig>
                </a:scene3d>
                <a:sp3d>
                  <a:bevelT w="27940" h="12700"/>
                  <a:contourClr>
                    <a:srgbClr val="DDDDDD"/>
                  </a:contourClr>
                </a:sp3d>
              </a:bodyPr>
              <a:lstStyle/>
              <a:p>
                <a:pPr>
                  <a:lnSpc>
                    <a:spcPct val="100000"/>
                  </a:lnSpc>
                  <a:spcAft>
                    <a:spcPts val="600"/>
                  </a:spcAft>
                  <a:buFont typeface="Wingdings" pitchFamily="2" charset="2"/>
                  <a:buChar char="ü"/>
                </a:pPr>
                <a:r>
                  <a:rPr lang="en-US" sz="2800" dirty="0" smtClean="0">
                    <a:effectLst/>
                  </a:rPr>
                  <a:t>Does Arrowhead increase or decrease cost of immediacy?</a:t>
                </a:r>
              </a:p>
              <a:p>
                <a:pPr lvl="1">
                  <a:lnSpc>
                    <a:spcPct val="100000"/>
                  </a:lnSpc>
                  <a:spcAft>
                    <a:spcPts val="600"/>
                  </a:spcAft>
                  <a:buFont typeface="Wingdings" pitchFamily="2" charset="2"/>
                  <a:buChar char="ü"/>
                </a:pPr>
                <a:r>
                  <a:rPr lang="en-US" sz="2400" dirty="0" smtClean="0">
                    <a:solidFill>
                      <a:srgbClr val="C00000"/>
                    </a:solidFill>
                    <a:effectLst/>
                  </a:rPr>
                  <a:t>(Foucault</a:t>
                </a:r>
                <a:r>
                  <a:rPr lang="en-US" sz="2400" dirty="0">
                    <a:solidFill>
                      <a:srgbClr val="C00000"/>
                    </a:solidFill>
                    <a:effectLst/>
                  </a:rPr>
                  <a:t>, R</a:t>
                </a:r>
                <a14:m>
                  <m:oMath xmlns:m="http://schemas.openxmlformats.org/officeDocument/2006/math">
                    <m:acc>
                      <m:accPr>
                        <m:chr m:val="̈"/>
                        <m:ctrlPr>
                          <a:rPr lang="en-US" sz="2400" i="1">
                            <a:solidFill>
                              <a:srgbClr val="C00000"/>
                            </a:solidFill>
                            <a:effectLst/>
                            <a:latin typeface="Cambria Math"/>
                          </a:rPr>
                        </m:ctrlPr>
                      </m:accPr>
                      <m:e>
                        <m:r>
                          <a:rPr lang="en-US" sz="2400" i="1">
                            <a:solidFill>
                              <a:srgbClr val="C00000"/>
                            </a:solidFill>
                            <a:effectLst/>
                            <a:latin typeface="Cambria Math"/>
                          </a:rPr>
                          <m:t>𝑜</m:t>
                        </m:r>
                      </m:e>
                    </m:acc>
                  </m:oMath>
                </a14:m>
                <a:r>
                  <a:rPr lang="en-US" sz="2400" dirty="0">
                    <a:solidFill>
                      <a:srgbClr val="C00000"/>
                    </a:solidFill>
                    <a:effectLst/>
                  </a:rPr>
                  <a:t>ell, and San</a:t>
                </a:r>
                <a14:m>
                  <m:oMath xmlns:m="http://schemas.openxmlformats.org/officeDocument/2006/math">
                    <m:acc>
                      <m:accPr>
                        <m:chr m:val="̇"/>
                        <m:ctrlPr>
                          <a:rPr lang="en-US" sz="2400" i="1">
                            <a:solidFill>
                              <a:srgbClr val="C00000"/>
                            </a:solidFill>
                            <a:effectLst/>
                            <a:latin typeface="Cambria Math"/>
                          </a:rPr>
                        </m:ctrlPr>
                      </m:accPr>
                      <m:e>
                        <m:r>
                          <a:rPr lang="en-US" sz="2400" i="1">
                            <a:solidFill>
                              <a:srgbClr val="C00000"/>
                            </a:solidFill>
                            <a:effectLst/>
                            <a:latin typeface="Cambria Math"/>
                          </a:rPr>
                          <m:t>𝑑</m:t>
                        </m:r>
                      </m:e>
                    </m:acc>
                  </m:oMath>
                </a14:m>
                <a:r>
                  <a:rPr lang="en-US" sz="2400" dirty="0">
                    <a:solidFill>
                      <a:srgbClr val="C00000"/>
                    </a:solidFill>
                    <a:effectLst/>
                  </a:rPr>
                  <a:t>as, 2003) </a:t>
                </a:r>
                <a:r>
                  <a:rPr lang="en-US" sz="2400" dirty="0">
                    <a:effectLst/>
                  </a:rPr>
                  <a:t>Vs. (</a:t>
                </a:r>
                <a:r>
                  <a:rPr lang="sv-SE" sz="2400" dirty="0">
                    <a:solidFill>
                      <a:srgbClr val="00823B"/>
                    </a:solidFill>
                    <a:effectLst/>
                  </a:rPr>
                  <a:t>Rosu, 2009; </a:t>
                </a:r>
                <a:r>
                  <a:rPr lang="en-US" sz="2400" dirty="0" err="1">
                    <a:solidFill>
                      <a:srgbClr val="00823B"/>
                    </a:solidFill>
                    <a:effectLst/>
                  </a:rPr>
                  <a:t>Boehmer</a:t>
                </a:r>
                <a:r>
                  <a:rPr lang="en-US" sz="2400" dirty="0">
                    <a:solidFill>
                      <a:srgbClr val="00823B"/>
                    </a:solidFill>
                    <a:effectLst/>
                  </a:rPr>
                  <a:t>, Saar and Yu, 2005</a:t>
                </a:r>
                <a:r>
                  <a:rPr lang="sv-SE" sz="2400" dirty="0">
                    <a:effectLst/>
                  </a:rPr>
                  <a:t>)</a:t>
                </a:r>
                <a:endParaRPr lang="en-US" sz="2400" dirty="0">
                  <a:effectLst/>
                </a:endParaRPr>
              </a:p>
              <a:p>
                <a:pPr lvl="1">
                  <a:lnSpc>
                    <a:spcPct val="100000"/>
                  </a:lnSpc>
                  <a:spcAft>
                    <a:spcPts val="600"/>
                  </a:spcAft>
                  <a:buFont typeface="Wingdings" pitchFamily="2" charset="2"/>
                  <a:buChar char="ü"/>
                </a:pPr>
                <a:r>
                  <a:rPr lang="en-US" sz="2400" dirty="0">
                    <a:effectLst/>
                  </a:rPr>
                  <a:t>R</a:t>
                </a:r>
                <a:r>
                  <a:rPr lang="en-US" sz="2400" dirty="0" smtClean="0">
                    <a:effectLst/>
                  </a:rPr>
                  <a:t>1</a:t>
                </a:r>
                <a:r>
                  <a:rPr lang="en-US" sz="2400" dirty="0">
                    <a:effectLst/>
                  </a:rPr>
                  <a:t>: Arrowhead decreases COI</a:t>
                </a:r>
              </a:p>
              <a:p>
                <a:pPr>
                  <a:lnSpc>
                    <a:spcPct val="100000"/>
                  </a:lnSpc>
                  <a:spcAft>
                    <a:spcPts val="600"/>
                  </a:spcAft>
                  <a:buFont typeface="Wingdings" pitchFamily="2" charset="2"/>
                  <a:buChar char="ü"/>
                </a:pPr>
                <a:r>
                  <a:rPr lang="en-US" sz="2800" dirty="0" smtClean="0">
                    <a:effectLst/>
                  </a:rPr>
                  <a:t>Does Arrowhead increase or reduce volatility?</a:t>
                </a:r>
                <a:endParaRPr lang="en-US" sz="2800" dirty="0">
                  <a:effectLst/>
                </a:endParaRPr>
              </a:p>
              <a:p>
                <a:pPr lvl="1">
                  <a:lnSpc>
                    <a:spcPct val="100000"/>
                  </a:lnSpc>
                  <a:spcAft>
                    <a:spcPts val="600"/>
                  </a:spcAft>
                  <a:buFont typeface="Wingdings" pitchFamily="2" charset="2"/>
                  <a:buChar char="ü"/>
                </a:pPr>
                <a:r>
                  <a:rPr lang="en-US" sz="2400" dirty="0">
                    <a:effectLst/>
                  </a:rPr>
                  <a:t>(</a:t>
                </a:r>
                <a:r>
                  <a:rPr lang="en-US" sz="2400" dirty="0" err="1">
                    <a:solidFill>
                      <a:srgbClr val="C00000"/>
                    </a:solidFill>
                    <a:effectLst/>
                  </a:rPr>
                  <a:t>Hendershott</a:t>
                </a:r>
                <a:r>
                  <a:rPr lang="en-US" sz="2400" dirty="0">
                    <a:solidFill>
                      <a:srgbClr val="C00000"/>
                    </a:solidFill>
                    <a:effectLst/>
                  </a:rPr>
                  <a:t>, Jones, and </a:t>
                </a:r>
                <a:r>
                  <a:rPr lang="en-US" sz="2400" dirty="0" err="1">
                    <a:solidFill>
                      <a:srgbClr val="C00000"/>
                    </a:solidFill>
                    <a:effectLst/>
                  </a:rPr>
                  <a:t>Menkveld</a:t>
                </a:r>
                <a:r>
                  <a:rPr lang="en-US" sz="2400" dirty="0">
                    <a:solidFill>
                      <a:srgbClr val="C00000"/>
                    </a:solidFill>
                    <a:effectLst/>
                  </a:rPr>
                  <a:t>, 2011; </a:t>
                </a:r>
                <a:r>
                  <a:rPr lang="en-US" sz="2400" dirty="0" err="1">
                    <a:solidFill>
                      <a:srgbClr val="C00000"/>
                    </a:solidFill>
                    <a:effectLst/>
                  </a:rPr>
                  <a:t>Hendershott</a:t>
                </a:r>
                <a:r>
                  <a:rPr lang="en-US" sz="2400" dirty="0">
                    <a:solidFill>
                      <a:srgbClr val="C00000"/>
                    </a:solidFill>
                    <a:effectLst/>
                  </a:rPr>
                  <a:t> and Moulton, 2011</a:t>
                </a:r>
                <a:r>
                  <a:rPr lang="en-US" sz="2400" dirty="0">
                    <a:effectLst/>
                  </a:rPr>
                  <a:t>) Vs. (</a:t>
                </a:r>
                <a:r>
                  <a:rPr lang="en-US" sz="2400" dirty="0" err="1">
                    <a:solidFill>
                      <a:srgbClr val="00823B"/>
                    </a:solidFill>
                    <a:effectLst/>
                  </a:rPr>
                  <a:t>Brogaard</a:t>
                </a:r>
                <a:r>
                  <a:rPr lang="en-US" sz="2400" dirty="0">
                    <a:solidFill>
                      <a:srgbClr val="00823B"/>
                    </a:solidFill>
                    <a:effectLst/>
                  </a:rPr>
                  <a:t>, 2010; Hasbrouck and Saar, </a:t>
                </a:r>
                <a:r>
                  <a:rPr lang="en-US" sz="2400" dirty="0" smtClean="0">
                    <a:solidFill>
                      <a:srgbClr val="00823B"/>
                    </a:solidFill>
                    <a:effectLst/>
                  </a:rPr>
                  <a:t>2012</a:t>
                </a:r>
                <a:r>
                  <a:rPr lang="en-US" sz="2400" dirty="0" smtClean="0">
                    <a:effectLst/>
                  </a:rPr>
                  <a:t>)</a:t>
                </a:r>
                <a:endParaRPr lang="en-US" sz="2400" dirty="0">
                  <a:effectLst/>
                </a:endParaRPr>
              </a:p>
              <a:p>
                <a:pPr lvl="1">
                  <a:lnSpc>
                    <a:spcPct val="100000"/>
                  </a:lnSpc>
                  <a:spcAft>
                    <a:spcPts val="600"/>
                  </a:spcAft>
                  <a:buFont typeface="Wingdings" pitchFamily="2" charset="2"/>
                  <a:buChar char="ü"/>
                </a:pPr>
                <a:r>
                  <a:rPr lang="en-US" sz="2400" dirty="0">
                    <a:effectLst/>
                  </a:rPr>
                  <a:t>R</a:t>
                </a:r>
                <a:r>
                  <a:rPr lang="en-US" sz="2400" dirty="0" smtClean="0">
                    <a:effectLst/>
                  </a:rPr>
                  <a:t>2</a:t>
                </a:r>
                <a:r>
                  <a:rPr lang="en-US" sz="2400" dirty="0">
                    <a:effectLst/>
                  </a:rPr>
                  <a:t>: Arrowhead decreases volatility</a:t>
                </a:r>
              </a:p>
              <a:p>
                <a:pPr lvl="1">
                  <a:lnSpc>
                    <a:spcPct val="100000"/>
                  </a:lnSpc>
                  <a:spcAft>
                    <a:spcPts val="600"/>
                  </a:spcAft>
                  <a:buFont typeface="Wingdings" pitchFamily="2" charset="2"/>
                  <a:buChar char="ü"/>
                </a:pPr>
                <a:endParaRPr lang="en-US" dirty="0">
                  <a:effectLst/>
                </a:endParaRPr>
              </a:p>
              <a:p>
                <a:pPr marL="457200" lvl="1" indent="0">
                  <a:lnSpc>
                    <a:spcPct val="100000"/>
                  </a:lnSpc>
                  <a:spcAft>
                    <a:spcPts val="600"/>
                  </a:spcAft>
                  <a:buNone/>
                </a:pPr>
                <a:endParaRPr lang="en-US" dirty="0">
                  <a:effectLst/>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76200" y="1600200"/>
                <a:ext cx="9144000" cy="5867400"/>
              </a:xfrm>
              <a:blipFill rotWithShape="1">
                <a:blip r:embed="rId4" cstate="print"/>
                <a:stretch>
                  <a:fillRect/>
                </a:stretch>
              </a:blipFill>
            </p:spPr>
            <p:txBody>
              <a:bodyPr/>
              <a:lstStyle/>
              <a:p>
                <a:r>
                  <a:rPr lang="en-US">
                    <a:noFill/>
                  </a:rPr>
                  <a:t> </a:t>
                </a:r>
              </a:p>
            </p:txBody>
          </p:sp>
        </mc:Fallback>
      </mc:AlternateContent>
      <p:sp>
        <p:nvSpPr>
          <p:cNvPr id="4" name="Rectangle 4"/>
          <p:cNvSpPr>
            <a:spLocks noChangeArrowheads="1"/>
          </p:cNvSpPr>
          <p:nvPr/>
        </p:nvSpPr>
        <p:spPr bwMode="auto">
          <a:xfrm>
            <a:off x="3048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6" name="Rectangle 2"/>
          <p:cNvSpPr txBox="1">
            <a:spLocks noChangeArrowheads="1"/>
          </p:cNvSpPr>
          <p:nvPr/>
        </p:nvSpPr>
        <p:spPr bwMode="blackWhite">
          <a:xfrm>
            <a:off x="4572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lgn="ctr" eaLnBrk="0" fontAlgn="base" hangingPunct="0">
              <a:lnSpc>
                <a:spcPct val="85000"/>
              </a:lnSpc>
              <a:spcBef>
                <a:spcPct val="10000"/>
              </a:spcBef>
              <a:spcAft>
                <a:spcPct val="0"/>
              </a:spcAft>
              <a:defRPr/>
            </a:pPr>
            <a:r>
              <a:rPr lang="en-US" sz="3200" b="1" kern="0" dirty="0" smtClean="0">
                <a:solidFill>
                  <a:schemeClr val="bg1"/>
                </a:solidFill>
                <a:effectLst>
                  <a:outerShdw blurRad="38100" dist="38100" dir="2700000" algn="tl">
                    <a:srgbClr val="000000">
                      <a:alpha val="43137"/>
                    </a:srgbClr>
                  </a:outerShdw>
                </a:effectLst>
                <a:latin typeface="+mj-lt"/>
                <a:ea typeface="+mj-ea"/>
                <a:cs typeface="+mj-cs"/>
              </a:rPr>
              <a:t>Low Latency Trading </a:t>
            </a:r>
            <a:r>
              <a:rPr lang="en-US" sz="3200" b="1" kern="0" dirty="0">
                <a:solidFill>
                  <a:schemeClr val="bg1"/>
                </a:solidFill>
                <a:effectLst>
                  <a:outerShdw blurRad="38100" dist="38100" dir="2700000" algn="tl">
                    <a:srgbClr val="000000">
                      <a:alpha val="43137"/>
                    </a:srgbClr>
                  </a:outerShdw>
                </a:effectLst>
                <a:latin typeface="+mj-lt"/>
                <a:ea typeface="+mj-ea"/>
                <a:cs typeface="+mj-cs"/>
              </a:rPr>
              <a:t>and Market Quality</a:t>
            </a:r>
            <a:endParaRPr kumimoji="0" lang="en-GB" sz="3200" b="1" i="0" u="none" strike="noStrike" kern="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j-ea"/>
              <a:cs typeface="+mj-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2126"/>
    </mc:Choice>
    <mc:Fallback xmlns="">
      <p:transition advTm="21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wipe(left)">
                                      <p:cBhvr>
                                        <p:cTn id="7" dur="500"/>
                                        <p:tgtEl>
                                          <p:spTgt spid="5">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wipe(left)">
                                      <p:cBhvr>
                                        <p:cTn id="10" dur="500"/>
                                        <p:tgtEl>
                                          <p:spTgt spid="5">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Effect transition="in" filter="wipe(left)">
                                      <p:cBhvr>
                                        <p:cTn id="13"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 y="1447800"/>
            <a:ext cx="9372600" cy="6096000"/>
          </a:xfrm>
        </p:spPr>
        <p:txBody>
          <a:bodyPr>
            <a:noAutofit/>
            <a:scene3d>
              <a:camera prst="orthographicFront"/>
              <a:lightRig rig="soft" dir="t">
                <a:rot lat="0" lon="0" rev="10800000"/>
              </a:lightRig>
            </a:scene3d>
            <a:sp3d>
              <a:bevelT w="27940" h="12700"/>
              <a:contourClr>
                <a:srgbClr val="DDDDDD"/>
              </a:contourClr>
            </a:sp3d>
          </a:bodyPr>
          <a:lstStyle/>
          <a:p>
            <a:pPr>
              <a:lnSpc>
                <a:spcPct val="100000"/>
              </a:lnSpc>
              <a:spcAft>
                <a:spcPts val="600"/>
              </a:spcAft>
              <a:buFont typeface="Wingdings" pitchFamily="2" charset="2"/>
              <a:buChar char="ü"/>
            </a:pPr>
            <a:r>
              <a:rPr lang="en-US" dirty="0" smtClean="0">
                <a:effectLst/>
              </a:rPr>
              <a:t>Systemic risks</a:t>
            </a:r>
          </a:p>
          <a:p>
            <a:pPr lvl="1">
              <a:lnSpc>
                <a:spcPct val="100000"/>
              </a:lnSpc>
              <a:spcAft>
                <a:spcPts val="600"/>
              </a:spcAft>
              <a:buFont typeface="Wingdings" pitchFamily="2" charset="2"/>
              <a:buChar char="ü"/>
            </a:pPr>
            <a:r>
              <a:rPr lang="en-US" dirty="0" err="1" smtClean="0">
                <a:effectLst/>
              </a:rPr>
              <a:t>CoVaR</a:t>
            </a:r>
            <a:r>
              <a:rPr lang="en-US" dirty="0">
                <a:effectLst/>
              </a:rPr>
              <a:t> (Adrian </a:t>
            </a:r>
            <a:r>
              <a:rPr lang="en-US" dirty="0" smtClean="0">
                <a:effectLst/>
              </a:rPr>
              <a:t>&amp; </a:t>
            </a:r>
            <a:r>
              <a:rPr lang="en-US" dirty="0" err="1" smtClean="0">
                <a:effectLst/>
              </a:rPr>
              <a:t>Brunnermeier</a:t>
            </a:r>
            <a:r>
              <a:rPr lang="en-US" dirty="0">
                <a:effectLst/>
              </a:rPr>
              <a:t>, 2011</a:t>
            </a:r>
            <a:r>
              <a:rPr lang="en-US" dirty="0" smtClean="0">
                <a:effectLst/>
              </a:rPr>
              <a:t>); </a:t>
            </a:r>
            <a:r>
              <a:rPr lang="en-US" dirty="0" err="1" smtClean="0">
                <a:effectLst/>
              </a:rPr>
              <a:t>CoVaQ</a:t>
            </a:r>
            <a:endParaRPr lang="en-US" dirty="0" smtClean="0">
              <a:effectLst/>
            </a:endParaRPr>
          </a:p>
          <a:p>
            <a:pPr>
              <a:lnSpc>
                <a:spcPct val="100000"/>
              </a:lnSpc>
              <a:spcAft>
                <a:spcPts val="600"/>
              </a:spcAft>
              <a:buFont typeface="Wingdings" pitchFamily="2" charset="2"/>
              <a:buChar char="ü"/>
            </a:pPr>
            <a:r>
              <a:rPr lang="en-US" dirty="0" smtClean="0">
                <a:effectLst/>
              </a:rPr>
              <a:t>Shock Propagation risks</a:t>
            </a:r>
          </a:p>
          <a:p>
            <a:pPr lvl="1">
              <a:lnSpc>
                <a:spcPct val="100000"/>
              </a:lnSpc>
              <a:spcAft>
                <a:spcPts val="600"/>
              </a:spcAft>
              <a:buFont typeface="Wingdings" pitchFamily="2" charset="2"/>
              <a:buChar char="ü"/>
            </a:pPr>
            <a:r>
              <a:rPr lang="en-US" dirty="0" smtClean="0">
                <a:effectLst/>
              </a:rPr>
              <a:t>Autocorrelation:</a:t>
            </a:r>
            <a:endParaRPr lang="en-US" dirty="0">
              <a:effectLst/>
            </a:endParaRPr>
          </a:p>
          <a:p>
            <a:pPr lvl="2">
              <a:lnSpc>
                <a:spcPct val="100000"/>
              </a:lnSpc>
              <a:spcAft>
                <a:spcPts val="600"/>
              </a:spcAft>
              <a:buFont typeface="Wingdings" pitchFamily="2" charset="2"/>
              <a:buChar char="ü"/>
            </a:pPr>
            <a:r>
              <a:rPr lang="en-US" dirty="0" err="1">
                <a:solidFill>
                  <a:srgbClr val="C00000"/>
                </a:solidFill>
                <a:effectLst/>
              </a:rPr>
              <a:t>Parlour</a:t>
            </a:r>
            <a:r>
              <a:rPr lang="en-US" dirty="0">
                <a:solidFill>
                  <a:srgbClr val="C00000"/>
                </a:solidFill>
                <a:effectLst/>
              </a:rPr>
              <a:t> (1998) </a:t>
            </a:r>
            <a:r>
              <a:rPr lang="en-US" dirty="0">
                <a:effectLst/>
              </a:rPr>
              <a:t>Vs. </a:t>
            </a:r>
            <a:r>
              <a:rPr lang="en-US" dirty="0" err="1">
                <a:solidFill>
                  <a:srgbClr val="00823B"/>
                </a:solidFill>
                <a:effectLst/>
              </a:rPr>
              <a:t>Biais</a:t>
            </a:r>
            <a:r>
              <a:rPr lang="en-US" dirty="0">
                <a:solidFill>
                  <a:srgbClr val="00823B"/>
                </a:solidFill>
                <a:effectLst/>
              </a:rPr>
              <a:t>, </a:t>
            </a:r>
            <a:r>
              <a:rPr lang="en-US" dirty="0" err="1">
                <a:solidFill>
                  <a:srgbClr val="00823B"/>
                </a:solidFill>
                <a:effectLst/>
              </a:rPr>
              <a:t>Hillion</a:t>
            </a:r>
            <a:r>
              <a:rPr lang="en-US" dirty="0">
                <a:solidFill>
                  <a:srgbClr val="00823B"/>
                </a:solidFill>
                <a:effectLst/>
              </a:rPr>
              <a:t>, and </a:t>
            </a:r>
            <a:r>
              <a:rPr lang="en-US" dirty="0" err="1">
                <a:solidFill>
                  <a:srgbClr val="00823B"/>
                </a:solidFill>
                <a:effectLst/>
              </a:rPr>
              <a:t>Spatt</a:t>
            </a:r>
            <a:r>
              <a:rPr lang="en-US" dirty="0">
                <a:solidFill>
                  <a:srgbClr val="00823B"/>
                </a:solidFill>
                <a:effectLst/>
              </a:rPr>
              <a:t> (1995)</a:t>
            </a:r>
          </a:p>
          <a:p>
            <a:pPr lvl="1">
              <a:lnSpc>
                <a:spcPct val="100000"/>
              </a:lnSpc>
              <a:spcAft>
                <a:spcPts val="600"/>
              </a:spcAft>
              <a:buFont typeface="Wingdings" pitchFamily="2" charset="2"/>
              <a:buChar char="ü"/>
            </a:pPr>
            <a:r>
              <a:rPr lang="en-US" dirty="0" smtClean="0">
                <a:effectLst/>
              </a:rPr>
              <a:t>Cross correlation:</a:t>
            </a:r>
          </a:p>
          <a:p>
            <a:pPr lvl="2">
              <a:lnSpc>
                <a:spcPct val="100000"/>
              </a:lnSpc>
              <a:spcAft>
                <a:spcPts val="600"/>
              </a:spcAft>
              <a:buFont typeface="Wingdings" pitchFamily="2" charset="2"/>
              <a:buChar char="ü"/>
            </a:pPr>
            <a:r>
              <a:rPr lang="en-US" dirty="0" smtClean="0">
                <a:solidFill>
                  <a:srgbClr val="C00000"/>
                </a:solidFill>
                <a:effectLst/>
              </a:rPr>
              <a:t>Barker (2006) </a:t>
            </a:r>
            <a:r>
              <a:rPr lang="en-US" dirty="0">
                <a:effectLst/>
              </a:rPr>
              <a:t>Vs. </a:t>
            </a:r>
            <a:r>
              <a:rPr lang="en-US" dirty="0" err="1" smtClean="0">
                <a:solidFill>
                  <a:srgbClr val="00823B"/>
                </a:solidFill>
                <a:effectLst/>
              </a:rPr>
              <a:t>Chordia</a:t>
            </a:r>
            <a:r>
              <a:rPr lang="en-US" dirty="0" smtClean="0">
                <a:solidFill>
                  <a:srgbClr val="00823B"/>
                </a:solidFill>
                <a:effectLst/>
              </a:rPr>
              <a:t>, Roll, &amp; </a:t>
            </a:r>
            <a:r>
              <a:rPr lang="en-US" dirty="0" err="1" smtClean="0">
                <a:solidFill>
                  <a:srgbClr val="00823B"/>
                </a:solidFill>
                <a:effectLst/>
              </a:rPr>
              <a:t>Subhramanyam</a:t>
            </a:r>
            <a:r>
              <a:rPr lang="en-US" dirty="0" smtClean="0">
                <a:solidFill>
                  <a:srgbClr val="00823B"/>
                </a:solidFill>
                <a:effectLst/>
              </a:rPr>
              <a:t> (2000)</a:t>
            </a:r>
          </a:p>
          <a:p>
            <a:pPr>
              <a:lnSpc>
                <a:spcPct val="100000"/>
              </a:lnSpc>
              <a:spcAft>
                <a:spcPts val="600"/>
              </a:spcAft>
              <a:buFont typeface="Wingdings" pitchFamily="2" charset="2"/>
              <a:buChar char="ü"/>
            </a:pPr>
            <a:r>
              <a:rPr lang="en-US" sz="2800" dirty="0" smtClean="0">
                <a:effectLst/>
              </a:rPr>
              <a:t>Quote stuffing risks: Quotes-to-trades Ratio</a:t>
            </a:r>
            <a:endParaRPr lang="en-US" sz="2800" dirty="0">
              <a:effectLst/>
            </a:endParaRPr>
          </a:p>
          <a:p>
            <a:pPr lvl="2">
              <a:lnSpc>
                <a:spcPct val="100000"/>
              </a:lnSpc>
              <a:spcAft>
                <a:spcPts val="600"/>
              </a:spcAft>
              <a:buFont typeface="Wingdings" pitchFamily="2" charset="2"/>
              <a:buChar char="ü"/>
            </a:pPr>
            <a:r>
              <a:rPr lang="en-US" dirty="0">
                <a:effectLst/>
              </a:rPr>
              <a:t>runs in process (Hasbrouck and Saar, </a:t>
            </a:r>
            <a:r>
              <a:rPr lang="en-US" dirty="0" smtClean="0">
                <a:effectLst/>
              </a:rPr>
              <a:t>2013), </a:t>
            </a:r>
            <a:r>
              <a:rPr lang="en-US" dirty="0">
                <a:effectLst/>
              </a:rPr>
              <a:t>Message traffic (</a:t>
            </a:r>
            <a:r>
              <a:rPr lang="en-US" dirty="0" err="1">
                <a:effectLst/>
              </a:rPr>
              <a:t>Hendershott</a:t>
            </a:r>
            <a:r>
              <a:rPr lang="en-US" dirty="0">
                <a:effectLst/>
              </a:rPr>
              <a:t>, Jones, and </a:t>
            </a:r>
            <a:r>
              <a:rPr lang="en-US" dirty="0" err="1">
                <a:effectLst/>
              </a:rPr>
              <a:t>Menkveld</a:t>
            </a:r>
            <a:r>
              <a:rPr lang="en-US" dirty="0">
                <a:effectLst/>
              </a:rPr>
              <a:t>, 2011) </a:t>
            </a:r>
          </a:p>
          <a:p>
            <a:pPr lvl="1">
              <a:lnSpc>
                <a:spcPct val="100000"/>
              </a:lnSpc>
              <a:spcAft>
                <a:spcPts val="600"/>
              </a:spcAft>
              <a:buFont typeface="Wingdings" pitchFamily="2" charset="2"/>
              <a:buChar char="ü"/>
            </a:pPr>
            <a:endParaRPr lang="en-US" dirty="0">
              <a:effectLst/>
            </a:endParaRPr>
          </a:p>
          <a:p>
            <a:pPr marL="457200" lvl="1" indent="0">
              <a:lnSpc>
                <a:spcPct val="100000"/>
              </a:lnSpc>
              <a:spcAft>
                <a:spcPts val="600"/>
              </a:spcAft>
              <a:buNone/>
            </a:pPr>
            <a:endParaRPr lang="en-US" dirty="0">
              <a:effectLst/>
            </a:endParaRPr>
          </a:p>
        </p:txBody>
      </p:sp>
      <p:sp>
        <p:nvSpPr>
          <p:cNvPr id="4" name="Rectangle 4"/>
          <p:cNvSpPr>
            <a:spLocks noChangeArrowheads="1"/>
          </p:cNvSpPr>
          <p:nvPr/>
        </p:nvSpPr>
        <p:spPr bwMode="auto">
          <a:xfrm>
            <a:off x="3048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6" name="Rectangle 2"/>
          <p:cNvSpPr txBox="1">
            <a:spLocks noChangeArrowheads="1"/>
          </p:cNvSpPr>
          <p:nvPr/>
        </p:nvSpPr>
        <p:spPr bwMode="blackWhite">
          <a:xfrm>
            <a:off x="4572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lgn="ctr" eaLnBrk="0" fontAlgn="base" hangingPunct="0">
              <a:lnSpc>
                <a:spcPct val="85000"/>
              </a:lnSpc>
              <a:spcBef>
                <a:spcPct val="10000"/>
              </a:spcBef>
              <a:spcAft>
                <a:spcPct val="0"/>
              </a:spcAft>
              <a:defRPr/>
            </a:pPr>
            <a:r>
              <a:rPr lang="en-US" sz="3200" b="1" kern="0" dirty="0" smtClean="0">
                <a:solidFill>
                  <a:schemeClr val="bg1"/>
                </a:solidFill>
                <a:effectLst>
                  <a:outerShdw blurRad="38100" dist="38100" dir="2700000" algn="tl">
                    <a:srgbClr val="000000">
                      <a:alpha val="43137"/>
                    </a:srgbClr>
                  </a:outerShdw>
                </a:effectLst>
                <a:latin typeface="+mj-lt"/>
                <a:ea typeface="+mj-ea"/>
                <a:cs typeface="+mj-cs"/>
              </a:rPr>
              <a:t>HFT and Microstructure Risk </a:t>
            </a:r>
            <a:endParaRPr kumimoji="0" lang="en-GB" sz="3200" b="1" i="0" u="none" strike="noStrike" kern="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j-ea"/>
              <a:cs typeface="+mj-cs"/>
            </a:endParaRPr>
          </a:p>
        </p:txBody>
      </p:sp>
    </p:spTree>
    <p:custDataLst>
      <p:tags r:id="rId1"/>
    </p:custDataLst>
    <p:extLst>
      <p:ext uri="{BB962C8B-B14F-4D97-AF65-F5344CB8AC3E}">
        <p14:creationId xmlns:p14="http://schemas.microsoft.com/office/powerpoint/2010/main" val="1377966088"/>
      </p:ext>
    </p:extLst>
  </p:cSld>
  <p:clrMapOvr>
    <a:masterClrMapping/>
  </p:clrMapOvr>
  <mc:AlternateContent xmlns:mc="http://schemas.openxmlformats.org/markup-compatibility/2006" xmlns:p14="http://schemas.microsoft.com/office/powerpoint/2010/main">
    <mc:Choice Requires="p14">
      <p:transition p14:dur="10" advTm="2126"/>
    </mc:Choice>
    <mc:Fallback xmlns="">
      <p:transition advTm="21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wipe(left)">
                                      <p:cBhvr>
                                        <p:cTn id="7" dur="500"/>
                                        <p:tgtEl>
                                          <p:spTgt spid="5">
                                            <p:txEl>
                                              <p:pRg st="3" end="3"/>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left)">
                                      <p:cBhvr>
                                        <p:cTn id="11" dur="500"/>
                                        <p:tgtEl>
                                          <p:spTgt spid="5">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left)">
                                      <p:cBhvr>
                                        <p:cTn id="15" dur="500"/>
                                        <p:tgtEl>
                                          <p:spTgt spid="5">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wipe(left)">
                                      <p:cBhvr>
                                        <p:cTn id="19" dur="500"/>
                                        <p:tgtEl>
                                          <p:spTgt spid="5">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wipe(left)">
                                      <p:cBhvr>
                                        <p:cTn id="23" dur="500"/>
                                        <p:tgtEl>
                                          <p:spTgt spid="5">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left)">
                                      <p:cBhvr>
                                        <p:cTn id="27" dur="500"/>
                                        <p:tgtEl>
                                          <p:spTgt spid="5">
                                            <p:txEl>
                                              <p:pRg st="5" end="5"/>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wipe(left)">
                                      <p:cBhvr>
                                        <p:cTn id="31" dur="500"/>
                                        <p:tgtEl>
                                          <p:spTgt spid="5">
                                            <p:txEl>
                                              <p:pRg st="6" end="6"/>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wipe(left)">
                                      <p:cBhvr>
                                        <p:cTn id="35" dur="500"/>
                                        <p:tgtEl>
                                          <p:spTgt spid="5">
                                            <p:txEl>
                                              <p:pRg st="7" end="7"/>
                                            </p:txEl>
                                          </p:spTgt>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Effect transition="in" filter="wipe(left)">
                                      <p:cBhvr>
                                        <p:cTn id="39"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4" name="Rectangle 4"/>
          <p:cNvSpPr>
            <a:spLocks noChangeArrowheads="1"/>
          </p:cNvSpPr>
          <p:nvPr/>
        </p:nvSpPr>
        <p:spPr bwMode="auto">
          <a:xfrm>
            <a:off x="304800" y="76200"/>
            <a:ext cx="8610600" cy="12192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5122" name="Rectangle 2"/>
          <p:cNvSpPr>
            <a:spLocks noGrp="1" noChangeArrowheads="1"/>
          </p:cNvSpPr>
          <p:nvPr>
            <p:ph type="ctrTitle"/>
          </p:nvPr>
        </p:nvSpPr>
        <p:spPr bwMode="blackWhite">
          <a:xfrm>
            <a:off x="457200" y="152400"/>
            <a:ext cx="8229600" cy="1066800"/>
          </a:xfrm>
          <a:gradFill rotWithShape="0">
            <a:gsLst>
              <a:gs pos="0">
                <a:schemeClr val="accent1">
                  <a:gamma/>
                  <a:shade val="50196"/>
                  <a:invGamma/>
                </a:schemeClr>
              </a:gs>
              <a:gs pos="100000">
                <a:schemeClr val="accent1"/>
              </a:gs>
            </a:gsLst>
            <a:lin ang="2700000" scaled="1"/>
          </a:gradFill>
        </p:spPr>
        <p:txBody>
          <a:bodyPr anchor="ctr"/>
          <a:lstStyle/>
          <a:p>
            <a:r>
              <a:rPr lang="en-US" sz="3600" dirty="0" smtClean="0">
                <a:solidFill>
                  <a:schemeClr val="bg1"/>
                </a:solidFill>
              </a:rPr>
              <a:t>Low Latency and Evolution </a:t>
            </a:r>
            <a:r>
              <a:rPr lang="en-US" sz="3600" dirty="0">
                <a:solidFill>
                  <a:schemeClr val="bg1"/>
                </a:solidFill>
              </a:rPr>
              <a:t>of </a:t>
            </a:r>
            <a:r>
              <a:rPr lang="en-US" sz="3600" dirty="0" smtClean="0">
                <a:solidFill>
                  <a:schemeClr val="bg1"/>
                </a:solidFill>
              </a:rPr>
              <a:t>LOB</a:t>
            </a:r>
            <a:endParaRPr lang="en-GB" sz="3600" dirty="0">
              <a:solidFill>
                <a:schemeClr val="bg1"/>
              </a:solidFill>
            </a:endParaRPr>
          </a:p>
        </p:txBody>
      </p:sp>
      <p:sp>
        <p:nvSpPr>
          <p:cNvPr id="5123" name="Rectangle 3"/>
          <p:cNvSpPr>
            <a:spLocks noGrp="1" noChangeArrowheads="1"/>
          </p:cNvSpPr>
          <p:nvPr>
            <p:ph type="subTitle" idx="1"/>
          </p:nvPr>
        </p:nvSpPr>
        <p:spPr>
          <a:xfrm>
            <a:off x="0" y="1676401"/>
            <a:ext cx="8915400" cy="5486399"/>
          </a:xfrm>
        </p:spPr>
        <p:txBody>
          <a:bodyPr>
            <a:normAutofit/>
          </a:bodyPr>
          <a:lstStyle/>
          <a:p>
            <a:pPr marL="457200" indent="-457200" algn="l">
              <a:buFont typeface="Wingdings" pitchFamily="2" charset="2"/>
              <a:buChar char="Ø"/>
            </a:pPr>
            <a:r>
              <a:rPr lang="en-US" b="1" dirty="0" smtClean="0">
                <a:effectLst/>
                <a:latin typeface="Times New Roman" pitchFamily="18" charset="0"/>
                <a:cs typeface="Times New Roman" pitchFamily="18" charset="0"/>
              </a:rPr>
              <a:t>Does low latency effect the future evolution of the LOB?</a:t>
            </a:r>
          </a:p>
          <a:p>
            <a:pPr marL="742950" lvl="1"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Price Placement</a:t>
            </a:r>
          </a:p>
          <a:p>
            <a:pPr marL="742950" lvl="1" indent="-285750" algn="l" eaLnBrk="1" fontAlgn="auto" hangingPunct="1">
              <a:lnSpc>
                <a:spcPct val="100000"/>
              </a:lnSpc>
              <a:spcBef>
                <a:spcPct val="20000"/>
              </a:spcBef>
              <a:spcAft>
                <a:spcPts val="0"/>
              </a:spcAft>
              <a:buFont typeface="Wingdings" pitchFamily="2" charset="2"/>
              <a:buChar char="ü"/>
            </a:pPr>
            <a:r>
              <a:rPr lang="en-US" b="1" kern="1200" dirty="0" smtClean="0">
                <a:effectLst/>
                <a:latin typeface="Times New Roman" pitchFamily="18" charset="0"/>
                <a:ea typeface="+mn-ea"/>
                <a:cs typeface="Times New Roman" pitchFamily="18" charset="0"/>
              </a:rPr>
              <a:t>COI’s effect on market quality measures</a:t>
            </a:r>
          </a:p>
          <a:p>
            <a:pPr lvl="1" algn="l" eaLnBrk="1" fontAlgn="auto" hangingPunct="1">
              <a:lnSpc>
                <a:spcPct val="100000"/>
              </a:lnSpc>
              <a:spcBef>
                <a:spcPct val="20000"/>
              </a:spcBef>
              <a:spcAft>
                <a:spcPts val="0"/>
              </a:spcAft>
            </a:pPr>
            <a:endParaRPr lang="en-US" b="1" kern="1200" dirty="0" smtClean="0">
              <a:effectLst/>
              <a:latin typeface="Times New Roman" pitchFamily="18" charset="0"/>
              <a:ea typeface="+mn-ea"/>
              <a:cs typeface="Times New Roman" pitchFamily="18" charset="0"/>
            </a:endParaRPr>
          </a:p>
          <a:p>
            <a:pPr marL="342900" indent="-342900" algn="l" eaLnBrk="1" fontAlgn="auto" hangingPunct="1">
              <a:lnSpc>
                <a:spcPct val="100000"/>
              </a:lnSpc>
              <a:spcBef>
                <a:spcPts val="0"/>
              </a:spcBef>
              <a:spcAft>
                <a:spcPts val="0"/>
              </a:spcAft>
              <a:buClr>
                <a:schemeClr val="tx2">
                  <a:lumMod val="75000"/>
                </a:schemeClr>
              </a:buClr>
              <a:buSzPct val="85000"/>
              <a:buFont typeface="Wingdings" pitchFamily="2" charset="2"/>
              <a:buChar char="Ø"/>
            </a:pPr>
            <a:r>
              <a:rPr lang="en-US" b="1" kern="1200" dirty="0" err="1" smtClean="0">
                <a:effectLst/>
                <a:latin typeface="Times New Roman" pitchFamily="18" charset="0"/>
                <a:cs typeface="Times New Roman" pitchFamily="18" charset="0"/>
              </a:rPr>
              <a:t>Rosu’s</a:t>
            </a:r>
            <a:r>
              <a:rPr lang="en-US" b="1" kern="1200" dirty="0" smtClean="0">
                <a:effectLst/>
                <a:latin typeface="Times New Roman" pitchFamily="18" charset="0"/>
                <a:cs typeface="Times New Roman" pitchFamily="18" charset="0"/>
              </a:rPr>
              <a:t> (2009) theory of Attrition:</a:t>
            </a:r>
          </a:p>
          <a:p>
            <a:pPr marL="800100" lvl="1" indent="-342900" algn="l" eaLnBrk="1" fontAlgn="auto" hangingPunct="1">
              <a:lnSpc>
                <a:spcPct val="100000"/>
              </a:lnSpc>
              <a:spcBef>
                <a:spcPts val="0"/>
              </a:spcBef>
              <a:spcAft>
                <a:spcPts val="0"/>
              </a:spcAft>
              <a:buClr>
                <a:schemeClr val="tx2">
                  <a:lumMod val="75000"/>
                </a:schemeClr>
              </a:buClr>
              <a:buSzPct val="85000"/>
              <a:buFont typeface="Wingdings" pitchFamily="2" charset="2"/>
              <a:buChar char="Ø"/>
            </a:pPr>
            <a:r>
              <a:rPr lang="en-US" b="1" kern="1200" dirty="0" smtClean="0">
                <a:effectLst/>
                <a:latin typeface="Times New Roman" pitchFamily="18" charset="0"/>
                <a:cs typeface="Times New Roman" pitchFamily="18" charset="0"/>
              </a:rPr>
              <a:t>Does lower COI in faster markets attract Fleeting orders?</a:t>
            </a:r>
            <a:endParaRPr lang="en-US" b="1" kern="1200" dirty="0">
              <a:effectLst/>
              <a:latin typeface="Times New Roman" pitchFamily="18" charset="0"/>
              <a:cs typeface="Times New Roman" pitchFamily="18" charset="0"/>
            </a:endParaRPr>
          </a:p>
        </p:txBody>
      </p:sp>
    </p:spTree>
    <p:custDataLst>
      <p:tags r:id="rId1"/>
    </p:custDataLst>
    <p:extLst>
      <p:ext uri="{BB962C8B-B14F-4D97-AF65-F5344CB8AC3E}">
        <p14:creationId xmlns:p14="http://schemas.microsoft.com/office/powerpoint/2010/main" val="3532400552"/>
      </p:ext>
    </p:extLst>
  </p:cSld>
  <p:clrMapOvr>
    <a:masterClrMapping/>
  </p:clrMapOvr>
  <mc:AlternateContent xmlns:mc="http://schemas.openxmlformats.org/markup-compatibility/2006" xmlns:p14="http://schemas.microsoft.com/office/powerpoint/2010/main">
    <mc:Choice Requires="p14">
      <p:transition spd="slow" p14:dur="2000" advTm="1883">
        <p14:prism isContent="1"/>
        <p:sndAc>
          <p:endSnd/>
        </p:sndAc>
      </p:transition>
    </mc:Choice>
    <mc:Fallback xmlns="">
      <p:transition spd="slow" advTm="1883">
        <p:fade/>
        <p:sndAc>
          <p:end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3">
                                            <p:txEl>
                                              <p:pRg st="4" end="4"/>
                                            </p:txEl>
                                          </p:spTgt>
                                        </p:tgtEl>
                                        <p:attrNameLst>
                                          <p:attrName>style.visibility</p:attrName>
                                        </p:attrNameLst>
                                      </p:cBhvr>
                                      <p:to>
                                        <p:strVal val="visible"/>
                                      </p:to>
                                    </p:set>
                                    <p:animEffect transition="in" filter="wipe(left)">
                                      <p:cBhvr>
                                        <p:cTn id="7" dur="500"/>
                                        <p:tgtEl>
                                          <p:spTgt spid="5123">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123">
                                            <p:txEl>
                                              <p:pRg st="5" end="5"/>
                                            </p:txEl>
                                          </p:spTgt>
                                        </p:tgtEl>
                                        <p:attrNameLst>
                                          <p:attrName>style.visibility</p:attrName>
                                        </p:attrNameLst>
                                      </p:cBhvr>
                                      <p:to>
                                        <p:strVal val="visible"/>
                                      </p:to>
                                    </p:set>
                                    <p:animEffect transition="in" filter="wipe(left)">
                                      <p:cBhvr>
                                        <p:cTn id="10" dur="5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 name="Table 19"/>
          <p:cNvGraphicFramePr>
            <a:graphicFrameLocks noGrp="1"/>
          </p:cNvGraphicFramePr>
          <p:nvPr>
            <p:extLst>
              <p:ext uri="{D42A27DB-BD31-4B8C-83A1-F6EECF244321}">
                <p14:modId xmlns:p14="http://schemas.microsoft.com/office/powerpoint/2010/main" val="762976772"/>
              </p:ext>
            </p:extLst>
          </p:nvPr>
        </p:nvGraphicFramePr>
        <p:xfrm>
          <a:off x="1219200" y="762000"/>
          <a:ext cx="6705601" cy="1981202"/>
        </p:xfrm>
        <a:graphic>
          <a:graphicData uri="http://schemas.openxmlformats.org/drawingml/2006/table">
            <a:tbl>
              <a:tblPr>
                <a:tableStyleId>{5C22544A-7EE6-4342-B048-85BDC9FD1C3A}</a:tableStyleId>
              </a:tblPr>
              <a:tblGrid>
                <a:gridCol w="745067"/>
                <a:gridCol w="745067"/>
                <a:gridCol w="771519"/>
                <a:gridCol w="921386"/>
                <a:gridCol w="542294"/>
                <a:gridCol w="745067"/>
                <a:gridCol w="745067"/>
                <a:gridCol w="745067"/>
                <a:gridCol w="745067"/>
              </a:tblGrid>
              <a:tr h="397034">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pPr marL="0" algn="r" defTabSz="914400" rtl="0" eaLnBrk="1" fontAlgn="b" latinLnBrk="0" hangingPunct="1"/>
                      <a:r>
                        <a:rPr lang="en-US" sz="1600" u="none" strike="noStrike" kern="1200" dirty="0">
                          <a:solidFill>
                            <a:srgbClr val="C00000"/>
                          </a:solidFill>
                          <a:effectLst/>
                          <a:latin typeface="+mn-lt"/>
                          <a:ea typeface="+mn-ea"/>
                          <a:cs typeface="+mn-cs"/>
                        </a:rPr>
                        <a:t>Stock 1</a:t>
                      </a:r>
                    </a:p>
                  </a:txBody>
                  <a:tcPr marL="9525" marR="9525" marT="9525" marB="0" anchor="b"/>
                </a:tc>
                <a:tc>
                  <a:txBody>
                    <a:bodyPr/>
                    <a:lstStyle/>
                    <a:p>
                      <a:pPr marL="0" algn="r" defTabSz="914400" rtl="0" eaLnBrk="1" fontAlgn="b" latinLnBrk="0" hangingPunct="1"/>
                      <a:endParaRPr lang="en-US" sz="1600" u="none" strike="noStrike" kern="1200" dirty="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endParaRPr lang="en-US" sz="1600" u="none" strike="noStrike" kern="1200" dirty="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endParaRPr lang="en-US" sz="1600" u="none" strike="noStrike" kern="120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endParaRPr lang="en-US" sz="1600" u="none" strike="noStrike" kern="1200" dirty="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r>
                        <a:rPr lang="en-US" sz="1600" u="none" strike="noStrike" kern="1200" dirty="0">
                          <a:solidFill>
                            <a:srgbClr val="C00000"/>
                          </a:solidFill>
                          <a:effectLst/>
                          <a:latin typeface="+mn-lt"/>
                          <a:ea typeface="+mn-ea"/>
                          <a:cs typeface="+mn-cs"/>
                        </a:rPr>
                        <a:t>Stock 2</a:t>
                      </a:r>
                    </a:p>
                  </a:txBody>
                  <a:tcPr marL="9525" marR="9525" marT="9525" marB="0" anchor="b"/>
                </a:tc>
                <a:tc>
                  <a:txBody>
                    <a:bodyPr/>
                    <a:lstStyle/>
                    <a:p>
                      <a:pPr algn="l" fontAlgn="b"/>
                      <a:endParaRPr lang="en-US" sz="1100" b="0" i="0" u="none" strike="noStrike">
                        <a:solidFill>
                          <a:srgbClr val="000000"/>
                        </a:solidFill>
                        <a:effectLst/>
                        <a:latin typeface="Calibri"/>
                      </a:endParaRPr>
                    </a:p>
                  </a:txBody>
                  <a:tcPr marL="9525" marR="9525" marT="9525" marB="0" anchor="b"/>
                </a:tc>
                <a:tc>
                  <a:txBody>
                    <a:bodyPr/>
                    <a:lstStyle/>
                    <a:p>
                      <a:pPr algn="l" fontAlgn="b"/>
                      <a:endParaRPr lang="en-US" sz="1100" b="0" i="0" u="none" strike="noStrike">
                        <a:solidFill>
                          <a:srgbClr val="000000"/>
                        </a:solidFill>
                        <a:effectLst/>
                        <a:latin typeface="Calibri"/>
                      </a:endParaRPr>
                    </a:p>
                  </a:txBody>
                  <a:tcPr marL="9525" marR="9525" marT="9525" marB="0" anchor="b"/>
                </a:tc>
              </a:tr>
              <a:tr h="264028">
                <a:tc>
                  <a:txBody>
                    <a:bodyPr/>
                    <a:lstStyle/>
                    <a:p>
                      <a:pPr algn="ctr" fontAlgn="ctr"/>
                      <a:r>
                        <a:rPr lang="en-US" sz="1600" u="none" strike="noStrike" kern="1200" dirty="0">
                          <a:solidFill>
                            <a:schemeClr val="dk1"/>
                          </a:solidFill>
                          <a:effectLst/>
                          <a:latin typeface="+mn-lt"/>
                          <a:ea typeface="+mn-ea"/>
                          <a:cs typeface="+mn-cs"/>
                        </a:rPr>
                        <a:t>Bid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algn="ctr" fontAlgn="ctr"/>
                      <a:r>
                        <a:rPr lang="en-US" sz="1600" u="none" strike="noStrike" kern="1200" dirty="0">
                          <a:solidFill>
                            <a:schemeClr val="dk1"/>
                          </a:solidFill>
                          <a:effectLst/>
                          <a:latin typeface="+mn-lt"/>
                          <a:ea typeface="+mn-ea"/>
                          <a:cs typeface="+mn-cs"/>
                        </a:rPr>
                        <a:t>Bid</a:t>
                      </a:r>
                    </a:p>
                  </a:txBody>
                  <a:tcPr marL="9525" marR="9525" marT="9525" marB="0" anchor="ctr">
                    <a:solidFill>
                      <a:srgbClr val="92D050"/>
                    </a:solidFill>
                  </a:tcPr>
                </a:tc>
                <a:tc>
                  <a:txBody>
                    <a:bodyPr/>
                    <a:lstStyle/>
                    <a:p>
                      <a:pPr algn="ctr" fontAlgn="ctr"/>
                      <a:r>
                        <a:rPr lang="en-US" sz="1600" u="none" strike="noStrike" kern="1200" dirty="0">
                          <a:solidFill>
                            <a:schemeClr val="dk1"/>
                          </a:solidFill>
                          <a:effectLst/>
                          <a:latin typeface="+mn-lt"/>
                          <a:ea typeface="+mn-ea"/>
                          <a:cs typeface="+mn-cs"/>
                        </a:rPr>
                        <a:t>Ask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algn="ctr" fontAlgn="ctr"/>
                      <a:r>
                        <a:rPr lang="en-US" sz="1600" u="none" strike="noStrike" kern="1200" dirty="0">
                          <a:solidFill>
                            <a:schemeClr val="dk1"/>
                          </a:solidFill>
                          <a:effectLst/>
                          <a:latin typeface="+mn-lt"/>
                          <a:ea typeface="+mn-ea"/>
                          <a:cs typeface="+mn-cs"/>
                        </a:rPr>
                        <a:t>Ask</a:t>
                      </a:r>
                    </a:p>
                  </a:txBody>
                  <a:tcPr marL="9525" marR="9525" marT="9525" marB="0" anchor="ctr">
                    <a:solidFill>
                      <a:srgbClr val="92D050"/>
                    </a:solidFill>
                  </a:tcPr>
                </a:tc>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Bid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Bid</a:t>
                      </a: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Ask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Ask</a:t>
                      </a:r>
                    </a:p>
                  </a:txBody>
                  <a:tcPr marL="9525" marR="9525" marT="9525" marB="0" anchor="ctr">
                    <a:solidFill>
                      <a:srgbClr val="92D050"/>
                    </a:solidFill>
                  </a:tcPr>
                </a:tc>
              </a:tr>
              <a:tr h="264028">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a:t>
                      </a: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21</a:t>
                      </a:r>
                    </a:p>
                  </a:txBody>
                  <a:tcPr marL="9525" marR="9525" marT="9525" marB="0" anchor="b"/>
                </a:tc>
                <a:tc>
                  <a:txBody>
                    <a:bodyPr/>
                    <a:lstStyle/>
                    <a:p>
                      <a:pPr marL="0" algn="ctr" defTabSz="914400" rtl="0" eaLnBrk="1" fontAlgn="b" latinLnBrk="0" hangingPunct="1"/>
                      <a:endParaRPr lang="en-US" sz="1600" b="1" u="none" strike="noStrike" kern="120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a:t>
                      </a: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21</a:t>
                      </a:r>
                    </a:p>
                  </a:txBody>
                  <a:tcPr marL="9525" marR="9525" marT="9525" marB="0" anchor="b"/>
                </a:tc>
              </a:tr>
              <a:tr h="264028">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18</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24</a:t>
                      </a:r>
                    </a:p>
                  </a:txBody>
                  <a:tcPr marL="9525" marR="9525" marT="9525" marB="0" anchor="b"/>
                </a:tc>
                <a:tc>
                  <a:txBody>
                    <a:bodyPr/>
                    <a:lstStyle/>
                    <a:p>
                      <a:pPr marL="0" algn="ctr" defTabSz="914400" rtl="0" eaLnBrk="1" fontAlgn="b" latinLnBrk="0" hangingPunct="1"/>
                      <a:endParaRPr lang="en-US" sz="1600" b="0" u="none" strike="noStrike" kern="1200" dirty="0">
                        <a:solidFill>
                          <a:schemeClr val="bg1">
                            <a:lumMod val="75000"/>
                          </a:schemeClr>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19</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22</a:t>
                      </a:r>
                    </a:p>
                  </a:txBody>
                  <a:tcPr marL="9525" marR="9525" marT="9525" marB="0" anchor="b"/>
                </a:tc>
              </a:tr>
              <a:tr h="264028">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15</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26</a:t>
                      </a:r>
                    </a:p>
                  </a:txBody>
                  <a:tcPr marL="9525" marR="9525" marT="9525" marB="0" anchor="b"/>
                </a:tc>
                <a:tc>
                  <a:txBody>
                    <a:bodyPr/>
                    <a:lstStyle/>
                    <a:p>
                      <a:pPr marL="0" algn="ctr" defTabSz="914400" rtl="0" eaLnBrk="1" fontAlgn="b" latinLnBrk="0" hangingPunct="1"/>
                      <a:endParaRPr lang="en-US" sz="1600" b="0" u="none" strike="noStrike" kern="1200" dirty="0">
                        <a:solidFill>
                          <a:schemeClr val="bg1">
                            <a:lumMod val="75000"/>
                          </a:schemeClr>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18</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23</a:t>
                      </a:r>
                    </a:p>
                  </a:txBody>
                  <a:tcPr marL="9525" marR="9525" marT="9525" marB="0" anchor="b"/>
                </a:tc>
              </a:tr>
              <a:tr h="264028">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200</a:t>
                      </a:r>
                    </a:p>
                  </a:txBody>
                  <a:tcPr marL="9525" marR="9525" marT="9525" marB="0" anchor="b"/>
                </a:tc>
                <a:tc>
                  <a:txBody>
                    <a:bodyPr/>
                    <a:lstStyle/>
                    <a:p>
                      <a:pPr marL="0" algn="ctr" defTabSz="914400" rtl="0" eaLnBrk="1" fontAlgn="b" latinLnBrk="0" hangingPunct="1"/>
                      <a:r>
                        <a:rPr lang="en-US" sz="1600" b="0" u="none" strike="noStrike" kern="1200">
                          <a:solidFill>
                            <a:schemeClr val="bg1">
                              <a:lumMod val="75000"/>
                            </a:schemeClr>
                          </a:solidFill>
                          <a:effectLst/>
                          <a:latin typeface="+mn-lt"/>
                          <a:ea typeface="+mn-ea"/>
                          <a:cs typeface="+mn-cs"/>
                        </a:rPr>
                        <a:t>12</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29</a:t>
                      </a:r>
                    </a:p>
                  </a:txBody>
                  <a:tcPr marL="9525" marR="9525" marT="9525" marB="0" anchor="b"/>
                </a:tc>
                <a:tc>
                  <a:txBody>
                    <a:bodyPr/>
                    <a:lstStyle/>
                    <a:p>
                      <a:pPr marL="0" algn="ctr" defTabSz="914400" rtl="0" eaLnBrk="1" fontAlgn="b" latinLnBrk="0" hangingPunct="1"/>
                      <a:endParaRPr lang="en-US" sz="1600" b="0" u="none" strike="noStrike" kern="1200">
                        <a:solidFill>
                          <a:schemeClr val="bg1">
                            <a:lumMod val="75000"/>
                          </a:schemeClr>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0" u="none" strike="noStrike" kern="1200">
                          <a:solidFill>
                            <a:schemeClr val="bg1">
                              <a:lumMod val="75000"/>
                            </a:schemeClr>
                          </a:solidFill>
                          <a:effectLst/>
                          <a:latin typeface="+mn-lt"/>
                          <a:ea typeface="+mn-ea"/>
                          <a:cs typeface="+mn-cs"/>
                        </a:rPr>
                        <a:t>800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17</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800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24</a:t>
                      </a:r>
                    </a:p>
                  </a:txBody>
                  <a:tcPr marL="9525" marR="9525" marT="9525" marB="0" anchor="b"/>
                </a:tc>
              </a:tr>
              <a:tr h="264028">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1200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1200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31</a:t>
                      </a:r>
                    </a:p>
                  </a:txBody>
                  <a:tcPr marL="9525" marR="9525" marT="9525" marB="0" anchor="b"/>
                </a:tc>
                <a:tc>
                  <a:txBody>
                    <a:bodyPr/>
                    <a:lstStyle/>
                    <a:p>
                      <a:pPr marL="0" algn="ctr" defTabSz="914400" rtl="0" eaLnBrk="1" fontAlgn="b" latinLnBrk="0" hangingPunct="1"/>
                      <a:endParaRPr lang="en-US" sz="1600" b="0" u="none" strike="noStrike" kern="1200" dirty="0">
                        <a:solidFill>
                          <a:schemeClr val="bg1">
                            <a:lumMod val="75000"/>
                          </a:schemeClr>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600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16</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600</a:t>
                      </a:r>
                    </a:p>
                  </a:txBody>
                  <a:tcPr marL="9525" marR="9525" marT="9525" marB="0" anchor="b"/>
                </a:tc>
                <a:tc>
                  <a:txBody>
                    <a:bodyPr/>
                    <a:lstStyle/>
                    <a:p>
                      <a:pPr marL="0" algn="ctr" defTabSz="914400" rtl="0" eaLnBrk="1" fontAlgn="b" latinLnBrk="0" hangingPunct="1"/>
                      <a:r>
                        <a:rPr lang="en-US" sz="1600" b="0" u="none" strike="noStrike" kern="1200" dirty="0">
                          <a:solidFill>
                            <a:schemeClr val="bg1">
                              <a:lumMod val="75000"/>
                            </a:schemeClr>
                          </a:solidFill>
                          <a:effectLst/>
                          <a:latin typeface="+mn-lt"/>
                          <a:ea typeface="+mn-ea"/>
                          <a:cs typeface="+mn-cs"/>
                        </a:rPr>
                        <a:t>25</a:t>
                      </a:r>
                    </a:p>
                  </a:txBody>
                  <a:tcPr marL="9525" marR="9525" marT="9525" marB="0" anchor="b"/>
                </a:tc>
              </a:tr>
            </a:tbl>
          </a:graphicData>
        </a:graphic>
      </p:graphicFrame>
      <p:sp>
        <p:nvSpPr>
          <p:cNvPr id="3" name="TextBox 2"/>
          <p:cNvSpPr txBox="1"/>
          <p:nvPr/>
        </p:nvSpPr>
        <p:spPr>
          <a:xfrm>
            <a:off x="2819400" y="39469"/>
            <a:ext cx="3505200" cy="646331"/>
          </a:xfrm>
          <a:prstGeom prst="rect">
            <a:avLst/>
          </a:prstGeom>
          <a:noFill/>
        </p:spPr>
        <p:txBody>
          <a:bodyPr wrap="square" rtlCol="0">
            <a:spAutoFit/>
          </a:bodyPr>
          <a:lstStyle/>
          <a:p>
            <a:pPr algn="ctr"/>
            <a:r>
              <a:rPr lang="en-US" sz="3600" dirty="0" smtClean="0"/>
              <a:t>Best Quotes </a:t>
            </a:r>
            <a:endParaRPr lang="en-US" sz="3600" dirty="0"/>
          </a:p>
        </p:txBody>
      </p:sp>
      <p:sp>
        <p:nvSpPr>
          <p:cNvPr id="4" name="TextBox 3"/>
          <p:cNvSpPr txBox="1"/>
          <p:nvPr/>
        </p:nvSpPr>
        <p:spPr>
          <a:xfrm>
            <a:off x="304800" y="3276600"/>
            <a:ext cx="8077200" cy="646331"/>
          </a:xfrm>
          <a:prstGeom prst="rect">
            <a:avLst/>
          </a:prstGeom>
          <a:noFill/>
        </p:spPr>
        <p:txBody>
          <a:bodyPr wrap="square" rtlCol="0">
            <a:spAutoFit/>
          </a:bodyPr>
          <a:lstStyle/>
          <a:p>
            <a:r>
              <a:rPr lang="en-US" dirty="0" smtClean="0"/>
              <a:t>Avg. Daily  	         1,000,000			       1,000,000</a:t>
            </a:r>
          </a:p>
          <a:p>
            <a:r>
              <a:rPr lang="en-US" dirty="0" smtClean="0"/>
              <a:t>Volume:	 </a:t>
            </a:r>
            <a:endParaRPr lang="en-US" dirty="0"/>
          </a:p>
        </p:txBody>
      </p:sp>
      <p:sp>
        <p:nvSpPr>
          <p:cNvPr id="5" name="TextBox 4"/>
          <p:cNvSpPr txBox="1"/>
          <p:nvPr/>
        </p:nvSpPr>
        <p:spPr>
          <a:xfrm>
            <a:off x="2647950" y="4800600"/>
            <a:ext cx="3962400" cy="1754326"/>
          </a:xfrm>
          <a:prstGeom prst="rect">
            <a:avLst/>
          </a:prstGeom>
          <a:noFill/>
        </p:spPr>
        <p:txBody>
          <a:bodyPr wrap="square" rtlCol="0">
            <a:spAutoFit/>
          </a:bodyPr>
          <a:lstStyle/>
          <a:p>
            <a:r>
              <a:rPr lang="en-US" dirty="0" smtClean="0"/>
              <a:t>Traditional Liquidity Measures:</a:t>
            </a:r>
          </a:p>
          <a:p>
            <a:endParaRPr lang="en-US" dirty="0"/>
          </a:p>
          <a:p>
            <a:pPr marL="800100" lvl="1" indent="-342900">
              <a:buFont typeface="+mj-lt"/>
              <a:buAutoNum type="arabicPeriod"/>
            </a:pPr>
            <a:r>
              <a:rPr lang="en-US" dirty="0" smtClean="0"/>
              <a:t>Bid-Ask Spread</a:t>
            </a:r>
          </a:p>
          <a:p>
            <a:pPr marL="800100" lvl="1" indent="-342900">
              <a:buFont typeface="+mj-lt"/>
              <a:buAutoNum type="arabicPeriod"/>
            </a:pPr>
            <a:r>
              <a:rPr lang="en-US" dirty="0" smtClean="0"/>
              <a:t>Depth			</a:t>
            </a:r>
          </a:p>
          <a:p>
            <a:pPr marL="800100" lvl="1" indent="-342900">
              <a:buFont typeface="+mj-lt"/>
              <a:buAutoNum type="arabicPeriod"/>
            </a:pPr>
            <a:r>
              <a:rPr lang="en-US" dirty="0" smtClean="0"/>
              <a:t>Volume</a:t>
            </a:r>
          </a:p>
          <a:p>
            <a:endParaRPr lang="en-US" dirty="0"/>
          </a:p>
        </p:txBody>
      </p:sp>
      <p:sp>
        <p:nvSpPr>
          <p:cNvPr id="6" name="TextBox 5"/>
          <p:cNvSpPr txBox="1"/>
          <p:nvPr/>
        </p:nvSpPr>
        <p:spPr>
          <a:xfrm>
            <a:off x="990600" y="4048780"/>
            <a:ext cx="6934200" cy="523220"/>
          </a:xfrm>
          <a:prstGeom prst="rect">
            <a:avLst/>
          </a:prstGeom>
          <a:noFill/>
        </p:spPr>
        <p:txBody>
          <a:bodyPr wrap="square" rtlCol="0">
            <a:spAutoFit/>
          </a:bodyPr>
          <a:lstStyle/>
          <a:p>
            <a:pPr algn="ctr"/>
            <a:r>
              <a:rPr lang="en-US" sz="2800" dirty="0" smtClean="0"/>
              <a:t>Both </a:t>
            </a:r>
            <a:r>
              <a:rPr lang="en-US" sz="2800" dirty="0"/>
              <a:t>stocks are equally </a:t>
            </a:r>
            <a:r>
              <a:rPr lang="en-US" sz="2800" dirty="0" smtClean="0"/>
              <a:t>liquid? </a:t>
            </a:r>
            <a:endParaRPr lang="en-US" sz="2800" dirty="0"/>
          </a:p>
        </p:txBody>
      </p:sp>
      <p:sp>
        <p:nvSpPr>
          <p:cNvPr id="7" name="Oval 6"/>
          <p:cNvSpPr/>
          <p:nvPr/>
        </p:nvSpPr>
        <p:spPr>
          <a:xfrm>
            <a:off x="2057400" y="1447800"/>
            <a:ext cx="609600" cy="381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657600" y="1447800"/>
            <a:ext cx="609600" cy="381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791200" y="1447800"/>
            <a:ext cx="609600" cy="3810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239000" y="1447800"/>
            <a:ext cx="609600" cy="3810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295400" y="1447800"/>
            <a:ext cx="609600" cy="381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743200" y="1447800"/>
            <a:ext cx="609600" cy="381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29200" y="1447800"/>
            <a:ext cx="609600" cy="3810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477000" y="1447800"/>
            <a:ext cx="609600" cy="3810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667000" y="3200400"/>
            <a:ext cx="1371600" cy="5334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Oval 15"/>
          <p:cNvSpPr/>
          <p:nvPr/>
        </p:nvSpPr>
        <p:spPr>
          <a:xfrm>
            <a:off x="6096000" y="3200400"/>
            <a:ext cx="1447800" cy="4572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ustDataLst>
      <p:tags r:id="rId1"/>
    </p:custDataLst>
    <p:extLst>
      <p:ext uri="{BB962C8B-B14F-4D97-AF65-F5344CB8AC3E}">
        <p14:creationId xmlns:p14="http://schemas.microsoft.com/office/powerpoint/2010/main" val="2215589772"/>
      </p:ext>
    </p:extLst>
  </p:cSld>
  <p:clrMapOvr>
    <a:masterClrMapping/>
  </p:clrMapOvr>
  <mc:AlternateContent xmlns:mc="http://schemas.openxmlformats.org/markup-compatibility/2006" xmlns:p14="http://schemas.microsoft.com/office/powerpoint/2010/main">
    <mc:Choice Requires="p14">
      <p:transition spd="slow" p14:dur="2000" advTm="705">
        <p14:ferris dir="l"/>
      </p:transition>
    </mc:Choice>
    <mc:Fallback xmlns="">
      <p:transition spd="slow" advTm="70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3" presetClass="entr" presetSubtype="1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linds(horizontal)">
                                      <p:cBhvr>
                                        <p:cTn id="14" dur="500"/>
                                        <p:tgtEl>
                                          <p:spTgt spid="9"/>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3" presetClass="exit" presetSubtype="10" fill="hold" grpId="1" nodeType="withEffect">
                                  <p:stCondLst>
                                    <p:cond delay="0"/>
                                  </p:stCondLst>
                                  <p:childTnLst>
                                    <p:animEffect transition="out" filter="blinds(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par>
                                <p:cTn id="28" presetID="3" presetClass="exit" presetSubtype="10" fill="hold" grpId="1" nodeType="withEffect">
                                  <p:stCondLst>
                                    <p:cond delay="0"/>
                                  </p:stCondLst>
                                  <p:childTnLst>
                                    <p:animEffect transition="out" filter="blinds(horizontal)">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3" presetClass="exit" presetSubtype="10" fill="hold" grpId="1" nodeType="withEffect">
                                  <p:stCondLst>
                                    <p:cond delay="0"/>
                                  </p:stCondLst>
                                  <p:childTnLst>
                                    <p:animEffect transition="out" filter="blinds(horizontal)">
                                      <p:cBhvr>
                                        <p:cTn id="32" dur="500"/>
                                        <p:tgtEl>
                                          <p:spTgt spid="8"/>
                                        </p:tgtEl>
                                      </p:cBhvr>
                                    </p:animEffect>
                                    <p:set>
                                      <p:cBhvr>
                                        <p:cTn id="33" dur="1" fill="hold">
                                          <p:stCondLst>
                                            <p:cond delay="499"/>
                                          </p:stCondLst>
                                        </p:cTn>
                                        <p:tgtEl>
                                          <p:spTgt spid="8"/>
                                        </p:tgtEl>
                                        <p:attrNameLst>
                                          <p:attrName>style.visibility</p:attrName>
                                        </p:attrNameLst>
                                      </p:cBhvr>
                                      <p:to>
                                        <p:strVal val="hidden"/>
                                      </p:to>
                                    </p:set>
                                  </p:childTnLst>
                                </p:cTn>
                              </p:par>
                              <p:par>
                                <p:cTn id="34" presetID="3" presetClass="exit" presetSubtype="10" fill="hold" grpId="1" nodeType="withEffect">
                                  <p:stCondLst>
                                    <p:cond delay="0"/>
                                  </p:stCondLst>
                                  <p:childTnLst>
                                    <p:animEffect transition="out" filter="blinds(horizontal)">
                                      <p:cBhvr>
                                        <p:cTn id="35" dur="500"/>
                                        <p:tgtEl>
                                          <p:spTgt spid="7"/>
                                        </p:tgtEl>
                                      </p:cBhvr>
                                    </p:animEffect>
                                    <p:set>
                                      <p:cBhvr>
                                        <p:cTn id="36" dur="1" fill="hold">
                                          <p:stCondLst>
                                            <p:cond delay="499"/>
                                          </p:stCondLst>
                                        </p:cTn>
                                        <p:tgtEl>
                                          <p:spTgt spid="7"/>
                                        </p:tgtEl>
                                        <p:attrNameLst>
                                          <p:attrName>style.visibility</p:attrName>
                                        </p:attrNameLst>
                                      </p:cBhvr>
                                      <p:to>
                                        <p:strVal val="hidden"/>
                                      </p:to>
                                    </p:set>
                                  </p:childTnLst>
                                </p:cTn>
                              </p:par>
                              <p:par>
                                <p:cTn id="37" presetID="3" presetClass="entr" presetSubtype="1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linds(horizontal)">
                                      <p:cBhvr>
                                        <p:cTn id="39" dur="500"/>
                                        <p:tgtEl>
                                          <p:spTgt spid="1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blinds(horizontal)">
                                      <p:cBhvr>
                                        <p:cTn id="45" dur="500"/>
                                        <p:tgtEl>
                                          <p:spTgt spid="12"/>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linds(horizontal)">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childTnLst>
                                </p:cTn>
                              </p:par>
                              <p:par>
                                <p:cTn id="53" presetID="3" presetClass="exit" presetSubtype="10" fill="hold" grpId="1" nodeType="withEffect">
                                  <p:stCondLst>
                                    <p:cond delay="0"/>
                                  </p:stCondLst>
                                  <p:childTnLst>
                                    <p:animEffect transition="out" filter="blinds(horizontal)">
                                      <p:cBhvr>
                                        <p:cTn id="54" dur="500"/>
                                        <p:tgtEl>
                                          <p:spTgt spid="14"/>
                                        </p:tgtEl>
                                      </p:cBhvr>
                                    </p:animEffect>
                                    <p:set>
                                      <p:cBhvr>
                                        <p:cTn id="55" dur="1" fill="hold">
                                          <p:stCondLst>
                                            <p:cond delay="499"/>
                                          </p:stCondLst>
                                        </p:cTn>
                                        <p:tgtEl>
                                          <p:spTgt spid="14"/>
                                        </p:tgtEl>
                                        <p:attrNameLst>
                                          <p:attrName>style.visibility</p:attrName>
                                        </p:attrNameLst>
                                      </p:cBhvr>
                                      <p:to>
                                        <p:strVal val="hidden"/>
                                      </p:to>
                                    </p:set>
                                  </p:childTnLst>
                                </p:cTn>
                              </p:par>
                              <p:par>
                                <p:cTn id="56" presetID="3" presetClass="exit" presetSubtype="10" fill="hold" grpId="1" nodeType="withEffect">
                                  <p:stCondLst>
                                    <p:cond delay="0"/>
                                  </p:stCondLst>
                                  <p:childTnLst>
                                    <p:animEffect transition="out" filter="blinds(horizontal)">
                                      <p:cBhvr>
                                        <p:cTn id="57" dur="500"/>
                                        <p:tgtEl>
                                          <p:spTgt spid="13"/>
                                        </p:tgtEl>
                                      </p:cBhvr>
                                    </p:animEffect>
                                    <p:set>
                                      <p:cBhvr>
                                        <p:cTn id="58" dur="1" fill="hold">
                                          <p:stCondLst>
                                            <p:cond delay="499"/>
                                          </p:stCondLst>
                                        </p:cTn>
                                        <p:tgtEl>
                                          <p:spTgt spid="13"/>
                                        </p:tgtEl>
                                        <p:attrNameLst>
                                          <p:attrName>style.visibility</p:attrName>
                                        </p:attrNameLst>
                                      </p:cBhvr>
                                      <p:to>
                                        <p:strVal val="hidden"/>
                                      </p:to>
                                    </p:set>
                                  </p:childTnLst>
                                </p:cTn>
                              </p:par>
                              <p:par>
                                <p:cTn id="59" presetID="3" presetClass="exit" presetSubtype="10" fill="hold" grpId="1" nodeType="withEffect">
                                  <p:stCondLst>
                                    <p:cond delay="0"/>
                                  </p:stCondLst>
                                  <p:childTnLst>
                                    <p:animEffect transition="out" filter="blinds(horizontal)">
                                      <p:cBhvr>
                                        <p:cTn id="60" dur="500"/>
                                        <p:tgtEl>
                                          <p:spTgt spid="12"/>
                                        </p:tgtEl>
                                      </p:cBhvr>
                                    </p:animEffect>
                                    <p:set>
                                      <p:cBhvr>
                                        <p:cTn id="61" dur="1" fill="hold">
                                          <p:stCondLst>
                                            <p:cond delay="499"/>
                                          </p:stCondLst>
                                        </p:cTn>
                                        <p:tgtEl>
                                          <p:spTgt spid="12"/>
                                        </p:tgtEl>
                                        <p:attrNameLst>
                                          <p:attrName>style.visibility</p:attrName>
                                        </p:attrNameLst>
                                      </p:cBhvr>
                                      <p:to>
                                        <p:strVal val="hidden"/>
                                      </p:to>
                                    </p:set>
                                  </p:childTnLst>
                                </p:cTn>
                              </p:par>
                              <p:par>
                                <p:cTn id="62" presetID="3" presetClass="exit" presetSubtype="10" fill="hold" grpId="1" nodeType="withEffect">
                                  <p:stCondLst>
                                    <p:cond delay="0"/>
                                  </p:stCondLst>
                                  <p:childTnLst>
                                    <p:animEffect transition="out" filter="blinds(horizontal)">
                                      <p:cBhvr>
                                        <p:cTn id="63" dur="500"/>
                                        <p:tgtEl>
                                          <p:spTgt spid="11"/>
                                        </p:tgtEl>
                                      </p:cBhvr>
                                    </p:animEffect>
                                    <p:set>
                                      <p:cBhvr>
                                        <p:cTn id="64" dur="1" fill="hold">
                                          <p:stCondLst>
                                            <p:cond delay="499"/>
                                          </p:stCondLst>
                                        </p:cTn>
                                        <p:tgtEl>
                                          <p:spTgt spid="11"/>
                                        </p:tgtEl>
                                        <p:attrNameLst>
                                          <p:attrName>style.visibility</p:attrName>
                                        </p:attrNameLst>
                                      </p:cBhvr>
                                      <p:to>
                                        <p:strVal val="hidden"/>
                                      </p:to>
                                    </p:set>
                                  </p:childTnLst>
                                </p:cTn>
                              </p:par>
                              <p:par>
                                <p:cTn id="65" presetID="3" presetClass="entr" presetSubtype="1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linds(horizontal)">
                                      <p:cBhvr>
                                        <p:cTn id="67" dur="500"/>
                                        <p:tgtEl>
                                          <p:spTgt spid="15"/>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blinds(horizontal)">
                                      <p:cBhvr>
                                        <p:cTn id="70" dur="500"/>
                                        <p:tgtEl>
                                          <p:spTgt spid="16"/>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xit" presetSubtype="10" fill="hold" grpId="0" nodeType="clickEffect">
                                  <p:stCondLst>
                                    <p:cond delay="0"/>
                                  </p:stCondLst>
                                  <p:childTnLst>
                                    <p:animEffect transition="out" filter="blinds(horizontal)">
                                      <p:cBhvr>
                                        <p:cTn id="74" dur="500"/>
                                        <p:tgtEl>
                                          <p:spTgt spid="5">
                                            <p:txEl>
                                              <p:pRg st="0" end="0"/>
                                            </p:txEl>
                                          </p:spTgt>
                                        </p:tgtEl>
                                      </p:cBhvr>
                                    </p:animEffect>
                                    <p:set>
                                      <p:cBhvr>
                                        <p:cTn id="75" dur="1" fill="hold">
                                          <p:stCondLst>
                                            <p:cond delay="499"/>
                                          </p:stCondLst>
                                        </p:cTn>
                                        <p:tgtEl>
                                          <p:spTgt spid="5">
                                            <p:txEl>
                                              <p:pRg st="0" end="0"/>
                                            </p:txEl>
                                          </p:spTgt>
                                        </p:tgtEl>
                                        <p:attrNameLst>
                                          <p:attrName>style.visibility</p:attrName>
                                        </p:attrNameLst>
                                      </p:cBhvr>
                                      <p:to>
                                        <p:strVal val="hidden"/>
                                      </p:to>
                                    </p:set>
                                  </p:childTnLst>
                                </p:cTn>
                              </p:par>
                              <p:par>
                                <p:cTn id="76" presetID="3" presetClass="exit" presetSubtype="10" fill="hold" grpId="0" nodeType="withEffect">
                                  <p:stCondLst>
                                    <p:cond delay="0"/>
                                  </p:stCondLst>
                                  <p:childTnLst>
                                    <p:animEffect transition="out" filter="blinds(horizontal)">
                                      <p:cBhvr>
                                        <p:cTn id="77" dur="500"/>
                                        <p:tgtEl>
                                          <p:spTgt spid="5">
                                            <p:txEl>
                                              <p:pRg st="2" end="2"/>
                                            </p:txEl>
                                          </p:spTgt>
                                        </p:tgtEl>
                                      </p:cBhvr>
                                    </p:animEffect>
                                    <p:set>
                                      <p:cBhvr>
                                        <p:cTn id="78" dur="1" fill="hold">
                                          <p:stCondLst>
                                            <p:cond delay="499"/>
                                          </p:stCondLst>
                                        </p:cTn>
                                        <p:tgtEl>
                                          <p:spTgt spid="5">
                                            <p:txEl>
                                              <p:pRg st="2" end="2"/>
                                            </p:txEl>
                                          </p:spTgt>
                                        </p:tgtEl>
                                        <p:attrNameLst>
                                          <p:attrName>style.visibility</p:attrName>
                                        </p:attrNameLst>
                                      </p:cBhvr>
                                      <p:to>
                                        <p:strVal val="hidden"/>
                                      </p:to>
                                    </p:set>
                                  </p:childTnLst>
                                </p:cTn>
                              </p:par>
                              <p:par>
                                <p:cTn id="79" presetID="3" presetClass="exit" presetSubtype="10" fill="hold" grpId="0" nodeType="withEffect">
                                  <p:stCondLst>
                                    <p:cond delay="0"/>
                                  </p:stCondLst>
                                  <p:childTnLst>
                                    <p:animEffect transition="out" filter="blinds(horizontal)">
                                      <p:cBhvr>
                                        <p:cTn id="80" dur="500"/>
                                        <p:tgtEl>
                                          <p:spTgt spid="5">
                                            <p:txEl>
                                              <p:pRg st="3" end="3"/>
                                            </p:txEl>
                                          </p:spTgt>
                                        </p:tgtEl>
                                      </p:cBhvr>
                                    </p:animEffect>
                                    <p:set>
                                      <p:cBhvr>
                                        <p:cTn id="81" dur="1" fill="hold">
                                          <p:stCondLst>
                                            <p:cond delay="499"/>
                                          </p:stCondLst>
                                        </p:cTn>
                                        <p:tgtEl>
                                          <p:spTgt spid="5">
                                            <p:txEl>
                                              <p:pRg st="3" end="3"/>
                                            </p:txEl>
                                          </p:spTgt>
                                        </p:tgtEl>
                                        <p:attrNameLst>
                                          <p:attrName>style.visibility</p:attrName>
                                        </p:attrNameLst>
                                      </p:cBhvr>
                                      <p:to>
                                        <p:strVal val="hidden"/>
                                      </p:to>
                                    </p:set>
                                  </p:childTnLst>
                                </p:cTn>
                              </p:par>
                              <p:par>
                                <p:cTn id="82" presetID="3" presetClass="exit" presetSubtype="10" fill="hold" grpId="0" nodeType="withEffect">
                                  <p:stCondLst>
                                    <p:cond delay="0"/>
                                  </p:stCondLst>
                                  <p:childTnLst>
                                    <p:animEffect transition="out" filter="blinds(horizontal)">
                                      <p:cBhvr>
                                        <p:cTn id="83" dur="500"/>
                                        <p:tgtEl>
                                          <p:spTgt spid="5">
                                            <p:txEl>
                                              <p:pRg st="4" end="4"/>
                                            </p:txEl>
                                          </p:spTgt>
                                        </p:tgtEl>
                                      </p:cBhvr>
                                    </p:animEffect>
                                    <p:set>
                                      <p:cBhvr>
                                        <p:cTn id="84" dur="1" fill="hold">
                                          <p:stCondLst>
                                            <p:cond delay="499"/>
                                          </p:stCondLst>
                                        </p:cTn>
                                        <p:tgtEl>
                                          <p:spTgt spid="5">
                                            <p:txEl>
                                              <p:pRg st="4" end="4"/>
                                            </p:txEl>
                                          </p:spTgt>
                                        </p:tgtEl>
                                        <p:attrNameLst>
                                          <p:attrName>style.visibility</p:attrName>
                                        </p:attrNameLst>
                                      </p:cBhvr>
                                      <p:to>
                                        <p:strVal val="hidden"/>
                                      </p:to>
                                    </p:set>
                                  </p:childTnLst>
                                </p:cTn>
                              </p:par>
                              <p:par>
                                <p:cTn id="85" presetID="3" presetClass="exit" presetSubtype="10" fill="hold" grpId="1" nodeType="withEffect">
                                  <p:stCondLst>
                                    <p:cond delay="0"/>
                                  </p:stCondLst>
                                  <p:childTnLst>
                                    <p:animEffect transition="out" filter="blinds(horizontal)">
                                      <p:cBhvr>
                                        <p:cTn id="86" dur="500"/>
                                        <p:tgtEl>
                                          <p:spTgt spid="15"/>
                                        </p:tgtEl>
                                      </p:cBhvr>
                                    </p:animEffect>
                                    <p:set>
                                      <p:cBhvr>
                                        <p:cTn id="87" dur="1" fill="hold">
                                          <p:stCondLst>
                                            <p:cond delay="499"/>
                                          </p:stCondLst>
                                        </p:cTn>
                                        <p:tgtEl>
                                          <p:spTgt spid="15"/>
                                        </p:tgtEl>
                                        <p:attrNameLst>
                                          <p:attrName>style.visibility</p:attrName>
                                        </p:attrNameLst>
                                      </p:cBhvr>
                                      <p:to>
                                        <p:strVal val="hidden"/>
                                      </p:to>
                                    </p:set>
                                  </p:childTnLst>
                                </p:cTn>
                              </p:par>
                              <p:par>
                                <p:cTn id="88" presetID="3" presetClass="exit" presetSubtype="10" fill="hold" grpId="1" nodeType="withEffect">
                                  <p:stCondLst>
                                    <p:cond delay="0"/>
                                  </p:stCondLst>
                                  <p:childTnLst>
                                    <p:animEffect transition="out" filter="blinds(horizontal)">
                                      <p:cBhvr>
                                        <p:cTn id="89" dur="500"/>
                                        <p:tgtEl>
                                          <p:spTgt spid="16"/>
                                        </p:tgtEl>
                                      </p:cBhvr>
                                    </p:animEffect>
                                    <p:set>
                                      <p:cBhvr>
                                        <p:cTn id="90" dur="1" fill="hold">
                                          <p:stCondLst>
                                            <p:cond delay="499"/>
                                          </p:stCondLst>
                                        </p:cTn>
                                        <p:tgtEl>
                                          <p:spTgt spid="16"/>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1752600" y="76200"/>
            <a:ext cx="6172200" cy="646331"/>
          </a:xfrm>
          <a:prstGeom prst="rect">
            <a:avLst/>
          </a:prstGeom>
          <a:noFill/>
        </p:spPr>
        <p:txBody>
          <a:bodyPr wrap="square" rtlCol="0">
            <a:spAutoFit/>
          </a:bodyPr>
          <a:lstStyle/>
          <a:p>
            <a:pPr algn="ctr"/>
            <a:r>
              <a:rPr lang="en-US" sz="3600" dirty="0" smtClean="0"/>
              <a:t>Complete Limit Order Book</a:t>
            </a:r>
            <a:endParaRPr lang="en-US" sz="3600" dirty="0"/>
          </a:p>
        </p:txBody>
      </p:sp>
      <p:graphicFrame>
        <p:nvGraphicFramePr>
          <p:cNvPr id="7" name="Table 6"/>
          <p:cNvGraphicFramePr>
            <a:graphicFrameLocks noGrp="1"/>
          </p:cNvGraphicFramePr>
          <p:nvPr>
            <p:extLst>
              <p:ext uri="{D42A27DB-BD31-4B8C-83A1-F6EECF244321}">
                <p14:modId xmlns:p14="http://schemas.microsoft.com/office/powerpoint/2010/main" val="342512137"/>
              </p:ext>
            </p:extLst>
          </p:nvPr>
        </p:nvGraphicFramePr>
        <p:xfrm>
          <a:off x="1219199" y="761998"/>
          <a:ext cx="6705601" cy="1981202"/>
        </p:xfrm>
        <a:graphic>
          <a:graphicData uri="http://schemas.openxmlformats.org/drawingml/2006/table">
            <a:tbl>
              <a:tblPr>
                <a:tableStyleId>{5C22544A-7EE6-4342-B048-85BDC9FD1C3A}</a:tableStyleId>
              </a:tblPr>
              <a:tblGrid>
                <a:gridCol w="745067"/>
                <a:gridCol w="745067"/>
                <a:gridCol w="771519"/>
                <a:gridCol w="921386"/>
                <a:gridCol w="542294"/>
                <a:gridCol w="745067"/>
                <a:gridCol w="745067"/>
                <a:gridCol w="745067"/>
                <a:gridCol w="745067"/>
              </a:tblGrid>
              <a:tr h="397034">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pPr marL="0" algn="r" defTabSz="914400" rtl="0" eaLnBrk="1" fontAlgn="b" latinLnBrk="0" hangingPunct="1"/>
                      <a:r>
                        <a:rPr lang="en-US" sz="1600" u="none" strike="noStrike" kern="1200" dirty="0">
                          <a:solidFill>
                            <a:srgbClr val="C00000"/>
                          </a:solidFill>
                          <a:effectLst/>
                          <a:latin typeface="+mn-lt"/>
                          <a:ea typeface="+mn-ea"/>
                          <a:cs typeface="+mn-cs"/>
                        </a:rPr>
                        <a:t>Stock 1</a:t>
                      </a:r>
                    </a:p>
                  </a:txBody>
                  <a:tcPr marL="9525" marR="9525" marT="9525" marB="0" anchor="b"/>
                </a:tc>
                <a:tc>
                  <a:txBody>
                    <a:bodyPr/>
                    <a:lstStyle/>
                    <a:p>
                      <a:pPr marL="0" algn="r" defTabSz="914400" rtl="0" eaLnBrk="1" fontAlgn="b" latinLnBrk="0" hangingPunct="1"/>
                      <a:endParaRPr lang="en-US" sz="1600" u="none" strike="noStrike" kern="1200" dirty="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endParaRPr lang="en-US" sz="1600" u="none" strike="noStrike" kern="1200" dirty="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endParaRPr lang="en-US" sz="1600" u="none" strike="noStrike" kern="120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endParaRPr lang="en-US" sz="1600" u="none" strike="noStrike" kern="1200" dirty="0">
                        <a:solidFill>
                          <a:srgbClr val="C00000"/>
                        </a:solidFill>
                        <a:effectLst/>
                        <a:latin typeface="+mn-lt"/>
                        <a:ea typeface="+mn-ea"/>
                        <a:cs typeface="+mn-cs"/>
                      </a:endParaRPr>
                    </a:p>
                  </a:txBody>
                  <a:tcPr marL="9525" marR="9525" marT="9525" marB="0" anchor="b"/>
                </a:tc>
                <a:tc>
                  <a:txBody>
                    <a:bodyPr/>
                    <a:lstStyle/>
                    <a:p>
                      <a:pPr marL="0" algn="r" defTabSz="914400" rtl="0" eaLnBrk="1" fontAlgn="b" latinLnBrk="0" hangingPunct="1"/>
                      <a:r>
                        <a:rPr lang="en-US" sz="1600" u="none" strike="noStrike" kern="1200" dirty="0">
                          <a:solidFill>
                            <a:srgbClr val="C00000"/>
                          </a:solidFill>
                          <a:effectLst/>
                          <a:latin typeface="+mn-lt"/>
                          <a:ea typeface="+mn-ea"/>
                          <a:cs typeface="+mn-cs"/>
                        </a:rPr>
                        <a:t>Stock 2</a:t>
                      </a:r>
                    </a:p>
                  </a:txBody>
                  <a:tcPr marL="9525" marR="9525" marT="9525" marB="0" anchor="b"/>
                </a:tc>
                <a:tc>
                  <a:txBody>
                    <a:bodyPr/>
                    <a:lstStyle/>
                    <a:p>
                      <a:pPr algn="l" fontAlgn="b"/>
                      <a:endParaRPr lang="en-US" sz="1100" b="0" i="0" u="none" strike="noStrike">
                        <a:solidFill>
                          <a:srgbClr val="000000"/>
                        </a:solidFill>
                        <a:effectLst/>
                        <a:latin typeface="Calibri"/>
                      </a:endParaRPr>
                    </a:p>
                  </a:txBody>
                  <a:tcPr marL="9525" marR="9525" marT="9525" marB="0" anchor="b"/>
                </a:tc>
                <a:tc>
                  <a:txBody>
                    <a:bodyPr/>
                    <a:lstStyle/>
                    <a:p>
                      <a:pPr algn="l" fontAlgn="b"/>
                      <a:endParaRPr lang="en-US" sz="1100" b="0" i="0" u="none" strike="noStrike">
                        <a:solidFill>
                          <a:srgbClr val="000000"/>
                        </a:solidFill>
                        <a:effectLst/>
                        <a:latin typeface="Calibri"/>
                      </a:endParaRPr>
                    </a:p>
                  </a:txBody>
                  <a:tcPr marL="9525" marR="9525" marT="9525" marB="0" anchor="b"/>
                </a:tc>
              </a:tr>
              <a:tr h="264028">
                <a:tc>
                  <a:txBody>
                    <a:bodyPr/>
                    <a:lstStyle/>
                    <a:p>
                      <a:pPr algn="ctr" fontAlgn="ctr"/>
                      <a:r>
                        <a:rPr lang="en-US" sz="1600" u="none" strike="noStrike" kern="1200" dirty="0">
                          <a:solidFill>
                            <a:schemeClr val="dk1"/>
                          </a:solidFill>
                          <a:effectLst/>
                          <a:latin typeface="+mn-lt"/>
                          <a:ea typeface="+mn-ea"/>
                          <a:cs typeface="+mn-cs"/>
                        </a:rPr>
                        <a:t>Bid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algn="ctr" fontAlgn="ctr"/>
                      <a:r>
                        <a:rPr lang="en-US" sz="1600" u="none" strike="noStrike" kern="1200" dirty="0">
                          <a:solidFill>
                            <a:schemeClr val="dk1"/>
                          </a:solidFill>
                          <a:effectLst/>
                          <a:latin typeface="+mn-lt"/>
                          <a:ea typeface="+mn-ea"/>
                          <a:cs typeface="+mn-cs"/>
                        </a:rPr>
                        <a:t>Bid</a:t>
                      </a:r>
                    </a:p>
                  </a:txBody>
                  <a:tcPr marL="9525" marR="9525" marT="9525" marB="0" anchor="ctr">
                    <a:solidFill>
                      <a:srgbClr val="92D050"/>
                    </a:solidFill>
                  </a:tcPr>
                </a:tc>
                <a:tc>
                  <a:txBody>
                    <a:bodyPr/>
                    <a:lstStyle/>
                    <a:p>
                      <a:pPr algn="ctr" fontAlgn="ctr"/>
                      <a:r>
                        <a:rPr lang="en-US" sz="1600" u="none" strike="noStrike" kern="1200" dirty="0">
                          <a:solidFill>
                            <a:schemeClr val="dk1"/>
                          </a:solidFill>
                          <a:effectLst/>
                          <a:latin typeface="+mn-lt"/>
                          <a:ea typeface="+mn-ea"/>
                          <a:cs typeface="+mn-cs"/>
                        </a:rPr>
                        <a:t>Ask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algn="ctr" fontAlgn="ctr"/>
                      <a:r>
                        <a:rPr lang="en-US" sz="1600" u="none" strike="noStrike" kern="1200" dirty="0">
                          <a:solidFill>
                            <a:schemeClr val="dk1"/>
                          </a:solidFill>
                          <a:effectLst/>
                          <a:latin typeface="+mn-lt"/>
                          <a:ea typeface="+mn-ea"/>
                          <a:cs typeface="+mn-cs"/>
                        </a:rPr>
                        <a:t>Ask</a:t>
                      </a:r>
                    </a:p>
                  </a:txBody>
                  <a:tcPr marL="9525" marR="9525" marT="9525" marB="0" anchor="ctr">
                    <a:solidFill>
                      <a:srgbClr val="92D050"/>
                    </a:solidFill>
                  </a:tcPr>
                </a:tc>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Bid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Bid</a:t>
                      </a: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Ask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Ask</a:t>
                      </a:r>
                    </a:p>
                  </a:txBody>
                  <a:tcPr marL="9525" marR="9525" marT="9525" marB="0" anchor="ctr">
                    <a:solidFill>
                      <a:srgbClr val="92D050"/>
                    </a:solidFill>
                  </a:tcPr>
                </a:tc>
              </a:tr>
              <a:tr h="264028">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a:t>
                      </a: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21</a:t>
                      </a:r>
                    </a:p>
                  </a:txBody>
                  <a:tcPr marL="9525" marR="9525" marT="9525" marB="0" anchor="b"/>
                </a:tc>
                <a:tc>
                  <a:txBody>
                    <a:bodyPr/>
                    <a:lstStyle/>
                    <a:p>
                      <a:pPr marL="0" algn="ctr" defTabSz="914400" rtl="0" eaLnBrk="1" fontAlgn="b" latinLnBrk="0" hangingPunct="1"/>
                      <a:endParaRPr lang="en-US" sz="1600" b="1" u="none" strike="noStrike" kern="120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a:t>
                      </a: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21</a:t>
                      </a:r>
                    </a:p>
                  </a:txBody>
                  <a:tcPr marL="9525" marR="9525" marT="9525" marB="0" anchor="b"/>
                </a:tc>
              </a:tr>
              <a:tr h="264028">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18</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24</a:t>
                      </a:r>
                    </a:p>
                  </a:txBody>
                  <a:tcPr marL="9525" marR="9525" marT="9525" marB="0" anchor="b"/>
                </a:tc>
                <a:tc>
                  <a:txBody>
                    <a:bodyPr/>
                    <a:lstStyle/>
                    <a:p>
                      <a:pPr marL="0" algn="ctr" defTabSz="914400" rtl="0" eaLnBrk="1" fontAlgn="b" latinLnBrk="0" hangingPunct="1"/>
                      <a:endParaRPr lang="en-US" sz="1600" b="1" u="none" strike="noStrike" kern="120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19</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22</a:t>
                      </a:r>
                    </a:p>
                  </a:txBody>
                  <a:tcPr marL="9525" marR="9525" marT="9525" marB="0" anchor="b"/>
                </a:tc>
              </a:tr>
              <a:tr h="264028">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15</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100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26</a:t>
                      </a:r>
                    </a:p>
                  </a:txBody>
                  <a:tcPr marL="9525" marR="9525" marT="9525" marB="0" anchor="b"/>
                </a:tc>
                <a:tc>
                  <a:txBody>
                    <a:bodyPr/>
                    <a:lstStyle/>
                    <a:p>
                      <a:pPr marL="0" algn="ctr" defTabSz="914400" rtl="0" eaLnBrk="1" fontAlgn="b" latinLnBrk="0" hangingPunct="1"/>
                      <a:endParaRPr lang="en-US" sz="1600" b="1" u="none" strike="noStrike" kern="120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18</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23</a:t>
                      </a:r>
                    </a:p>
                  </a:txBody>
                  <a:tcPr marL="9525" marR="9525" marT="9525" marB="0" anchor="b"/>
                </a:tc>
              </a:tr>
              <a:tr h="264028">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12</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29</a:t>
                      </a:r>
                    </a:p>
                  </a:txBody>
                  <a:tcPr marL="9525" marR="9525" marT="9525" marB="0" anchor="b"/>
                </a:tc>
                <a:tc>
                  <a:txBody>
                    <a:bodyPr/>
                    <a:lstStyle/>
                    <a:p>
                      <a:pPr marL="0" algn="ctr" defTabSz="914400" rtl="0" eaLnBrk="1" fontAlgn="b" latinLnBrk="0" hangingPunct="1"/>
                      <a:endParaRPr lang="en-US" sz="1600" b="1" u="none" strike="noStrike" kern="120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800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17</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800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24</a:t>
                      </a:r>
                    </a:p>
                  </a:txBody>
                  <a:tcPr marL="9525" marR="9525" marT="9525" marB="0" anchor="b"/>
                </a:tc>
              </a:tr>
              <a:tr h="264028">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1200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1200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31</a:t>
                      </a:r>
                    </a:p>
                  </a:txBody>
                  <a:tcPr marL="9525" marR="9525" marT="9525" marB="0" anchor="b"/>
                </a:tc>
                <a:tc>
                  <a:txBody>
                    <a:bodyPr/>
                    <a:lstStyle/>
                    <a:p>
                      <a:pPr marL="0" algn="ctr" defTabSz="914400" rtl="0" eaLnBrk="1" fontAlgn="b" latinLnBrk="0" hangingPunct="1"/>
                      <a:endParaRPr lang="en-US" sz="1600" b="1" u="none" strike="noStrike" kern="120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600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16</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600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25</a:t>
                      </a:r>
                    </a:p>
                  </a:txBody>
                  <a:tcPr marL="9525" marR="9525" marT="9525" marB="0" anchor="b"/>
                </a:tc>
              </a:tr>
            </a:tbl>
          </a:graphicData>
        </a:graphic>
      </p:graphicFrame>
      <p:sp>
        <p:nvSpPr>
          <p:cNvPr id="6" name="TextBox 5"/>
          <p:cNvSpPr txBox="1"/>
          <p:nvPr/>
        </p:nvSpPr>
        <p:spPr>
          <a:xfrm>
            <a:off x="609600" y="2816185"/>
            <a:ext cx="8610600" cy="1908215"/>
          </a:xfrm>
          <a:prstGeom prst="rect">
            <a:avLst/>
          </a:prstGeom>
          <a:noFill/>
        </p:spPr>
        <p:txBody>
          <a:bodyPr wrap="square" rtlCol="0">
            <a:spAutoFit/>
          </a:bodyPr>
          <a:lstStyle/>
          <a:p>
            <a:r>
              <a:rPr lang="en-US" sz="2800" dirty="0" smtClean="0"/>
              <a:t>To Buy 0.1% of average daily volume =1000 shares:</a:t>
            </a:r>
          </a:p>
          <a:p>
            <a:endParaRPr lang="en-US" dirty="0" smtClean="0"/>
          </a:p>
          <a:p>
            <a:r>
              <a:rPr lang="en-US" dirty="0" smtClean="0"/>
              <a:t>For Stock 1, the order will have to walk up all the 5 steps</a:t>
            </a:r>
          </a:p>
          <a:p>
            <a:r>
              <a:rPr lang="en-US" dirty="0" smtClean="0"/>
              <a:t>For Stock 2, the order will have to walk up only 2 steps</a:t>
            </a:r>
          </a:p>
          <a:p>
            <a:endParaRPr lang="en-US" dirty="0" smtClean="0"/>
          </a:p>
          <a:p>
            <a:endParaRPr lang="en-US" dirty="0" smtClean="0"/>
          </a:p>
        </p:txBody>
      </p:sp>
      <p:sp>
        <p:nvSpPr>
          <p:cNvPr id="8" name="Rounded Rectangle 7"/>
          <p:cNvSpPr/>
          <p:nvPr/>
        </p:nvSpPr>
        <p:spPr>
          <a:xfrm>
            <a:off x="2667000" y="1447800"/>
            <a:ext cx="1524000" cy="1295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6400800" y="1447800"/>
            <a:ext cx="1447800" cy="533400"/>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97" name="Picture 1"/>
          <p:cNvPicPr>
            <a:picLocks noChangeAspect="1" noChangeArrowheads="1"/>
          </p:cNvPicPr>
          <p:nvPr/>
        </p:nvPicPr>
        <p:blipFill>
          <a:blip r:embed="rId4" cstate="print"/>
          <a:srcRect/>
          <a:stretch>
            <a:fillRect/>
          </a:stretch>
        </p:blipFill>
        <p:spPr bwMode="auto">
          <a:xfrm>
            <a:off x="0" y="3352800"/>
            <a:ext cx="4648200" cy="2895600"/>
          </a:xfrm>
          <a:prstGeom prst="rect">
            <a:avLst/>
          </a:prstGeom>
          <a:noFill/>
          <a:ln w="9525">
            <a:noFill/>
            <a:miter lim="800000"/>
            <a:headEnd/>
            <a:tailEnd/>
          </a:ln>
          <a:effectLst/>
        </p:spPr>
      </p:pic>
      <p:pic>
        <p:nvPicPr>
          <p:cNvPr id="29698" name="Picture 2"/>
          <p:cNvPicPr>
            <a:picLocks noChangeAspect="1" noChangeArrowheads="1"/>
          </p:cNvPicPr>
          <p:nvPr/>
        </p:nvPicPr>
        <p:blipFill>
          <a:blip r:embed="rId5" cstate="print"/>
          <a:srcRect/>
          <a:stretch>
            <a:fillRect/>
          </a:stretch>
        </p:blipFill>
        <p:spPr bwMode="auto">
          <a:xfrm>
            <a:off x="4572000" y="3352800"/>
            <a:ext cx="4572000" cy="2881313"/>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1772596785"/>
      </p:ext>
    </p:extLst>
  </p:cSld>
  <p:clrMapOvr>
    <a:masterClrMapping/>
  </p:clrMapOvr>
  <mc:AlternateContent xmlns:mc="http://schemas.openxmlformats.org/markup-compatibility/2006" xmlns:p14="http://schemas.microsoft.com/office/powerpoint/2010/main">
    <mc:Choice Requires="p14">
      <p:transition spd="med" p14:dur="700" advTm="554">
        <p:fade/>
      </p:transition>
    </mc:Choice>
    <mc:Fallback xmlns="">
      <p:transition spd="med" advTm="55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par>
                                <p:cTn id="13" presetID="26"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80">
                                          <p:stCondLst>
                                            <p:cond delay="0"/>
                                          </p:stCondLst>
                                        </p:cTn>
                                        <p:tgtEl>
                                          <p:spTgt spid="8"/>
                                        </p:tgtEl>
                                      </p:cBhvr>
                                    </p:animEffect>
                                    <p:anim calcmode="lin" valueType="num">
                                      <p:cBhvr>
                                        <p:cTn id="1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1" dur="26">
                                          <p:stCondLst>
                                            <p:cond delay="650"/>
                                          </p:stCondLst>
                                        </p:cTn>
                                        <p:tgtEl>
                                          <p:spTgt spid="8"/>
                                        </p:tgtEl>
                                      </p:cBhvr>
                                      <p:to x="100000" y="60000"/>
                                    </p:animScale>
                                    <p:animScale>
                                      <p:cBhvr>
                                        <p:cTn id="22" dur="166" decel="50000">
                                          <p:stCondLst>
                                            <p:cond delay="676"/>
                                          </p:stCondLst>
                                        </p:cTn>
                                        <p:tgtEl>
                                          <p:spTgt spid="8"/>
                                        </p:tgtEl>
                                      </p:cBhvr>
                                      <p:to x="100000" y="100000"/>
                                    </p:animScale>
                                    <p:animScale>
                                      <p:cBhvr>
                                        <p:cTn id="23" dur="26">
                                          <p:stCondLst>
                                            <p:cond delay="1312"/>
                                          </p:stCondLst>
                                        </p:cTn>
                                        <p:tgtEl>
                                          <p:spTgt spid="8"/>
                                        </p:tgtEl>
                                      </p:cBhvr>
                                      <p:to x="100000" y="80000"/>
                                    </p:animScale>
                                    <p:animScale>
                                      <p:cBhvr>
                                        <p:cTn id="24" dur="166" decel="50000">
                                          <p:stCondLst>
                                            <p:cond delay="1338"/>
                                          </p:stCondLst>
                                        </p:cTn>
                                        <p:tgtEl>
                                          <p:spTgt spid="8"/>
                                        </p:tgtEl>
                                      </p:cBhvr>
                                      <p:to x="100000" y="100000"/>
                                    </p:animScale>
                                    <p:animScale>
                                      <p:cBhvr>
                                        <p:cTn id="25" dur="26">
                                          <p:stCondLst>
                                            <p:cond delay="1642"/>
                                          </p:stCondLst>
                                        </p:cTn>
                                        <p:tgtEl>
                                          <p:spTgt spid="8"/>
                                        </p:tgtEl>
                                      </p:cBhvr>
                                      <p:to x="100000" y="90000"/>
                                    </p:animScale>
                                    <p:animScale>
                                      <p:cBhvr>
                                        <p:cTn id="26" dur="166" decel="50000">
                                          <p:stCondLst>
                                            <p:cond delay="1668"/>
                                          </p:stCondLst>
                                        </p:cTn>
                                        <p:tgtEl>
                                          <p:spTgt spid="8"/>
                                        </p:tgtEl>
                                      </p:cBhvr>
                                      <p:to x="100000" y="100000"/>
                                    </p:animScale>
                                    <p:animScale>
                                      <p:cBhvr>
                                        <p:cTn id="27" dur="26">
                                          <p:stCondLst>
                                            <p:cond delay="1808"/>
                                          </p:stCondLst>
                                        </p:cTn>
                                        <p:tgtEl>
                                          <p:spTgt spid="8"/>
                                        </p:tgtEl>
                                      </p:cBhvr>
                                      <p:to x="100000" y="95000"/>
                                    </p:animScale>
                                    <p:animScale>
                                      <p:cBhvr>
                                        <p:cTn id="28" dur="166" decel="50000">
                                          <p:stCondLst>
                                            <p:cond delay="1834"/>
                                          </p:stCondLst>
                                        </p:cTn>
                                        <p:tgtEl>
                                          <p:spTgt spid="8"/>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blinds(horizontal)">
                                      <p:cBhvr>
                                        <p:cTn id="33" dur="500"/>
                                        <p:tgtEl>
                                          <p:spTgt spid="6">
                                            <p:txEl>
                                              <p:pRg st="3" end="3"/>
                                            </p:txEl>
                                          </p:spTgt>
                                        </p:tgtEl>
                                      </p:cBhvr>
                                    </p:animEffect>
                                  </p:childTnLst>
                                </p:cTn>
                              </p:par>
                              <p:par>
                                <p:cTn id="34" presetID="26"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down)">
                                      <p:cBhvr>
                                        <p:cTn id="36" dur="580">
                                          <p:stCondLst>
                                            <p:cond delay="0"/>
                                          </p:stCondLst>
                                        </p:cTn>
                                        <p:tgtEl>
                                          <p:spTgt spid="9"/>
                                        </p:tgtEl>
                                      </p:cBhvr>
                                    </p:animEffect>
                                    <p:anim calcmode="lin" valueType="num">
                                      <p:cBhvr>
                                        <p:cTn id="37"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2" dur="26">
                                          <p:stCondLst>
                                            <p:cond delay="650"/>
                                          </p:stCondLst>
                                        </p:cTn>
                                        <p:tgtEl>
                                          <p:spTgt spid="9"/>
                                        </p:tgtEl>
                                      </p:cBhvr>
                                      <p:to x="100000" y="60000"/>
                                    </p:animScale>
                                    <p:animScale>
                                      <p:cBhvr>
                                        <p:cTn id="43" dur="166" decel="50000">
                                          <p:stCondLst>
                                            <p:cond delay="676"/>
                                          </p:stCondLst>
                                        </p:cTn>
                                        <p:tgtEl>
                                          <p:spTgt spid="9"/>
                                        </p:tgtEl>
                                      </p:cBhvr>
                                      <p:to x="100000" y="100000"/>
                                    </p:animScale>
                                    <p:animScale>
                                      <p:cBhvr>
                                        <p:cTn id="44" dur="26">
                                          <p:stCondLst>
                                            <p:cond delay="1312"/>
                                          </p:stCondLst>
                                        </p:cTn>
                                        <p:tgtEl>
                                          <p:spTgt spid="9"/>
                                        </p:tgtEl>
                                      </p:cBhvr>
                                      <p:to x="100000" y="80000"/>
                                    </p:animScale>
                                    <p:animScale>
                                      <p:cBhvr>
                                        <p:cTn id="45" dur="166" decel="50000">
                                          <p:stCondLst>
                                            <p:cond delay="1338"/>
                                          </p:stCondLst>
                                        </p:cTn>
                                        <p:tgtEl>
                                          <p:spTgt spid="9"/>
                                        </p:tgtEl>
                                      </p:cBhvr>
                                      <p:to x="100000" y="100000"/>
                                    </p:animScale>
                                    <p:animScale>
                                      <p:cBhvr>
                                        <p:cTn id="46" dur="26">
                                          <p:stCondLst>
                                            <p:cond delay="1642"/>
                                          </p:stCondLst>
                                        </p:cTn>
                                        <p:tgtEl>
                                          <p:spTgt spid="9"/>
                                        </p:tgtEl>
                                      </p:cBhvr>
                                      <p:to x="100000" y="90000"/>
                                    </p:animScale>
                                    <p:animScale>
                                      <p:cBhvr>
                                        <p:cTn id="47" dur="166" decel="50000">
                                          <p:stCondLst>
                                            <p:cond delay="1668"/>
                                          </p:stCondLst>
                                        </p:cTn>
                                        <p:tgtEl>
                                          <p:spTgt spid="9"/>
                                        </p:tgtEl>
                                      </p:cBhvr>
                                      <p:to x="100000" y="100000"/>
                                    </p:animScale>
                                    <p:animScale>
                                      <p:cBhvr>
                                        <p:cTn id="48" dur="26">
                                          <p:stCondLst>
                                            <p:cond delay="1808"/>
                                          </p:stCondLst>
                                        </p:cTn>
                                        <p:tgtEl>
                                          <p:spTgt spid="9"/>
                                        </p:tgtEl>
                                      </p:cBhvr>
                                      <p:to x="100000" y="95000"/>
                                    </p:animScale>
                                    <p:animScale>
                                      <p:cBhvr>
                                        <p:cTn id="49" dur="166" decel="50000">
                                          <p:stCondLst>
                                            <p:cond delay="1834"/>
                                          </p:stCondLst>
                                        </p:cTn>
                                        <p:tgtEl>
                                          <p:spTgt spid="9"/>
                                        </p:tgtEl>
                                      </p:cBhvr>
                                      <p:to x="100000" y="100000"/>
                                    </p:animScale>
                                  </p:childTnLst>
                                </p:cTn>
                              </p:par>
                            </p:childTnLst>
                          </p:cTn>
                        </p:par>
                      </p:childTnLst>
                    </p:cTn>
                  </p:par>
                  <p:par>
                    <p:cTn id="50" fill="hold">
                      <p:stCondLst>
                        <p:cond delay="indefinite"/>
                      </p:stCondLst>
                      <p:childTnLst>
                        <p:par>
                          <p:cTn id="51" fill="hold">
                            <p:stCondLst>
                              <p:cond delay="0"/>
                            </p:stCondLst>
                            <p:childTnLst>
                              <p:par>
                                <p:cTn id="52" presetID="3" presetClass="exit" presetSubtype="10" fill="hold" grpId="0" nodeType="clickEffect">
                                  <p:stCondLst>
                                    <p:cond delay="0"/>
                                  </p:stCondLst>
                                  <p:childTnLst>
                                    <p:animEffect transition="out" filter="blinds(horizontal)">
                                      <p:cBhvr>
                                        <p:cTn id="53" dur="500"/>
                                        <p:tgtEl>
                                          <p:spTgt spid="6">
                                            <p:txEl>
                                              <p:pRg st="0" end="0"/>
                                            </p:txEl>
                                          </p:spTgt>
                                        </p:tgtEl>
                                      </p:cBhvr>
                                    </p:animEffect>
                                    <p:set>
                                      <p:cBhvr>
                                        <p:cTn id="54" dur="1" fill="hold">
                                          <p:stCondLst>
                                            <p:cond delay="499"/>
                                          </p:stCondLst>
                                        </p:cTn>
                                        <p:tgtEl>
                                          <p:spTgt spid="6">
                                            <p:txEl>
                                              <p:pRg st="0" end="0"/>
                                            </p:txEl>
                                          </p:spTgt>
                                        </p:tgtEl>
                                        <p:attrNameLst>
                                          <p:attrName>style.visibility</p:attrName>
                                        </p:attrNameLst>
                                      </p:cBhvr>
                                      <p:to>
                                        <p:strVal val="hidden"/>
                                      </p:to>
                                    </p:set>
                                  </p:childTnLst>
                                </p:cTn>
                              </p:par>
                              <p:par>
                                <p:cTn id="55" presetID="3" presetClass="exit" presetSubtype="10" fill="hold" grpId="0" nodeType="withEffect">
                                  <p:stCondLst>
                                    <p:cond delay="0"/>
                                  </p:stCondLst>
                                  <p:childTnLst>
                                    <p:animEffect transition="out" filter="blinds(horizontal)">
                                      <p:cBhvr>
                                        <p:cTn id="56" dur="500"/>
                                        <p:tgtEl>
                                          <p:spTgt spid="6">
                                            <p:txEl>
                                              <p:pRg st="2" end="2"/>
                                            </p:txEl>
                                          </p:spTgt>
                                        </p:tgtEl>
                                      </p:cBhvr>
                                    </p:animEffect>
                                    <p:set>
                                      <p:cBhvr>
                                        <p:cTn id="57" dur="1" fill="hold">
                                          <p:stCondLst>
                                            <p:cond delay="499"/>
                                          </p:stCondLst>
                                        </p:cTn>
                                        <p:tgtEl>
                                          <p:spTgt spid="6">
                                            <p:txEl>
                                              <p:pRg st="2" end="2"/>
                                            </p:txEl>
                                          </p:spTgt>
                                        </p:tgtEl>
                                        <p:attrNameLst>
                                          <p:attrName>style.visibility</p:attrName>
                                        </p:attrNameLst>
                                      </p:cBhvr>
                                      <p:to>
                                        <p:strVal val="hidden"/>
                                      </p:to>
                                    </p:set>
                                  </p:childTnLst>
                                </p:cTn>
                              </p:par>
                              <p:par>
                                <p:cTn id="58" presetID="3" presetClass="exit" presetSubtype="10" fill="hold" grpId="0" nodeType="withEffect">
                                  <p:stCondLst>
                                    <p:cond delay="0"/>
                                  </p:stCondLst>
                                  <p:childTnLst>
                                    <p:animEffect transition="out" filter="blinds(horizontal)">
                                      <p:cBhvr>
                                        <p:cTn id="59" dur="500"/>
                                        <p:tgtEl>
                                          <p:spTgt spid="6">
                                            <p:txEl>
                                              <p:pRg st="3" end="3"/>
                                            </p:txEl>
                                          </p:spTgt>
                                        </p:tgtEl>
                                      </p:cBhvr>
                                    </p:animEffect>
                                    <p:set>
                                      <p:cBhvr>
                                        <p:cTn id="60" dur="1" fill="hold">
                                          <p:stCondLst>
                                            <p:cond delay="499"/>
                                          </p:stCondLst>
                                        </p:cTn>
                                        <p:tgtEl>
                                          <p:spTgt spid="6">
                                            <p:txEl>
                                              <p:pRg st="3" end="3"/>
                                            </p:txEl>
                                          </p:spTgt>
                                        </p:tgtEl>
                                        <p:attrNameLst>
                                          <p:attrName>style.visibility</p:attrName>
                                        </p:attrNameLst>
                                      </p:cBhvr>
                                      <p:to>
                                        <p:strVal val="hidden"/>
                                      </p:to>
                                    </p:set>
                                  </p:childTnLst>
                                </p:cTn>
                              </p:par>
                              <p:par>
                                <p:cTn id="61" presetID="3" presetClass="exit" presetSubtype="10" fill="hold" grpId="1" nodeType="withEffect">
                                  <p:stCondLst>
                                    <p:cond delay="0"/>
                                  </p:stCondLst>
                                  <p:childTnLst>
                                    <p:animEffect transition="out" filter="blinds(horizontal)">
                                      <p:cBhvr>
                                        <p:cTn id="62" dur="500"/>
                                        <p:tgtEl>
                                          <p:spTgt spid="9"/>
                                        </p:tgtEl>
                                      </p:cBhvr>
                                    </p:animEffect>
                                    <p:set>
                                      <p:cBhvr>
                                        <p:cTn id="63" dur="1" fill="hold">
                                          <p:stCondLst>
                                            <p:cond delay="499"/>
                                          </p:stCondLst>
                                        </p:cTn>
                                        <p:tgtEl>
                                          <p:spTgt spid="9"/>
                                        </p:tgtEl>
                                        <p:attrNameLst>
                                          <p:attrName>style.visibility</p:attrName>
                                        </p:attrNameLst>
                                      </p:cBhvr>
                                      <p:to>
                                        <p:strVal val="hidden"/>
                                      </p:to>
                                    </p:set>
                                  </p:childTnLst>
                                </p:cTn>
                              </p:par>
                              <p:par>
                                <p:cTn id="64" presetID="3" presetClass="exit" presetSubtype="10" fill="hold" grpId="1" nodeType="withEffect">
                                  <p:stCondLst>
                                    <p:cond delay="0"/>
                                  </p:stCondLst>
                                  <p:childTnLst>
                                    <p:animEffect transition="out" filter="blinds(horizontal)">
                                      <p:cBhvr>
                                        <p:cTn id="65" dur="500"/>
                                        <p:tgtEl>
                                          <p:spTgt spid="8"/>
                                        </p:tgtEl>
                                      </p:cBhvr>
                                    </p:animEffect>
                                    <p:set>
                                      <p:cBhvr>
                                        <p:cTn id="66" dur="1" fill="hold">
                                          <p:stCondLst>
                                            <p:cond delay="499"/>
                                          </p:stCondLst>
                                        </p:cTn>
                                        <p:tgtEl>
                                          <p:spTgt spid="8"/>
                                        </p:tgtEl>
                                        <p:attrNameLst>
                                          <p:attrName>style.visibility</p:attrName>
                                        </p:attrNameLst>
                                      </p:cBhvr>
                                      <p:to>
                                        <p:strVal val="hidden"/>
                                      </p:to>
                                    </p:set>
                                  </p:childTnLst>
                                </p:cTn>
                              </p:par>
                              <p:par>
                                <p:cTn id="67" presetID="3" presetClass="entr" presetSubtype="10" fill="hold" nodeType="withEffect">
                                  <p:stCondLst>
                                    <p:cond delay="0"/>
                                  </p:stCondLst>
                                  <p:childTnLst>
                                    <p:set>
                                      <p:cBhvr>
                                        <p:cTn id="68" dur="1" fill="hold">
                                          <p:stCondLst>
                                            <p:cond delay="0"/>
                                          </p:stCondLst>
                                        </p:cTn>
                                        <p:tgtEl>
                                          <p:spTgt spid="29697"/>
                                        </p:tgtEl>
                                        <p:attrNameLst>
                                          <p:attrName>style.visibility</p:attrName>
                                        </p:attrNameLst>
                                      </p:cBhvr>
                                      <p:to>
                                        <p:strVal val="visible"/>
                                      </p:to>
                                    </p:set>
                                    <p:animEffect transition="in" filter="blinds(horizontal)">
                                      <p:cBhvr>
                                        <p:cTn id="69" dur="500"/>
                                        <p:tgtEl>
                                          <p:spTgt spid="29697"/>
                                        </p:tgtEl>
                                      </p:cBhvr>
                                    </p:animEffect>
                                  </p:childTnLst>
                                </p:cTn>
                              </p:par>
                              <p:par>
                                <p:cTn id="70" presetID="3" presetClass="entr" presetSubtype="10" fill="hold" nodeType="withEffect">
                                  <p:stCondLst>
                                    <p:cond delay="0"/>
                                  </p:stCondLst>
                                  <p:childTnLst>
                                    <p:set>
                                      <p:cBhvr>
                                        <p:cTn id="71" dur="1" fill="hold">
                                          <p:stCondLst>
                                            <p:cond delay="0"/>
                                          </p:stCondLst>
                                        </p:cTn>
                                        <p:tgtEl>
                                          <p:spTgt spid="29698"/>
                                        </p:tgtEl>
                                        <p:attrNameLst>
                                          <p:attrName>style.visibility</p:attrName>
                                        </p:attrNameLst>
                                      </p:cBhvr>
                                      <p:to>
                                        <p:strVal val="visible"/>
                                      </p:to>
                                    </p:set>
                                    <p:animEffect transition="in" filter="blinds(horizontal)">
                                      <p:cBhvr>
                                        <p:cTn id="72"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animBg="1"/>
      <p:bldP spid="8" grpId="1" animBg="1"/>
      <p:bldP spid="9" grpId="0" animBg="1"/>
      <p:bldP spid="9" grpId="1"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752600"/>
            <a:ext cx="9296400" cy="5867400"/>
          </a:xfrm>
        </p:spPr>
        <p:txBody>
          <a:bodyPr>
            <a:noAutofit/>
          </a:bodyPr>
          <a:lstStyle/>
          <a:p>
            <a:pPr>
              <a:buFont typeface="Wingdings" pitchFamily="2" charset="2"/>
              <a:buChar char="ü"/>
            </a:pPr>
            <a:r>
              <a:rPr lang="en-US" sz="2600" dirty="0" smtClean="0">
                <a:effectLst/>
              </a:rPr>
              <a:t>Limit Order Book Slope:</a:t>
            </a:r>
          </a:p>
          <a:p>
            <a:pPr marL="0" indent="0">
              <a:buNone/>
            </a:pPr>
            <a:r>
              <a:rPr lang="en-US" sz="2600" dirty="0" smtClean="0">
                <a:effectLst/>
              </a:rPr>
              <a:t>(</a:t>
            </a:r>
            <a:r>
              <a:rPr lang="en-US" sz="2600" dirty="0" err="1" smtClean="0">
                <a:effectLst/>
              </a:rPr>
              <a:t>Naes</a:t>
            </a:r>
            <a:r>
              <a:rPr lang="en-US" sz="2600" dirty="0" smtClean="0">
                <a:effectLst/>
              </a:rPr>
              <a:t> &amp; </a:t>
            </a:r>
            <a:r>
              <a:rPr lang="en-US" sz="2600" dirty="0" err="1" smtClean="0">
                <a:effectLst/>
              </a:rPr>
              <a:t>Skjeltorp</a:t>
            </a:r>
            <a:r>
              <a:rPr lang="en-US" sz="2600" dirty="0" smtClean="0">
                <a:effectLst/>
              </a:rPr>
              <a:t>, 2006)</a:t>
            </a:r>
          </a:p>
          <a:p>
            <a:pPr marL="0" indent="0">
              <a:buNone/>
            </a:pPr>
            <a:endParaRPr lang="en-US" sz="2600" dirty="0" smtClean="0">
              <a:effectLst/>
            </a:endParaRPr>
          </a:p>
          <a:p>
            <a:pPr>
              <a:buFont typeface="Wingdings" pitchFamily="2" charset="2"/>
              <a:buChar char="ü"/>
            </a:pPr>
            <a:r>
              <a:rPr lang="en-US" sz="2600" dirty="0" smtClean="0">
                <a:effectLst/>
              </a:rPr>
              <a:t>LOB Cost of Immediacy:</a:t>
            </a:r>
          </a:p>
          <a:p>
            <a:pPr>
              <a:buNone/>
            </a:pPr>
            <a:r>
              <a:rPr lang="en-US" sz="2600" dirty="0" smtClean="0">
                <a:effectLst/>
              </a:rPr>
              <a:t>(</a:t>
            </a:r>
            <a:r>
              <a:rPr lang="en-US" sz="2600" dirty="0" err="1" smtClean="0">
                <a:effectLst/>
              </a:rPr>
              <a:t>Benston</a:t>
            </a:r>
            <a:r>
              <a:rPr lang="en-US" sz="2600" dirty="0" smtClean="0">
                <a:effectLst/>
              </a:rPr>
              <a:t>, Irvine, and </a:t>
            </a:r>
          </a:p>
          <a:p>
            <a:pPr>
              <a:buNone/>
            </a:pPr>
            <a:r>
              <a:rPr lang="en-US" sz="2600" dirty="0" smtClean="0">
                <a:effectLst/>
              </a:rPr>
              <a:t>Kandel,2002) </a:t>
            </a:r>
          </a:p>
          <a:p>
            <a:pPr>
              <a:buFont typeface="Wingdings" pitchFamily="2" charset="2"/>
              <a:buChar char="ü"/>
            </a:pPr>
            <a:endParaRPr lang="en-US" sz="2600" dirty="0" smtClean="0">
              <a:effectLst/>
            </a:endParaRPr>
          </a:p>
          <a:p>
            <a:pPr>
              <a:buNone/>
            </a:pPr>
            <a:endParaRPr lang="en-US" sz="2600" dirty="0" smtClean="0">
              <a:effectLst/>
            </a:endParaRPr>
          </a:p>
          <a:p>
            <a:pPr>
              <a:buFont typeface="Wingdings" pitchFamily="2" charset="2"/>
              <a:buChar char="ü"/>
            </a:pPr>
            <a:r>
              <a:rPr lang="en-US" sz="2600" dirty="0" smtClean="0">
                <a:effectLst/>
              </a:rPr>
              <a:t>Traditional Measures: Proportionate Spreads, Depth, Number of Trades, Average Trade Size.</a:t>
            </a:r>
          </a:p>
          <a:p>
            <a:pPr>
              <a:buFont typeface="Wingdings" pitchFamily="2" charset="2"/>
              <a:buChar char="ü"/>
            </a:pPr>
            <a:r>
              <a:rPr lang="en-US" sz="2600" dirty="0" smtClean="0">
                <a:effectLst/>
              </a:rPr>
              <a:t>Advanced measures: Quotes-to-trade ratio (Hasbrouck and Saar, 2012; </a:t>
            </a:r>
            <a:r>
              <a:rPr lang="en-US" sz="2600" dirty="0" err="1" smtClean="0">
                <a:effectLst/>
              </a:rPr>
              <a:t>Hendershott</a:t>
            </a:r>
            <a:r>
              <a:rPr lang="en-US" sz="2600" dirty="0" smtClean="0">
                <a:effectLst/>
              </a:rPr>
              <a:t>, Jones, and </a:t>
            </a:r>
            <a:r>
              <a:rPr lang="en-US" sz="2600" dirty="0" err="1" smtClean="0">
                <a:effectLst/>
              </a:rPr>
              <a:t>Menkveld</a:t>
            </a:r>
            <a:r>
              <a:rPr lang="en-US" sz="2600" dirty="0" smtClean="0">
                <a:effectLst/>
              </a:rPr>
              <a:t>, 2011) </a:t>
            </a:r>
            <a:endParaRPr lang="en-US" sz="2600" dirty="0">
              <a:effectLst/>
            </a:endParaRPr>
          </a:p>
          <a:p>
            <a:pPr marL="0" indent="0">
              <a:buNone/>
            </a:pPr>
            <a:endParaRPr lang="en-US" sz="2600" dirty="0">
              <a:effectLst/>
            </a:endParaRPr>
          </a:p>
          <a:p>
            <a:pPr marL="0" indent="0">
              <a:buNone/>
            </a:pPr>
            <a:endParaRPr lang="en-US" sz="2600" dirty="0" smtClean="0">
              <a:effectLst/>
            </a:endParaRPr>
          </a:p>
          <a:p>
            <a:pPr marL="0" indent="0">
              <a:buNone/>
            </a:pPr>
            <a:endParaRPr lang="en-US" sz="2600" dirty="0">
              <a:effectLst/>
            </a:endParaRPr>
          </a:p>
          <a:p>
            <a:pPr marL="0" indent="0">
              <a:buNone/>
            </a:pPr>
            <a:endParaRPr lang="en-US" sz="2600" dirty="0">
              <a:effectLst/>
            </a:endParaRPr>
          </a:p>
          <a:p>
            <a:pPr>
              <a:buFont typeface="Wingdings" pitchFamily="2" charset="2"/>
              <a:buChar char="ü"/>
            </a:pPr>
            <a:endParaRPr lang="en-US" sz="2600" dirty="0" smtClean="0">
              <a:effectLst/>
            </a:endParaRPr>
          </a:p>
          <a:p>
            <a:pPr>
              <a:buFont typeface="Wingdings" pitchFamily="2" charset="2"/>
              <a:buChar char="ü"/>
            </a:pPr>
            <a:endParaRPr lang="en-US" sz="2600" dirty="0">
              <a:effectLst/>
            </a:endParaRPr>
          </a:p>
        </p:txBody>
      </p:sp>
      <p:pic>
        <p:nvPicPr>
          <p:cNvPr id="4" name="Picture 3"/>
          <p:cNvPicPr/>
          <p:nvPr/>
        </p:nvPicPr>
        <p:blipFill>
          <a:blip r:embed="rId4" cstate="print"/>
          <a:srcRect/>
          <a:stretch>
            <a:fillRect/>
          </a:stretch>
        </p:blipFill>
        <p:spPr bwMode="auto">
          <a:xfrm>
            <a:off x="3886200" y="1676400"/>
            <a:ext cx="5181600" cy="1295400"/>
          </a:xfrm>
          <a:prstGeom prst="rect">
            <a:avLst/>
          </a:prstGeom>
          <a:noFill/>
          <a:ln w="9525">
            <a:noFill/>
            <a:miter lim="800000"/>
            <a:headEnd/>
            <a:tailEnd/>
          </a:ln>
        </p:spPr>
      </p:pic>
      <p:pic>
        <p:nvPicPr>
          <p:cNvPr id="6" name="Picture 5"/>
          <p:cNvPicPr/>
          <p:nvPr/>
        </p:nvPicPr>
        <p:blipFill>
          <a:blip r:embed="rId5" cstate="print"/>
          <a:srcRect/>
          <a:stretch>
            <a:fillRect/>
          </a:stretch>
        </p:blipFill>
        <p:spPr bwMode="auto">
          <a:xfrm>
            <a:off x="3886200" y="2971800"/>
            <a:ext cx="5181600" cy="1905000"/>
          </a:xfrm>
          <a:prstGeom prst="rect">
            <a:avLst/>
          </a:prstGeom>
          <a:noFill/>
          <a:ln w="9525">
            <a:noFill/>
            <a:miter lim="800000"/>
            <a:headEnd/>
            <a:tailEnd/>
          </a:ln>
        </p:spPr>
      </p:pic>
      <p:sp>
        <p:nvSpPr>
          <p:cNvPr id="9" name="Rectangle 4"/>
          <p:cNvSpPr>
            <a:spLocks noChangeArrowheads="1"/>
          </p:cNvSpPr>
          <p:nvPr/>
        </p:nvSpPr>
        <p:spPr bwMode="auto">
          <a:xfrm>
            <a:off x="2286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10" name="Rectangle 2"/>
          <p:cNvSpPr txBox="1">
            <a:spLocks noChangeArrowheads="1"/>
          </p:cNvSpPr>
          <p:nvPr/>
        </p:nvSpPr>
        <p:spPr bwMode="blackWhite">
          <a:xfrm>
            <a:off x="3810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marL="0" marR="0" lvl="0" indent="0" algn="ctr" defTabSz="914400" rtl="0" eaLnBrk="0" fontAlgn="base" latinLnBrk="0" hangingPunct="0">
              <a:lnSpc>
                <a:spcPct val="85000"/>
              </a:lnSpc>
              <a:spcBef>
                <a:spcPct val="10000"/>
              </a:spcBef>
              <a:spcAft>
                <a:spcPct val="0"/>
              </a:spcAft>
              <a:buClrTx/>
              <a:buSzTx/>
              <a:buFontTx/>
              <a:buNone/>
              <a:tabLst/>
              <a:defRPr/>
            </a:pPr>
            <a:r>
              <a:rPr kumimoji="0" lang="en-US" sz="48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j-lt"/>
                <a:ea typeface="+mj-ea"/>
                <a:cs typeface="+mj-cs"/>
              </a:rPr>
              <a:t>Liquidity</a:t>
            </a:r>
            <a:r>
              <a:rPr kumimoji="0" lang="en-US" sz="4800" b="1" i="0" u="none" strike="noStrike" kern="0" cap="none" spc="0" normalizeH="0" noProof="0" dirty="0" smtClean="0">
                <a:ln>
                  <a:noFill/>
                </a:ln>
                <a:solidFill>
                  <a:schemeClr val="bg1"/>
                </a:solidFill>
                <a:effectLst>
                  <a:outerShdw blurRad="38100" dist="38100" dir="2700000" algn="tl">
                    <a:srgbClr val="000000"/>
                  </a:outerShdw>
                </a:effectLst>
                <a:uLnTx/>
                <a:uFillTx/>
                <a:latin typeface="+mj-lt"/>
                <a:ea typeface="+mj-ea"/>
                <a:cs typeface="+mj-cs"/>
              </a:rPr>
              <a:t> Measures</a:t>
            </a:r>
            <a:endParaRPr kumimoji="0" lang="en-GB" sz="4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j-lt"/>
              <a:ea typeface="+mj-ea"/>
              <a:cs typeface="+mj-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400" advTm="627">
        <p14:doors dir="vert"/>
      </p:transition>
    </mc:Choice>
    <mc:Fallback xmlns="">
      <p:transition spd="slow" advTm="627">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76400"/>
            <a:ext cx="9144000" cy="5867400"/>
          </a:xfrm>
        </p:spPr>
        <p:txBody>
          <a:bodyPr>
            <a:noAutofit/>
          </a:bodyPr>
          <a:lstStyle/>
          <a:p>
            <a:pPr>
              <a:lnSpc>
                <a:spcPct val="120000"/>
              </a:lnSpc>
            </a:pPr>
            <a:r>
              <a:rPr lang="en-US" sz="2800" dirty="0" smtClean="0">
                <a:effectLst/>
              </a:rPr>
              <a:t>150 TSE first section firms before &amp; after Arrowhead</a:t>
            </a:r>
          </a:p>
          <a:p>
            <a:pPr lvl="1">
              <a:lnSpc>
                <a:spcPct val="120000"/>
              </a:lnSpc>
            </a:pPr>
            <a:r>
              <a:rPr lang="en-US" sz="2400" dirty="0" smtClean="0">
                <a:effectLst/>
              </a:rPr>
              <a:t>June 2008 pre-crisis, January 2009, and January 2011.</a:t>
            </a:r>
          </a:p>
          <a:p>
            <a:pPr lvl="1">
              <a:lnSpc>
                <a:spcPct val="120000"/>
              </a:lnSpc>
            </a:pPr>
            <a:r>
              <a:rPr lang="en-US" sz="2600" dirty="0" smtClean="0">
                <a:effectLst/>
              </a:rPr>
              <a:t>50 large-, 50 mid-, and 50 small-cap TOPIX firms</a:t>
            </a:r>
          </a:p>
          <a:p>
            <a:pPr lvl="1">
              <a:lnSpc>
                <a:spcPct val="120000"/>
              </a:lnSpc>
            </a:pPr>
            <a:r>
              <a:rPr lang="en-US" sz="2600" dirty="0" smtClean="0">
                <a:effectLst/>
              </a:rPr>
              <a:t>Source: Nikkei </a:t>
            </a:r>
            <a:r>
              <a:rPr lang="en-US" sz="2600" dirty="0">
                <a:effectLst/>
              </a:rPr>
              <a:t>Digital Media Inc.’s Nikkei Economic Electronic Database Systems (NEEDS</a:t>
            </a:r>
            <a:r>
              <a:rPr lang="en-US" sz="2600" dirty="0" smtClean="0">
                <a:effectLst/>
              </a:rPr>
              <a:t>)</a:t>
            </a:r>
          </a:p>
          <a:p>
            <a:pPr lvl="1">
              <a:lnSpc>
                <a:spcPct val="120000"/>
              </a:lnSpc>
            </a:pPr>
            <a:endParaRPr lang="en-US" sz="800" dirty="0" smtClean="0">
              <a:effectLst/>
            </a:endParaRPr>
          </a:p>
          <a:p>
            <a:pPr>
              <a:lnSpc>
                <a:spcPct val="120000"/>
              </a:lnSpc>
            </a:pPr>
            <a:r>
              <a:rPr lang="en-US" sz="2800" dirty="0" smtClean="0">
                <a:effectLst/>
              </a:rPr>
              <a:t>Limit Order </a:t>
            </a:r>
            <a:r>
              <a:rPr lang="en-US" sz="2800" dirty="0">
                <a:effectLst/>
              </a:rPr>
              <a:t>Book </a:t>
            </a:r>
            <a:r>
              <a:rPr lang="en-US" sz="2800" dirty="0" smtClean="0">
                <a:effectLst/>
              </a:rPr>
              <a:t>Data: </a:t>
            </a:r>
            <a:r>
              <a:rPr lang="en-US" sz="2400" dirty="0" smtClean="0">
                <a:effectLst/>
              </a:rPr>
              <a:t>info. </a:t>
            </a:r>
            <a:r>
              <a:rPr lang="en-US" sz="2400" dirty="0">
                <a:effectLst/>
              </a:rPr>
              <a:t>on each </a:t>
            </a:r>
            <a:r>
              <a:rPr lang="en-US" sz="2400" dirty="0" smtClean="0">
                <a:effectLst/>
              </a:rPr>
              <a:t>order and trade, date </a:t>
            </a:r>
            <a:r>
              <a:rPr lang="en-US" sz="2400" dirty="0">
                <a:effectLst/>
              </a:rPr>
              <a:t>and time, stock code, </a:t>
            </a:r>
            <a:r>
              <a:rPr lang="en-US" sz="2400" dirty="0" smtClean="0">
                <a:effectLst/>
              </a:rPr>
              <a:t>order/trade </a:t>
            </a:r>
            <a:r>
              <a:rPr lang="en-US" sz="2400" dirty="0">
                <a:effectLst/>
              </a:rPr>
              <a:t>price, </a:t>
            </a:r>
            <a:r>
              <a:rPr lang="en-US" sz="2400" dirty="0" smtClean="0">
                <a:effectLst/>
              </a:rPr>
              <a:t>order/trade </a:t>
            </a:r>
            <a:r>
              <a:rPr lang="en-US" sz="2400" dirty="0">
                <a:effectLst/>
              </a:rPr>
              <a:t>volume, </a:t>
            </a:r>
            <a:r>
              <a:rPr lang="en-US" sz="2400" dirty="0" smtClean="0">
                <a:effectLst/>
              </a:rPr>
              <a:t>5 </a:t>
            </a:r>
            <a:r>
              <a:rPr lang="en-US" sz="2400" dirty="0">
                <a:effectLst/>
              </a:rPr>
              <a:t>best bid and ask </a:t>
            </a:r>
            <a:r>
              <a:rPr lang="en-US" sz="2400" dirty="0" smtClean="0">
                <a:effectLst/>
              </a:rPr>
              <a:t>quotes and sizes (</a:t>
            </a:r>
            <a:r>
              <a:rPr lang="en-US" sz="2400" dirty="0" smtClean="0">
                <a:effectLst/>
                <a:hlinkClick r:id="rId4" action="ppaction://hlinksldjump"/>
              </a:rPr>
              <a:t>Sample</a:t>
            </a:r>
            <a:r>
              <a:rPr lang="en-US" sz="2400" dirty="0" smtClean="0">
                <a:effectLst/>
              </a:rPr>
              <a:t>).</a:t>
            </a:r>
            <a:endParaRPr lang="en-US" sz="2400" dirty="0">
              <a:effectLst/>
            </a:endParaRPr>
          </a:p>
          <a:p>
            <a:pPr>
              <a:lnSpc>
                <a:spcPct val="120000"/>
              </a:lnSpc>
            </a:pPr>
            <a:endParaRPr lang="en-US" sz="800" dirty="0" smtClean="0">
              <a:effectLst/>
            </a:endParaRPr>
          </a:p>
          <a:p>
            <a:pPr>
              <a:lnSpc>
                <a:spcPct val="120000"/>
              </a:lnSpc>
            </a:pPr>
            <a:r>
              <a:rPr lang="en-US" sz="2800" dirty="0" smtClean="0">
                <a:effectLst/>
              </a:rPr>
              <a:t>Intraday analysis: </a:t>
            </a:r>
            <a:r>
              <a:rPr lang="en-US" sz="2400" dirty="0" smtClean="0">
                <a:effectLst/>
              </a:rPr>
              <a:t>Data aggregated at 1 minute frequency</a:t>
            </a:r>
            <a:r>
              <a:rPr lang="en-US" sz="2800" dirty="0" smtClean="0">
                <a:effectLst/>
              </a:rPr>
              <a:t>. </a:t>
            </a:r>
            <a:endParaRPr lang="en-US" sz="2800" dirty="0">
              <a:effectLst/>
            </a:endParaRPr>
          </a:p>
        </p:txBody>
      </p:sp>
      <p:sp>
        <p:nvSpPr>
          <p:cNvPr id="6" name="Rectangle 4"/>
          <p:cNvSpPr>
            <a:spLocks noChangeArrowheads="1"/>
          </p:cNvSpPr>
          <p:nvPr/>
        </p:nvSpPr>
        <p:spPr bwMode="auto">
          <a:xfrm>
            <a:off x="228600" y="1524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7" name="Rectangle 2"/>
          <p:cNvSpPr txBox="1">
            <a:spLocks noChangeArrowheads="1"/>
          </p:cNvSpPr>
          <p:nvPr/>
        </p:nvSpPr>
        <p:spPr bwMode="blackWhite">
          <a:xfrm>
            <a:off x="381000" y="2286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marL="0" marR="0" lvl="0" indent="0" algn="ctr" defTabSz="914400" rtl="0" eaLnBrk="0" fontAlgn="base" latinLnBrk="0" hangingPunct="0">
              <a:lnSpc>
                <a:spcPct val="85000"/>
              </a:lnSpc>
              <a:spcBef>
                <a:spcPct val="10000"/>
              </a:spcBef>
              <a:spcAft>
                <a:spcPct val="0"/>
              </a:spcAft>
              <a:buClrTx/>
              <a:buSzTx/>
              <a:buFontTx/>
              <a:buNone/>
              <a:tabLst/>
              <a:defRPr/>
            </a:pPr>
            <a:r>
              <a:rPr kumimoji="0" lang="en-US" sz="48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j-lt"/>
                <a:ea typeface="+mj-ea"/>
                <a:cs typeface="+mj-cs"/>
              </a:rPr>
              <a:t>DATA</a:t>
            </a:r>
            <a:endParaRPr kumimoji="0" lang="en-GB" sz="4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j-lt"/>
              <a:ea typeface="+mj-ea"/>
              <a:cs typeface="+mj-cs"/>
            </a:endParaRPr>
          </a:p>
        </p:txBody>
      </p:sp>
    </p:spTree>
    <p:custDataLst>
      <p:tags r:id="rId1"/>
    </p:custDataLst>
    <p:extLst>
      <p:ext uri="{BB962C8B-B14F-4D97-AF65-F5344CB8AC3E}">
        <p14:creationId xmlns:p14="http://schemas.microsoft.com/office/powerpoint/2010/main" val="3124033801"/>
      </p:ext>
    </p:extLst>
  </p:cSld>
  <p:clrMapOvr>
    <a:masterClrMapping/>
  </p:clrMapOvr>
  <mc:AlternateContent xmlns:mc="http://schemas.openxmlformats.org/markup-compatibility/2006" xmlns:p14="http://schemas.microsoft.com/office/powerpoint/2010/main">
    <mc:Choice Requires="p14">
      <p:transition p14:dur="10" advTm="1179"/>
    </mc:Choice>
    <mc:Fallback xmlns="">
      <p:transition advTm="1179"/>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949"/>
            <a:ext cx="9144000" cy="67325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33646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63" y="304800"/>
            <a:ext cx="9156013" cy="640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63" y="304801"/>
            <a:ext cx="9147747"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63" y="304803"/>
            <a:ext cx="9216242" cy="6400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63" y="304803"/>
            <a:ext cx="9270898" cy="6400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283393738"/>
      </p:ext>
    </p:extLst>
  </p:cSld>
  <p:clrMapOvr>
    <a:masterClrMapping/>
  </p:clrMapOvr>
  <mc:AlternateContent xmlns:mc="http://schemas.openxmlformats.org/markup-compatibility/2006" xmlns:p14="http://schemas.microsoft.com/office/powerpoint/2010/main">
    <mc:Choice Requires="p14">
      <p:transition spd="slow" p14:dur="2000" advTm="149071"/>
    </mc:Choice>
    <mc:Fallback xmlns="">
      <p:transition spd="slow" advTm="1490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700"/>
                                        <p:tgtEl>
                                          <p:spTgt spid="2050"/>
                                        </p:tgtEl>
                                      </p:cBhvr>
                                    </p:animEffect>
                                    <p:anim calcmode="lin" valueType="num">
                                      <p:cBhvr>
                                        <p:cTn id="7" dur="700"/>
                                        <p:tgtEl>
                                          <p:spTgt spid="2050"/>
                                        </p:tgtEl>
                                        <p:attrNameLst>
                                          <p:attrName>ppt_x</p:attrName>
                                        </p:attrNameLst>
                                      </p:cBhvr>
                                      <p:tavLst>
                                        <p:tav tm="0">
                                          <p:val>
                                            <p:strVal val="ppt_x"/>
                                          </p:val>
                                        </p:tav>
                                        <p:tav tm="100000">
                                          <p:val>
                                            <p:strVal val="ppt_x"/>
                                          </p:val>
                                        </p:tav>
                                      </p:tavLst>
                                    </p:anim>
                                    <p:anim calcmode="lin" valueType="num">
                                      <p:cBhvr>
                                        <p:cTn id="8" dur="700"/>
                                        <p:tgtEl>
                                          <p:spTgt spid="2050"/>
                                        </p:tgtEl>
                                        <p:attrNameLst>
                                          <p:attrName>ppt_y</p:attrName>
                                        </p:attrNameLst>
                                      </p:cBhvr>
                                      <p:tavLst>
                                        <p:tav tm="0">
                                          <p:val>
                                            <p:strVal val="ppt_y"/>
                                          </p:val>
                                        </p:tav>
                                        <p:tav tm="100000">
                                          <p:val>
                                            <p:strVal val="ppt_y+.1"/>
                                          </p:val>
                                        </p:tav>
                                      </p:tavLst>
                                    </p:anim>
                                    <p:set>
                                      <p:cBhvr>
                                        <p:cTn id="9" dur="1" fill="hold">
                                          <p:stCondLst>
                                            <p:cond delay="699"/>
                                          </p:stCondLst>
                                        </p:cTn>
                                        <p:tgtEl>
                                          <p:spTgt spid="2050"/>
                                        </p:tgtEl>
                                        <p:attrNameLst>
                                          <p:attrName>style.visibility</p:attrName>
                                        </p:attrNameLst>
                                      </p:cBhvr>
                                      <p:to>
                                        <p:strVal val="hidden"/>
                                      </p:to>
                                    </p:set>
                                  </p:childTnLst>
                                </p:cTn>
                              </p:par>
                            </p:childTnLst>
                          </p:cTn>
                        </p:par>
                        <p:par>
                          <p:cTn id="10" fill="hold">
                            <p:stCondLst>
                              <p:cond delay="700"/>
                            </p:stCondLst>
                            <p:childTnLst>
                              <p:par>
                                <p:cTn id="11" presetID="10" presetClass="entr" presetSubtype="0" fill="hold" nodeType="afterEffect">
                                  <p:stCondLst>
                                    <p:cond delay="0"/>
                                  </p:stCondLst>
                                  <p:childTnLst>
                                    <p:set>
                                      <p:cBhvr>
                                        <p:cTn id="12" dur="1" fill="hold">
                                          <p:stCondLst>
                                            <p:cond delay="0"/>
                                          </p:stCondLst>
                                        </p:cTn>
                                        <p:tgtEl>
                                          <p:spTgt spid="2051"/>
                                        </p:tgtEl>
                                        <p:attrNameLst>
                                          <p:attrName>style.visibility</p:attrName>
                                        </p:attrNameLst>
                                      </p:cBhvr>
                                      <p:to>
                                        <p:strVal val="visible"/>
                                      </p:to>
                                    </p:set>
                                    <p:animEffect transition="in" filter="fade">
                                      <p:cBhvr>
                                        <p:cTn id="13" dur="500"/>
                                        <p:tgtEl>
                                          <p:spTgt spid="205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2051"/>
                                        </p:tgtEl>
                                      </p:cBhvr>
                                    </p:animEffect>
                                    <p:set>
                                      <p:cBhvr>
                                        <p:cTn id="18" dur="1" fill="hold">
                                          <p:stCondLst>
                                            <p:cond delay="499"/>
                                          </p:stCondLst>
                                        </p:cTn>
                                        <p:tgtEl>
                                          <p:spTgt spid="2051"/>
                                        </p:tgtEl>
                                        <p:attrNameLst>
                                          <p:attrName>style.visibility</p:attrName>
                                        </p:attrNameLst>
                                      </p:cBhvr>
                                      <p:to>
                                        <p:strVal val="hidden"/>
                                      </p:to>
                                    </p:se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053"/>
                                        </p:tgtEl>
                                        <p:attrNameLst>
                                          <p:attrName>style.visibility</p:attrName>
                                        </p:attrNameLst>
                                      </p:cBhvr>
                                      <p:to>
                                        <p:strVal val="visible"/>
                                      </p:to>
                                    </p:set>
                                    <p:animEffect transition="in" filter="fade">
                                      <p:cBhvr>
                                        <p:cTn id="31" dur="5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647950" y="1546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37" y="152400"/>
            <a:ext cx="9301137" cy="655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426150327"/>
      </p:ext>
    </p:extLst>
  </p:cSld>
  <p:clrMapOvr>
    <a:masterClrMapping/>
  </p:clrMapOvr>
  <mc:AlternateContent xmlns:mc="http://schemas.openxmlformats.org/markup-compatibility/2006" xmlns:p14="http://schemas.microsoft.com/office/powerpoint/2010/main">
    <mc:Choice Requires="p14">
      <p:transition p14:dur="0" advTm="148509"/>
    </mc:Choice>
    <mc:Fallback xmlns="">
      <p:transition advTm="148509"/>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1371600"/>
            <a:ext cx="9144000" cy="5867400"/>
          </a:xfrm>
        </p:spPr>
        <p:txBody>
          <a:bodyPr>
            <a:noAutofit/>
            <a:scene3d>
              <a:camera prst="orthographicFront"/>
              <a:lightRig rig="soft" dir="t">
                <a:rot lat="0" lon="0" rev="10800000"/>
              </a:lightRig>
            </a:scene3d>
            <a:sp3d>
              <a:bevelT w="27940" h="12700"/>
              <a:contourClr>
                <a:srgbClr val="DDDDDD"/>
              </a:contourClr>
            </a:sp3d>
          </a:bodyPr>
          <a:lstStyle/>
          <a:p>
            <a:pPr>
              <a:lnSpc>
                <a:spcPct val="100000"/>
              </a:lnSpc>
              <a:buFont typeface="Wingdings" pitchFamily="2" charset="2"/>
              <a:buChar char="ü"/>
            </a:pPr>
            <a:endParaRPr lang="en-US" sz="1200" b="1" dirty="0" smtClean="0">
              <a:effectLst/>
            </a:endParaRPr>
          </a:p>
          <a:p>
            <a:pPr marL="0" indent="0">
              <a:lnSpc>
                <a:spcPct val="100000"/>
              </a:lnSpc>
              <a:spcBef>
                <a:spcPts val="600"/>
              </a:spcBef>
              <a:buNone/>
            </a:pPr>
            <a:endParaRPr lang="en-US" b="1" dirty="0" smtClean="0">
              <a:effectLst/>
            </a:endParaRPr>
          </a:p>
          <a:p>
            <a:pPr lvl="1">
              <a:lnSpc>
                <a:spcPct val="100000"/>
              </a:lnSpc>
              <a:spcBef>
                <a:spcPts val="600"/>
              </a:spcBef>
              <a:buFont typeface="Wingdings" pitchFamily="2" charset="2"/>
              <a:buChar char="ü"/>
            </a:pPr>
            <a:r>
              <a:rPr lang="en-US" dirty="0" smtClean="0">
                <a:effectLst/>
              </a:rPr>
              <a:t>Lower cross correlation during highly liquid </a:t>
            </a:r>
            <a:r>
              <a:rPr lang="en-US" dirty="0">
                <a:effectLst/>
              </a:rPr>
              <a:t>markets </a:t>
            </a:r>
            <a:r>
              <a:rPr lang="en-US" dirty="0" smtClean="0">
                <a:effectLst/>
              </a:rPr>
              <a:t>(Baker </a:t>
            </a:r>
            <a:r>
              <a:rPr lang="en-US" dirty="0">
                <a:effectLst/>
              </a:rPr>
              <a:t>and </a:t>
            </a:r>
            <a:r>
              <a:rPr lang="en-US" dirty="0" err="1" smtClean="0">
                <a:effectLst/>
              </a:rPr>
              <a:t>Wurgler</a:t>
            </a:r>
            <a:r>
              <a:rPr lang="en-US" dirty="0" smtClean="0">
                <a:effectLst/>
              </a:rPr>
              <a:t>, 2006).</a:t>
            </a:r>
          </a:p>
          <a:p>
            <a:pPr lvl="1">
              <a:lnSpc>
                <a:spcPct val="100000"/>
              </a:lnSpc>
              <a:spcBef>
                <a:spcPts val="600"/>
              </a:spcBef>
              <a:buFont typeface="Wingdings" pitchFamily="2" charset="2"/>
              <a:buChar char="ü"/>
            </a:pPr>
            <a:r>
              <a:rPr lang="en-US" dirty="0" smtClean="0">
                <a:effectLst/>
              </a:rPr>
              <a:t>Higher Cross correlation </a:t>
            </a:r>
            <a:r>
              <a:rPr lang="en-US" dirty="0">
                <a:effectLst/>
              </a:rPr>
              <a:t>(</a:t>
            </a:r>
            <a:r>
              <a:rPr lang="en-US" dirty="0" err="1" smtClean="0">
                <a:effectLst/>
              </a:rPr>
              <a:t>Chordia</a:t>
            </a:r>
            <a:r>
              <a:rPr lang="en-US" dirty="0">
                <a:effectLst/>
              </a:rPr>
              <a:t>, Roll, and </a:t>
            </a:r>
            <a:r>
              <a:rPr lang="en-US" dirty="0" err="1">
                <a:effectLst/>
              </a:rPr>
              <a:t>Subrahmanyam</a:t>
            </a:r>
            <a:r>
              <a:rPr lang="en-US" dirty="0">
                <a:effectLst/>
              </a:rPr>
              <a:t>, 2000; Hasbrouck and </a:t>
            </a:r>
            <a:r>
              <a:rPr lang="en-US" dirty="0" err="1">
                <a:effectLst/>
              </a:rPr>
              <a:t>Seppi</a:t>
            </a:r>
            <a:r>
              <a:rPr lang="en-US" dirty="0">
                <a:effectLst/>
              </a:rPr>
              <a:t>, </a:t>
            </a:r>
            <a:r>
              <a:rPr lang="en-US" dirty="0" smtClean="0">
                <a:effectLst/>
              </a:rPr>
              <a:t>2001)</a:t>
            </a:r>
          </a:p>
          <a:p>
            <a:pPr lvl="1">
              <a:lnSpc>
                <a:spcPct val="100000"/>
              </a:lnSpc>
              <a:spcBef>
                <a:spcPts val="600"/>
              </a:spcBef>
              <a:buNone/>
            </a:pPr>
            <a:r>
              <a:rPr lang="en-US" b="1" dirty="0" smtClean="0">
                <a:effectLst/>
              </a:rPr>
              <a:t>H1:Low Latency increases Cross-correlation due to increase in program trading</a:t>
            </a:r>
          </a:p>
        </p:txBody>
      </p:sp>
      <p:sp>
        <p:nvSpPr>
          <p:cNvPr id="6" name="Rectangle 4"/>
          <p:cNvSpPr>
            <a:spLocks noChangeArrowheads="1"/>
          </p:cNvSpPr>
          <p:nvPr/>
        </p:nvSpPr>
        <p:spPr bwMode="auto">
          <a:xfrm>
            <a:off x="3048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7" name="Rectangle 2"/>
          <p:cNvSpPr txBox="1">
            <a:spLocks noChangeArrowheads="1"/>
          </p:cNvSpPr>
          <p:nvPr/>
        </p:nvSpPr>
        <p:spPr bwMode="blackWhite">
          <a:xfrm>
            <a:off x="4572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lgn="ctr" eaLnBrk="0" fontAlgn="base" hangingPunct="0">
              <a:lnSpc>
                <a:spcPct val="85000"/>
              </a:lnSpc>
              <a:spcBef>
                <a:spcPct val="10000"/>
              </a:spcBef>
              <a:spcAft>
                <a:spcPct val="0"/>
              </a:spcAft>
              <a:defRPr/>
            </a:pPr>
            <a:r>
              <a:rPr lang="en-US" sz="4800" b="1" kern="0" dirty="0">
                <a:solidFill>
                  <a:schemeClr val="bg1"/>
                </a:solidFill>
                <a:effectLst>
                  <a:outerShdw blurRad="38100" dist="38100" dir="2700000" algn="tl">
                    <a:srgbClr val="000000"/>
                  </a:outerShdw>
                </a:effectLst>
                <a:latin typeface="+mj-lt"/>
                <a:ea typeface="+mj-ea"/>
                <a:cs typeface="+mj-cs"/>
              </a:rPr>
              <a:t>Cross-correlation</a:t>
            </a:r>
            <a:endParaRPr kumimoji="0" lang="en-GB" sz="4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j-lt"/>
              <a:ea typeface="+mj-ea"/>
              <a:cs typeface="+mj-cs"/>
            </a:endParaRPr>
          </a:p>
        </p:txBody>
      </p:sp>
    </p:spTree>
    <p:extLst>
      <p:ext uri="{BB962C8B-B14F-4D97-AF65-F5344CB8AC3E}">
        <p14:creationId xmlns:p14="http://schemas.microsoft.com/office/powerpoint/2010/main" val="2344685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647950" y="1546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5"/>
          <p:cNvSpPr/>
          <p:nvPr/>
        </p:nvSpPr>
        <p:spPr>
          <a:xfrm>
            <a:off x="228600" y="838200"/>
            <a:ext cx="8915400" cy="1323439"/>
          </a:xfrm>
          <a:prstGeom prst="rect">
            <a:avLst/>
          </a:prstGeom>
        </p:spPr>
        <p:txBody>
          <a:bodyPr wrap="square">
            <a:spAutoFit/>
          </a:bodyPr>
          <a:lstStyle/>
          <a:p>
            <a:r>
              <a:rPr lang="en-US" sz="2000" i="1" dirty="0" smtClean="0"/>
              <a:t>CROSSCORR</a:t>
            </a:r>
            <a:r>
              <a:rPr lang="en-US" sz="2000" i="1" baseline="-25000" dirty="0" smtClean="0"/>
              <a:t>i,t+1</a:t>
            </a:r>
            <a:r>
              <a:rPr lang="en-US" sz="2000" i="1" dirty="0" smtClean="0"/>
              <a:t> </a:t>
            </a:r>
            <a:r>
              <a:rPr lang="en-US" sz="2000" i="1" dirty="0"/>
              <a:t>= α</a:t>
            </a:r>
            <a:r>
              <a:rPr lang="en-US" sz="2000" i="1" baseline="-25000" dirty="0" err="1"/>
              <a:t>i</a:t>
            </a:r>
            <a:r>
              <a:rPr lang="en-US" sz="2000" i="1" dirty="0"/>
              <a:t> + β</a:t>
            </a:r>
            <a:r>
              <a:rPr lang="en-US" sz="2000" i="1" baseline="-25000" dirty="0"/>
              <a:t>1i</a:t>
            </a:r>
            <a:r>
              <a:rPr lang="en-US" sz="2000" i="1" dirty="0"/>
              <a:t>COI</a:t>
            </a:r>
            <a:r>
              <a:rPr lang="en-US" sz="2000" i="1" baseline="-25000" dirty="0"/>
              <a:t>i,t</a:t>
            </a:r>
            <a:r>
              <a:rPr lang="en-US" sz="2000" i="1" dirty="0"/>
              <a:t> + β</a:t>
            </a:r>
            <a:r>
              <a:rPr lang="en-US" sz="2000" i="1" baseline="-25000" dirty="0"/>
              <a:t>2i</a:t>
            </a:r>
            <a:r>
              <a:rPr lang="en-US" sz="2000" i="1" dirty="0"/>
              <a:t>SLOPE</a:t>
            </a:r>
            <a:r>
              <a:rPr lang="en-US" sz="2000" i="1" baseline="-25000" dirty="0"/>
              <a:t>i,t</a:t>
            </a:r>
            <a:r>
              <a:rPr lang="en-US" sz="2000" i="1" dirty="0"/>
              <a:t> + β</a:t>
            </a:r>
            <a:r>
              <a:rPr lang="en-US" sz="2000" i="1" baseline="-25000" dirty="0"/>
              <a:t>3i </a:t>
            </a:r>
            <a:r>
              <a:rPr lang="en-US" sz="2000" i="1" dirty="0" err="1"/>
              <a:t>NTRDS</a:t>
            </a:r>
            <a:r>
              <a:rPr lang="en-US" sz="2000" i="1" baseline="-25000" dirty="0" err="1"/>
              <a:t>i,t</a:t>
            </a:r>
            <a:r>
              <a:rPr lang="en-US" sz="2000" i="1" dirty="0"/>
              <a:t> + β</a:t>
            </a:r>
            <a:r>
              <a:rPr lang="en-US" sz="2000" i="1" baseline="-25000" dirty="0"/>
              <a:t>4i </a:t>
            </a:r>
            <a:r>
              <a:rPr lang="en-US" sz="2000" i="1" dirty="0" err="1"/>
              <a:t>ATS</a:t>
            </a:r>
            <a:r>
              <a:rPr lang="en-US" sz="2000" i="1" baseline="-25000" dirty="0" err="1"/>
              <a:t>i,t</a:t>
            </a:r>
            <a:r>
              <a:rPr lang="en-US" sz="2000" i="1" dirty="0"/>
              <a:t> + β</a:t>
            </a:r>
            <a:r>
              <a:rPr lang="en-US" sz="2000" i="1" baseline="-25000" dirty="0"/>
              <a:t>5i </a:t>
            </a:r>
            <a:r>
              <a:rPr lang="en-US" sz="2000" i="1" dirty="0" err="1"/>
              <a:t>SPREAD</a:t>
            </a:r>
            <a:r>
              <a:rPr lang="en-US" sz="2000" i="1" baseline="-25000" dirty="0" err="1"/>
              <a:t>i,t</a:t>
            </a:r>
            <a:r>
              <a:rPr lang="en-US" sz="2000" i="1" dirty="0"/>
              <a:t> + β</a:t>
            </a:r>
            <a:r>
              <a:rPr lang="en-US" sz="2000" i="1" baseline="-25000" dirty="0"/>
              <a:t>6i </a:t>
            </a:r>
            <a:r>
              <a:rPr lang="en-US" sz="2000" i="1" dirty="0" err="1"/>
              <a:t>DEPTH</a:t>
            </a:r>
            <a:r>
              <a:rPr lang="en-US" sz="2000" i="1" baseline="-25000" dirty="0" err="1"/>
              <a:t>i,t</a:t>
            </a:r>
            <a:r>
              <a:rPr lang="en-US" sz="2000" i="1" dirty="0"/>
              <a:t> </a:t>
            </a:r>
            <a:r>
              <a:rPr lang="fr-FR" sz="2000" i="1" dirty="0" smtClean="0"/>
              <a:t>+</a:t>
            </a:r>
            <a:r>
              <a:rPr lang="en-US" sz="2000" i="1" dirty="0"/>
              <a:t>β</a:t>
            </a:r>
            <a:r>
              <a:rPr lang="fr-FR" sz="2000" i="1" baseline="-25000" dirty="0"/>
              <a:t>7i</a:t>
            </a:r>
            <a:r>
              <a:rPr lang="fr-FR" sz="2000" i="1" dirty="0"/>
              <a:t> TRADING </a:t>
            </a:r>
            <a:r>
              <a:rPr lang="fr-FR" sz="2000" i="1" dirty="0" err="1"/>
              <a:t>SPEED</a:t>
            </a:r>
            <a:r>
              <a:rPr lang="fr-FR" sz="2000" i="1" baseline="-25000" dirty="0" err="1"/>
              <a:t>i,t</a:t>
            </a:r>
            <a:r>
              <a:rPr lang="fr-FR" sz="2000" i="1" dirty="0"/>
              <a:t>  +</a:t>
            </a:r>
            <a:r>
              <a:rPr lang="en-US" sz="2000" i="1" dirty="0"/>
              <a:t>β</a:t>
            </a:r>
            <a:r>
              <a:rPr lang="fr-FR" sz="2000" i="1" baseline="-25000" dirty="0"/>
              <a:t>8i</a:t>
            </a:r>
            <a:r>
              <a:rPr lang="fr-FR" sz="2000" i="1" dirty="0"/>
              <a:t> </a:t>
            </a:r>
            <a:r>
              <a:rPr lang="en-US" sz="2000" i="1" dirty="0" err="1"/>
              <a:t>VOLATILITY</a:t>
            </a:r>
            <a:r>
              <a:rPr lang="en-US" sz="2000" i="1" baseline="-25000" dirty="0" err="1"/>
              <a:t>i,t</a:t>
            </a:r>
            <a:r>
              <a:rPr lang="en-US" sz="2000" i="1" dirty="0"/>
              <a:t> </a:t>
            </a:r>
            <a:r>
              <a:rPr lang="fr-FR" sz="2000" i="1" dirty="0"/>
              <a:t>+</a:t>
            </a:r>
            <a:r>
              <a:rPr lang="en-US" sz="2000" i="1" dirty="0"/>
              <a:t>β</a:t>
            </a:r>
            <a:r>
              <a:rPr lang="fr-FR" sz="2000" i="1" baseline="-25000" dirty="0"/>
              <a:t>9i</a:t>
            </a:r>
            <a:r>
              <a:rPr lang="fr-FR" sz="2000" i="1" dirty="0"/>
              <a:t> </a:t>
            </a:r>
            <a:r>
              <a:rPr lang="en-US" sz="2000" i="1" dirty="0" err="1"/>
              <a:t>RETURN</a:t>
            </a:r>
            <a:r>
              <a:rPr lang="en-US" sz="2000" i="1" baseline="-25000" dirty="0" err="1"/>
              <a:t>i,t</a:t>
            </a:r>
            <a:r>
              <a:rPr lang="en-US" sz="2000" i="1" dirty="0"/>
              <a:t> </a:t>
            </a:r>
            <a:r>
              <a:rPr lang="fr-FR" sz="2000" i="1" dirty="0"/>
              <a:t>+</a:t>
            </a:r>
            <a:r>
              <a:rPr lang="en-US" sz="2000" i="1" dirty="0"/>
              <a:t>β</a:t>
            </a:r>
            <a:r>
              <a:rPr lang="fr-FR" sz="2000" i="1" baseline="-25000" dirty="0"/>
              <a:t>10i</a:t>
            </a:r>
            <a:r>
              <a:rPr lang="fr-FR" sz="2000" i="1" dirty="0"/>
              <a:t> </a:t>
            </a:r>
            <a:r>
              <a:rPr lang="fr-FR" sz="2000" i="1" dirty="0" err="1"/>
              <a:t>ARROWHEAD</a:t>
            </a:r>
            <a:r>
              <a:rPr lang="fr-FR" sz="2000" i="1" baseline="-25000" dirty="0" err="1"/>
              <a:t>i,t</a:t>
            </a:r>
            <a:r>
              <a:rPr lang="fr-FR" sz="2000" i="1" dirty="0"/>
              <a:t> +</a:t>
            </a:r>
            <a:r>
              <a:rPr lang="en-US" sz="2000" i="1" dirty="0"/>
              <a:t>β</a:t>
            </a:r>
            <a:r>
              <a:rPr lang="fr-FR" sz="2000" i="1" baseline="-25000" dirty="0"/>
              <a:t>11i</a:t>
            </a:r>
            <a:r>
              <a:rPr lang="fr-FR" sz="2000" i="1" dirty="0"/>
              <a:t> </a:t>
            </a:r>
            <a:r>
              <a:rPr lang="fr-FR" sz="2000" i="1" dirty="0" err="1"/>
              <a:t>MKTRET</a:t>
            </a:r>
            <a:r>
              <a:rPr lang="fr-FR" sz="2000" i="1" baseline="-25000" dirty="0" err="1"/>
              <a:t>i,t</a:t>
            </a:r>
            <a:r>
              <a:rPr lang="fr-FR" sz="2000" i="1" dirty="0"/>
              <a:t> +</a:t>
            </a:r>
            <a:r>
              <a:rPr lang="en-US" sz="2000" i="1" dirty="0"/>
              <a:t>β</a:t>
            </a:r>
            <a:r>
              <a:rPr lang="fr-FR" sz="2000" i="1" baseline="-25000" dirty="0"/>
              <a:t>12i</a:t>
            </a:r>
            <a:r>
              <a:rPr lang="fr-FR" sz="2000" i="1" dirty="0"/>
              <a:t> </a:t>
            </a:r>
            <a:r>
              <a:rPr lang="fr-FR" sz="2000" i="1" dirty="0" err="1"/>
              <a:t>ARROWHEAD</a:t>
            </a:r>
            <a:r>
              <a:rPr lang="fr-FR" sz="2000" i="1" baseline="-25000" dirty="0" err="1"/>
              <a:t>i,t</a:t>
            </a:r>
            <a:r>
              <a:rPr lang="fr-FR" sz="2000" i="1" dirty="0"/>
              <a:t>*</a:t>
            </a:r>
            <a:r>
              <a:rPr lang="en-US" sz="2000" i="1" dirty="0" err="1"/>
              <a:t>COI</a:t>
            </a:r>
            <a:r>
              <a:rPr lang="en-US" sz="2000" i="1" baseline="-25000" dirty="0" err="1"/>
              <a:t>i,t</a:t>
            </a:r>
            <a:r>
              <a:rPr lang="fr-FR" sz="2000" i="1" dirty="0"/>
              <a:t> +</a:t>
            </a:r>
            <a:r>
              <a:rPr lang="en-US" sz="2000" i="1" dirty="0"/>
              <a:t>β</a:t>
            </a:r>
            <a:r>
              <a:rPr lang="fr-FR" sz="2000" i="1" baseline="-25000" dirty="0"/>
              <a:t>13i</a:t>
            </a:r>
            <a:r>
              <a:rPr lang="fr-FR" sz="2000" i="1" dirty="0"/>
              <a:t> </a:t>
            </a:r>
            <a:r>
              <a:rPr lang="fr-FR" sz="2000" i="1" dirty="0" err="1"/>
              <a:t>ARROWHEAD</a:t>
            </a:r>
            <a:r>
              <a:rPr lang="fr-FR" sz="2000" i="1" baseline="-25000" dirty="0" err="1"/>
              <a:t>i,t</a:t>
            </a:r>
            <a:r>
              <a:rPr lang="fr-FR" sz="2000" i="1" dirty="0"/>
              <a:t>*</a:t>
            </a:r>
            <a:r>
              <a:rPr lang="en-US" sz="2000" i="1" dirty="0" err="1"/>
              <a:t>SLOPE</a:t>
            </a:r>
            <a:r>
              <a:rPr lang="en-US" sz="2000" i="1" baseline="-25000" dirty="0" err="1"/>
              <a:t>it</a:t>
            </a:r>
            <a:r>
              <a:rPr lang="en-US" sz="2000" i="1" baseline="-25000" dirty="0"/>
              <a:t> </a:t>
            </a:r>
            <a:r>
              <a:rPr lang="en-US" sz="2000" i="1" dirty="0"/>
              <a:t>+µ</a:t>
            </a:r>
            <a:r>
              <a:rPr lang="en-US" sz="2000" i="1" baseline="-25000" dirty="0"/>
              <a:t>i,t+1</a:t>
            </a:r>
            <a:endParaRPr lang="en-US" sz="2000" dirty="0"/>
          </a:p>
        </p:txBody>
      </p:sp>
      <p:graphicFrame>
        <p:nvGraphicFramePr>
          <p:cNvPr id="7" name="Table 6"/>
          <p:cNvGraphicFramePr>
            <a:graphicFrameLocks noGrp="1"/>
          </p:cNvGraphicFramePr>
          <p:nvPr>
            <p:extLst>
              <p:ext uri="{D42A27DB-BD31-4B8C-83A1-F6EECF244321}">
                <p14:modId xmlns:p14="http://schemas.microsoft.com/office/powerpoint/2010/main" val="2189278715"/>
              </p:ext>
            </p:extLst>
          </p:nvPr>
        </p:nvGraphicFramePr>
        <p:xfrm>
          <a:off x="228600" y="2417572"/>
          <a:ext cx="8534400" cy="2724267"/>
        </p:xfrm>
        <a:graphic>
          <a:graphicData uri="http://schemas.openxmlformats.org/drawingml/2006/table">
            <a:tbl>
              <a:tblPr firstRow="1" firstCol="1" bandRow="1">
                <a:tableStyleId>{5C22544A-7EE6-4342-B048-85BDC9FD1C3A}</a:tableStyleId>
              </a:tblPr>
              <a:tblGrid>
                <a:gridCol w="3365531"/>
                <a:gridCol w="2497006"/>
                <a:gridCol w="2671863"/>
              </a:tblGrid>
              <a:tr h="375030">
                <a:tc>
                  <a:txBody>
                    <a:bodyPr/>
                    <a:lstStyle/>
                    <a:p>
                      <a:pPr marL="0" marR="0">
                        <a:spcBef>
                          <a:spcPts val="0"/>
                        </a:spcBef>
                        <a:spcAft>
                          <a:spcPts val="0"/>
                        </a:spcAft>
                      </a:pPr>
                      <a:r>
                        <a:rPr lang="en-US" sz="2200" dirty="0">
                          <a:effectLst/>
                          <a:latin typeface="Times New Roman" pitchFamily="18" charset="0"/>
                          <a:cs typeface="Times New Roman" pitchFamily="18" charset="0"/>
                        </a:rPr>
                        <a:t>Variables</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2200" smtClean="0">
                          <a:effectLst/>
                          <a:latin typeface="Times New Roman" pitchFamily="18" charset="0"/>
                          <a:cs typeface="Times New Roman" pitchFamily="18" charset="0"/>
                        </a:rPr>
                        <a:t>(β</a:t>
                      </a:r>
                      <a:r>
                        <a:rPr lang="en-US" sz="2200" dirty="0">
                          <a:effectLst/>
                          <a:latin typeface="Times New Roman" pitchFamily="18" charset="0"/>
                          <a:cs typeface="Times New Roman" pitchFamily="18" charset="0"/>
                        </a:rPr>
                        <a:t>)</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1800" b="1" kern="1200" dirty="0" smtClean="0">
                          <a:solidFill>
                            <a:schemeClr val="lt1"/>
                          </a:solidFill>
                          <a:effectLst/>
                          <a:latin typeface="+mn-lt"/>
                          <a:ea typeface="+mn-ea"/>
                          <a:cs typeface="+mn-cs"/>
                        </a:rPr>
                        <a:t>%t (%sign)</a:t>
                      </a:r>
                      <a:endParaRPr lang="en-US" sz="2200" dirty="0">
                        <a:effectLst/>
                        <a:latin typeface="Times New Roman" pitchFamily="18" charset="0"/>
                        <a:ea typeface="Calibri"/>
                        <a:cs typeface="Times New Roman" pitchFamily="18" charset="0"/>
                      </a:endParaRPr>
                    </a:p>
                  </a:txBody>
                  <a:tcPr marL="44664" marR="44664" marT="0" marB="0"/>
                </a:tc>
              </a:tr>
              <a:tr h="483998">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ARROWHEAD</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128270" algn="dec"/>
                        </a:tabLst>
                      </a:pPr>
                      <a:r>
                        <a:rPr lang="en-US" sz="2200" dirty="0">
                          <a:effectLst/>
                          <a:latin typeface="Times New Roman"/>
                          <a:ea typeface="Calibri"/>
                        </a:rPr>
                        <a:t>0.91*</a:t>
                      </a:r>
                    </a:p>
                  </a:txBody>
                  <a:tcPr marL="68580" marR="68580" marT="0" marB="0">
                    <a:solidFill>
                      <a:srgbClr val="FFC000"/>
                    </a:solidFill>
                  </a:tcPr>
                </a:tc>
                <a:tc>
                  <a:txBody>
                    <a:bodyPr/>
                    <a:lstStyle/>
                    <a:p>
                      <a:pPr marL="0" marR="0" algn="ctr">
                        <a:spcBef>
                          <a:spcPts val="0"/>
                        </a:spcBef>
                        <a:spcAft>
                          <a:spcPts val="0"/>
                        </a:spcAft>
                      </a:pPr>
                      <a:r>
                        <a:rPr lang="en-US" sz="2200" dirty="0">
                          <a:effectLst/>
                          <a:latin typeface="Times New Roman"/>
                          <a:ea typeface="Calibri"/>
                        </a:rPr>
                        <a:t>64 (79)</a:t>
                      </a:r>
                    </a:p>
                  </a:txBody>
                  <a:tcPr marL="68580" marR="68580" marT="0" marB="0">
                    <a:solidFill>
                      <a:srgbClr val="FFC000"/>
                    </a:solidFill>
                  </a:tcPr>
                </a:tc>
              </a:tr>
              <a:tr h="483998">
                <a:tc>
                  <a:txBody>
                    <a:bodyPr/>
                    <a:lstStyle/>
                    <a:p>
                      <a:pPr marL="0" marR="0">
                        <a:spcBef>
                          <a:spcPts val="0"/>
                        </a:spcBef>
                        <a:spcAft>
                          <a:spcPts val="0"/>
                        </a:spcAft>
                      </a:pPr>
                      <a:r>
                        <a:rPr lang="en-US" sz="2200" dirty="0" smtClean="0">
                          <a:effectLst/>
                          <a:latin typeface="Times New Roman" pitchFamily="18" charset="0"/>
                          <a:cs typeface="Times New Roman" pitchFamily="18" charset="0"/>
                        </a:rPr>
                        <a:t> COI</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tabLst>
                          <a:tab pos="128270" algn="dec"/>
                        </a:tabLst>
                      </a:pPr>
                      <a:r>
                        <a:rPr lang="en-US" sz="2200">
                          <a:effectLst/>
                          <a:latin typeface="Times New Roman"/>
                          <a:ea typeface="Calibri"/>
                        </a:rPr>
                        <a:t>0.41*</a:t>
                      </a:r>
                    </a:p>
                  </a:txBody>
                  <a:tcPr marL="68580" marR="68580" marT="0" marB="0">
                    <a:solidFill>
                      <a:srgbClr val="FFC000"/>
                    </a:solidFill>
                  </a:tcPr>
                </a:tc>
                <a:tc>
                  <a:txBody>
                    <a:bodyPr/>
                    <a:lstStyle/>
                    <a:p>
                      <a:pPr marL="0" marR="0" algn="ctr">
                        <a:spcBef>
                          <a:spcPts val="0"/>
                        </a:spcBef>
                        <a:spcAft>
                          <a:spcPts val="0"/>
                        </a:spcAft>
                      </a:pPr>
                      <a:r>
                        <a:rPr lang="en-US" sz="2200" dirty="0">
                          <a:effectLst/>
                          <a:latin typeface="Times New Roman"/>
                          <a:ea typeface="Calibri"/>
                        </a:rPr>
                        <a:t>72 (65)</a:t>
                      </a:r>
                    </a:p>
                  </a:txBody>
                  <a:tcPr marL="68580" marR="68580" marT="0" marB="0">
                    <a:solidFill>
                      <a:srgbClr val="FFC000"/>
                    </a:solidFill>
                  </a:tcPr>
                </a:tc>
              </a:tr>
              <a:tr h="522555">
                <a:tc>
                  <a:txBody>
                    <a:bodyPr/>
                    <a:lstStyle/>
                    <a:p>
                      <a:pPr marL="0" marR="0">
                        <a:spcBef>
                          <a:spcPts val="0"/>
                        </a:spcBef>
                        <a:spcAft>
                          <a:spcPts val="0"/>
                        </a:spcAft>
                      </a:pPr>
                      <a:r>
                        <a:rPr lang="en-US" sz="2200" dirty="0">
                          <a:latin typeface="Times New Roman" pitchFamily="18" charset="0"/>
                          <a:ea typeface="Calibri"/>
                          <a:cs typeface="Times New Roman" pitchFamily="18" charset="0"/>
                        </a:rPr>
                        <a:t>SLOPE</a:t>
                      </a:r>
                    </a:p>
                  </a:txBody>
                  <a:tcPr marL="68580" marR="68580" marT="0" marB="0"/>
                </a:tc>
                <a:tc>
                  <a:txBody>
                    <a:bodyPr/>
                    <a:lstStyle/>
                    <a:p>
                      <a:pPr marL="0" marR="0" algn="ctr">
                        <a:spcBef>
                          <a:spcPts val="0"/>
                        </a:spcBef>
                        <a:spcAft>
                          <a:spcPts val="0"/>
                        </a:spcAft>
                        <a:tabLst>
                          <a:tab pos="128270" algn="dec"/>
                        </a:tabLst>
                      </a:pPr>
                      <a:r>
                        <a:rPr lang="en-US" sz="2200">
                          <a:effectLst/>
                          <a:latin typeface="Times New Roman"/>
                          <a:ea typeface="Calibri"/>
                        </a:rPr>
                        <a:t>-0.22*</a:t>
                      </a:r>
                    </a:p>
                  </a:txBody>
                  <a:tcPr marL="68580" marR="68580" marT="0" marB="0"/>
                </a:tc>
                <a:tc>
                  <a:txBody>
                    <a:bodyPr/>
                    <a:lstStyle/>
                    <a:p>
                      <a:pPr marL="0" marR="0" algn="ctr">
                        <a:spcBef>
                          <a:spcPts val="0"/>
                        </a:spcBef>
                        <a:spcAft>
                          <a:spcPts val="0"/>
                        </a:spcAft>
                      </a:pPr>
                      <a:r>
                        <a:rPr lang="en-US" sz="2200">
                          <a:effectLst/>
                          <a:latin typeface="Times New Roman"/>
                          <a:ea typeface="Calibri"/>
                        </a:rPr>
                        <a:t>50 (62)</a:t>
                      </a:r>
                    </a:p>
                  </a:txBody>
                  <a:tcPr marL="68580" marR="68580" marT="0" marB="0"/>
                </a:tc>
              </a:tr>
              <a:tr h="483737">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ARROW*COI</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128270" algn="dec"/>
                        </a:tabLst>
                      </a:pPr>
                      <a:r>
                        <a:rPr lang="en-US" sz="2200">
                          <a:effectLst/>
                          <a:latin typeface="Times New Roman"/>
                          <a:ea typeface="Calibri"/>
                        </a:rPr>
                        <a:t>0.38</a:t>
                      </a:r>
                    </a:p>
                  </a:txBody>
                  <a:tcPr marL="68580" marR="68580" marT="0" marB="0"/>
                </a:tc>
                <a:tc>
                  <a:txBody>
                    <a:bodyPr/>
                    <a:lstStyle/>
                    <a:p>
                      <a:pPr marL="0" marR="0" algn="ctr">
                        <a:spcBef>
                          <a:spcPts val="0"/>
                        </a:spcBef>
                        <a:spcAft>
                          <a:spcPts val="0"/>
                        </a:spcAft>
                      </a:pPr>
                      <a:r>
                        <a:rPr lang="en-US" sz="2200">
                          <a:effectLst/>
                          <a:latin typeface="Times New Roman"/>
                          <a:ea typeface="Calibri"/>
                        </a:rPr>
                        <a:t>18 (71)</a:t>
                      </a:r>
                    </a:p>
                  </a:txBody>
                  <a:tcPr marL="68580" marR="68580" marT="0" marB="0"/>
                </a:tc>
              </a:tr>
              <a:tr h="374949">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ARROW*SLOPE</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128270" algn="dec"/>
                        </a:tabLst>
                      </a:pPr>
                      <a:r>
                        <a:rPr lang="en-US" sz="2200">
                          <a:effectLst/>
                          <a:latin typeface="Times New Roman"/>
                          <a:ea typeface="Calibri"/>
                        </a:rPr>
                        <a:t>-0.14</a:t>
                      </a:r>
                    </a:p>
                  </a:txBody>
                  <a:tcPr marL="68580" marR="68580" marT="0" marB="0"/>
                </a:tc>
                <a:tc>
                  <a:txBody>
                    <a:bodyPr/>
                    <a:lstStyle/>
                    <a:p>
                      <a:pPr marL="0" marR="0" algn="ctr">
                        <a:spcBef>
                          <a:spcPts val="0"/>
                        </a:spcBef>
                        <a:spcAft>
                          <a:spcPts val="0"/>
                        </a:spcAft>
                      </a:pPr>
                      <a:r>
                        <a:rPr lang="en-US" sz="2200" dirty="0">
                          <a:effectLst/>
                          <a:latin typeface="Times New Roman"/>
                          <a:ea typeface="Calibri"/>
                        </a:rPr>
                        <a:t>28 (66)</a:t>
                      </a:r>
                    </a:p>
                  </a:txBody>
                  <a:tcPr marL="68580" marR="68580" marT="0" marB="0"/>
                </a:tc>
              </a:tr>
            </a:tbl>
          </a:graphicData>
        </a:graphic>
      </p:graphicFrame>
      <p:sp>
        <p:nvSpPr>
          <p:cNvPr id="8" name="TextBox 7"/>
          <p:cNvSpPr txBox="1"/>
          <p:nvPr/>
        </p:nvSpPr>
        <p:spPr>
          <a:xfrm>
            <a:off x="57150" y="6096000"/>
            <a:ext cx="9144000" cy="492443"/>
          </a:xfrm>
          <a:prstGeom prst="rect">
            <a:avLst/>
          </a:prstGeom>
          <a:noFill/>
        </p:spPr>
        <p:txBody>
          <a:bodyPr wrap="square" rtlCol="0">
            <a:spAutoFit/>
          </a:bodyPr>
          <a:lstStyle/>
          <a:p>
            <a:r>
              <a:rPr lang="en-US" sz="2600" dirty="0" smtClean="0"/>
              <a:t>   The higher the COI, the higher is the Cross correlation</a:t>
            </a:r>
            <a:endParaRPr lang="en-US" sz="2600" dirty="0"/>
          </a:p>
        </p:txBody>
      </p:sp>
      <p:sp>
        <p:nvSpPr>
          <p:cNvPr id="9" name="TextBox 8"/>
          <p:cNvSpPr txBox="1"/>
          <p:nvPr/>
        </p:nvSpPr>
        <p:spPr>
          <a:xfrm>
            <a:off x="76200" y="5638800"/>
            <a:ext cx="9144000" cy="492443"/>
          </a:xfrm>
          <a:prstGeom prst="rect">
            <a:avLst/>
          </a:prstGeom>
          <a:noFill/>
        </p:spPr>
        <p:txBody>
          <a:bodyPr wrap="square" rtlCol="0">
            <a:spAutoFit/>
          </a:bodyPr>
          <a:lstStyle/>
          <a:p>
            <a:r>
              <a:rPr lang="en-US" sz="2600" dirty="0" smtClean="0"/>
              <a:t>   ARROWHEAD increased Cross correlation</a:t>
            </a:r>
            <a:endParaRPr lang="en-US" sz="2600" dirty="0"/>
          </a:p>
        </p:txBody>
      </p:sp>
      <p:sp>
        <p:nvSpPr>
          <p:cNvPr id="10" name="Rectangle 2"/>
          <p:cNvSpPr txBox="1">
            <a:spLocks noChangeArrowheads="1"/>
          </p:cNvSpPr>
          <p:nvPr/>
        </p:nvSpPr>
        <p:spPr bwMode="blackWhite">
          <a:xfrm>
            <a:off x="228600" y="76200"/>
            <a:ext cx="8763000" cy="6096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r>
              <a:rPr lang="en-US" sz="2900" b="1" dirty="0" smtClean="0">
                <a:solidFill>
                  <a:schemeClr val="bg1"/>
                </a:solidFill>
              </a:rPr>
              <a:t>LOB COI Predicts future Cross Correlation</a:t>
            </a:r>
            <a:endParaRPr lang="en-US" sz="2900" b="1" dirty="0">
              <a:solidFill>
                <a:schemeClr val="bg1"/>
              </a:solidFill>
            </a:endParaRPr>
          </a:p>
        </p:txBody>
      </p:sp>
    </p:spTree>
    <p:extLst>
      <p:ext uri="{BB962C8B-B14F-4D97-AF65-F5344CB8AC3E}">
        <p14:creationId xmlns:p14="http://schemas.microsoft.com/office/powerpoint/2010/main" val="3777109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647950" y="1546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5"/>
          <p:cNvSpPr/>
          <p:nvPr/>
        </p:nvSpPr>
        <p:spPr>
          <a:xfrm>
            <a:off x="38100" y="838200"/>
            <a:ext cx="9105900" cy="1323439"/>
          </a:xfrm>
          <a:prstGeom prst="rect">
            <a:avLst/>
          </a:prstGeom>
        </p:spPr>
        <p:txBody>
          <a:bodyPr wrap="square">
            <a:spAutoFit/>
          </a:bodyPr>
          <a:lstStyle/>
          <a:p>
            <a:r>
              <a:rPr lang="en-US" sz="2000" i="1" dirty="0" smtClean="0"/>
              <a:t>QUOTES-TO-TRADE </a:t>
            </a:r>
            <a:r>
              <a:rPr lang="en-US" sz="2000" i="1" dirty="0"/>
              <a:t>RATIO</a:t>
            </a:r>
            <a:r>
              <a:rPr lang="en-US" sz="2000" i="1" baseline="-25000" dirty="0"/>
              <a:t>i,t+1</a:t>
            </a:r>
            <a:r>
              <a:rPr lang="en-US" sz="2000" i="1" dirty="0"/>
              <a:t> = α</a:t>
            </a:r>
            <a:r>
              <a:rPr lang="en-US" sz="2000" i="1" baseline="-25000" dirty="0" err="1"/>
              <a:t>i</a:t>
            </a:r>
            <a:r>
              <a:rPr lang="en-US" sz="2000" i="1" baseline="-25000" dirty="0"/>
              <a:t> </a:t>
            </a:r>
            <a:r>
              <a:rPr lang="en-US" sz="2000" i="1" dirty="0"/>
              <a:t>+ β</a:t>
            </a:r>
            <a:r>
              <a:rPr lang="en-US" sz="2000" i="1" baseline="-25000" dirty="0"/>
              <a:t>1i </a:t>
            </a:r>
            <a:r>
              <a:rPr lang="en-US" sz="2000" i="1" dirty="0" err="1"/>
              <a:t>COI</a:t>
            </a:r>
            <a:r>
              <a:rPr lang="en-US" sz="2000" i="1" baseline="-25000" dirty="0" err="1"/>
              <a:t>i,t</a:t>
            </a:r>
            <a:r>
              <a:rPr lang="en-US" sz="2000" i="1" dirty="0"/>
              <a:t>+ β</a:t>
            </a:r>
            <a:r>
              <a:rPr lang="en-US" sz="2000" i="1" baseline="-25000" dirty="0"/>
              <a:t>2i </a:t>
            </a:r>
            <a:r>
              <a:rPr lang="en-US" sz="2000" i="1" dirty="0" err="1"/>
              <a:t>SLOPE</a:t>
            </a:r>
            <a:r>
              <a:rPr lang="en-US" sz="2000" i="1" baseline="-25000" dirty="0" err="1"/>
              <a:t>i,t</a:t>
            </a:r>
            <a:r>
              <a:rPr lang="en-US" sz="2000" i="1" dirty="0"/>
              <a:t>+ β</a:t>
            </a:r>
            <a:r>
              <a:rPr lang="en-US" sz="2000" i="1" baseline="-25000" dirty="0"/>
              <a:t>3i </a:t>
            </a:r>
            <a:r>
              <a:rPr lang="en-US" sz="2000" i="1" dirty="0"/>
              <a:t>MONDAY</a:t>
            </a:r>
            <a:r>
              <a:rPr lang="en-US" sz="2000" i="1" baseline="-25000" dirty="0"/>
              <a:t>t+1</a:t>
            </a:r>
            <a:r>
              <a:rPr lang="en-US" sz="2000" i="1" dirty="0"/>
              <a:t>+β</a:t>
            </a:r>
            <a:r>
              <a:rPr lang="en-US" sz="2000" i="1" baseline="-25000" dirty="0"/>
              <a:t>4i </a:t>
            </a:r>
            <a:r>
              <a:rPr lang="en-US" sz="2000" i="1" dirty="0" err="1"/>
              <a:t>NTRDS</a:t>
            </a:r>
            <a:r>
              <a:rPr lang="en-US" sz="2000" i="1" baseline="-25000" dirty="0" err="1"/>
              <a:t>i,t</a:t>
            </a:r>
            <a:r>
              <a:rPr lang="en-US" sz="2000" i="1" dirty="0"/>
              <a:t>+β</a:t>
            </a:r>
            <a:r>
              <a:rPr lang="en-US" sz="2000" i="1" baseline="-25000" dirty="0"/>
              <a:t>5i </a:t>
            </a:r>
            <a:r>
              <a:rPr lang="en-US" sz="2000" i="1" dirty="0" err="1"/>
              <a:t>ATS</a:t>
            </a:r>
            <a:r>
              <a:rPr lang="en-US" sz="2000" i="1" baseline="-25000" dirty="0" err="1"/>
              <a:t>i,t</a:t>
            </a:r>
            <a:r>
              <a:rPr lang="en-US" sz="2000" i="1" dirty="0"/>
              <a:t>+β</a:t>
            </a:r>
            <a:r>
              <a:rPr lang="en-US" sz="2000" i="1" baseline="-25000" dirty="0"/>
              <a:t>6i </a:t>
            </a:r>
            <a:r>
              <a:rPr lang="en-US" sz="2000" i="1" dirty="0" err="1"/>
              <a:t>SPREAD</a:t>
            </a:r>
            <a:r>
              <a:rPr lang="en-US" sz="2000" i="1" baseline="-25000" dirty="0" err="1"/>
              <a:t>i,t</a:t>
            </a:r>
            <a:r>
              <a:rPr lang="en-US" sz="2000" i="1" dirty="0"/>
              <a:t>+β</a:t>
            </a:r>
            <a:r>
              <a:rPr lang="en-US" sz="2000" i="1" baseline="-25000" dirty="0"/>
              <a:t>7i </a:t>
            </a:r>
            <a:r>
              <a:rPr lang="en-US" sz="2000" i="1" dirty="0" err="1"/>
              <a:t>DEPTH</a:t>
            </a:r>
            <a:r>
              <a:rPr lang="en-US" sz="2000" i="1" baseline="-25000" dirty="0" err="1"/>
              <a:t>i,t</a:t>
            </a:r>
            <a:r>
              <a:rPr lang="fr-FR" sz="2000" i="1" dirty="0"/>
              <a:t>+ </a:t>
            </a:r>
            <a:r>
              <a:rPr lang="en-US" sz="2000" i="1" dirty="0"/>
              <a:t>β</a:t>
            </a:r>
            <a:r>
              <a:rPr lang="fr-FR" sz="2000" i="1" baseline="-25000" dirty="0"/>
              <a:t>8i</a:t>
            </a:r>
            <a:r>
              <a:rPr lang="en-US" sz="2000" i="1" dirty="0" err="1"/>
              <a:t>VOLATILITY</a:t>
            </a:r>
            <a:r>
              <a:rPr lang="en-US" sz="2000" i="1" baseline="-25000" dirty="0" err="1"/>
              <a:t>i,t</a:t>
            </a:r>
            <a:r>
              <a:rPr lang="en-US" sz="2000" i="1" baseline="-25000" dirty="0"/>
              <a:t> </a:t>
            </a:r>
            <a:r>
              <a:rPr lang="fr-FR" sz="2000" i="1" dirty="0"/>
              <a:t>+</a:t>
            </a:r>
            <a:r>
              <a:rPr lang="en-US" sz="2000" i="1" dirty="0"/>
              <a:t>β</a:t>
            </a:r>
            <a:r>
              <a:rPr lang="fr-FR" sz="2000" i="1" baseline="-25000" dirty="0"/>
              <a:t>9i</a:t>
            </a:r>
            <a:r>
              <a:rPr lang="fr-FR" sz="2000" i="1" dirty="0"/>
              <a:t>MKTRET</a:t>
            </a:r>
            <a:r>
              <a:rPr lang="en-US" sz="2000" i="1" baseline="-25000" dirty="0" err="1"/>
              <a:t>i,t</a:t>
            </a:r>
            <a:r>
              <a:rPr lang="en-US" sz="2000" i="1" baseline="-25000" dirty="0"/>
              <a:t> </a:t>
            </a:r>
            <a:r>
              <a:rPr lang="fr-FR" sz="2000" i="1" dirty="0"/>
              <a:t>+</a:t>
            </a:r>
            <a:r>
              <a:rPr lang="en-US" sz="2000" i="1" dirty="0"/>
              <a:t>β</a:t>
            </a:r>
            <a:r>
              <a:rPr lang="fr-FR" sz="2000" i="1" baseline="-25000" dirty="0" smtClean="0"/>
              <a:t>10i</a:t>
            </a:r>
            <a:r>
              <a:rPr lang="fr-FR" sz="2000" i="1" dirty="0" smtClean="0"/>
              <a:t>ARROWHEAD</a:t>
            </a:r>
            <a:r>
              <a:rPr lang="fr-FR" sz="2000" i="1" baseline="-25000" dirty="0" smtClean="0"/>
              <a:t>i,t </a:t>
            </a:r>
            <a:r>
              <a:rPr lang="fr-FR" sz="2000" i="1" dirty="0" smtClean="0"/>
              <a:t>+</a:t>
            </a:r>
            <a:r>
              <a:rPr lang="en-US" sz="2000" i="1" dirty="0"/>
              <a:t>β</a:t>
            </a:r>
            <a:r>
              <a:rPr lang="fr-FR" sz="2000" i="1" baseline="-25000" dirty="0"/>
              <a:t>11i</a:t>
            </a:r>
            <a:r>
              <a:rPr lang="fr-FR" sz="2000" i="1" dirty="0"/>
              <a:t>ARROWHEAD</a:t>
            </a:r>
            <a:r>
              <a:rPr lang="fr-FR" sz="2000" i="1" baseline="-25000" dirty="0"/>
              <a:t>i,t</a:t>
            </a:r>
            <a:r>
              <a:rPr lang="fr-FR" sz="2000" i="1" dirty="0"/>
              <a:t>*</a:t>
            </a:r>
            <a:r>
              <a:rPr lang="en-US" sz="2000" i="1" dirty="0" err="1"/>
              <a:t>COI</a:t>
            </a:r>
            <a:r>
              <a:rPr lang="en-US" sz="2000" i="1" baseline="-25000" dirty="0" err="1"/>
              <a:t>i,t</a:t>
            </a:r>
            <a:r>
              <a:rPr lang="en-US" sz="2000" i="1" baseline="-25000" dirty="0"/>
              <a:t> </a:t>
            </a:r>
            <a:r>
              <a:rPr lang="fr-FR" sz="2000" i="1" dirty="0"/>
              <a:t>+</a:t>
            </a:r>
            <a:r>
              <a:rPr lang="en-US" sz="2000" i="1" dirty="0"/>
              <a:t>β</a:t>
            </a:r>
            <a:r>
              <a:rPr lang="fr-FR" sz="2000" i="1" baseline="-25000" dirty="0"/>
              <a:t>12i</a:t>
            </a:r>
            <a:r>
              <a:rPr lang="fr-FR" sz="2000" i="1" dirty="0"/>
              <a:t>ARROWHEAD</a:t>
            </a:r>
            <a:r>
              <a:rPr lang="fr-FR" sz="2000" i="1" baseline="-25000" dirty="0"/>
              <a:t>i,t</a:t>
            </a:r>
            <a:r>
              <a:rPr lang="fr-FR" sz="2000" i="1" dirty="0"/>
              <a:t>*</a:t>
            </a:r>
            <a:r>
              <a:rPr lang="en-US" sz="2000" i="1" dirty="0" err="1"/>
              <a:t>SLOPE</a:t>
            </a:r>
            <a:r>
              <a:rPr lang="en-US" sz="2000" i="1" baseline="-25000" dirty="0" err="1"/>
              <a:t>it</a:t>
            </a:r>
            <a:r>
              <a:rPr lang="en-US" sz="2000" i="1" baseline="-25000" dirty="0"/>
              <a:t> </a:t>
            </a:r>
            <a:r>
              <a:rPr lang="en-US" sz="2000" i="1" dirty="0"/>
              <a:t>+µ</a:t>
            </a:r>
            <a:r>
              <a:rPr lang="en-US" sz="2000" i="1" baseline="-25000" dirty="0"/>
              <a:t>i,t+1</a:t>
            </a:r>
            <a:endParaRPr lang="en-US" sz="2000" dirty="0"/>
          </a:p>
        </p:txBody>
      </p:sp>
      <p:graphicFrame>
        <p:nvGraphicFramePr>
          <p:cNvPr id="7" name="Table 6"/>
          <p:cNvGraphicFramePr>
            <a:graphicFrameLocks noGrp="1"/>
          </p:cNvGraphicFramePr>
          <p:nvPr>
            <p:extLst>
              <p:ext uri="{D42A27DB-BD31-4B8C-83A1-F6EECF244321}">
                <p14:modId xmlns:p14="http://schemas.microsoft.com/office/powerpoint/2010/main" val="571859917"/>
              </p:ext>
            </p:extLst>
          </p:nvPr>
        </p:nvGraphicFramePr>
        <p:xfrm>
          <a:off x="228600" y="2286000"/>
          <a:ext cx="8534400" cy="2724267"/>
        </p:xfrm>
        <a:graphic>
          <a:graphicData uri="http://schemas.openxmlformats.org/drawingml/2006/table">
            <a:tbl>
              <a:tblPr firstRow="1" firstCol="1" bandRow="1">
                <a:tableStyleId>{5C22544A-7EE6-4342-B048-85BDC9FD1C3A}</a:tableStyleId>
              </a:tblPr>
              <a:tblGrid>
                <a:gridCol w="3365531"/>
                <a:gridCol w="2497006"/>
                <a:gridCol w="2671863"/>
              </a:tblGrid>
              <a:tr h="375030">
                <a:tc>
                  <a:txBody>
                    <a:bodyPr/>
                    <a:lstStyle/>
                    <a:p>
                      <a:pPr marL="0" marR="0">
                        <a:spcBef>
                          <a:spcPts val="0"/>
                        </a:spcBef>
                        <a:spcAft>
                          <a:spcPts val="0"/>
                        </a:spcAft>
                      </a:pPr>
                      <a:r>
                        <a:rPr lang="en-US" sz="2200" dirty="0">
                          <a:effectLst/>
                          <a:latin typeface="Times New Roman" pitchFamily="18" charset="0"/>
                          <a:cs typeface="Times New Roman" pitchFamily="18" charset="0"/>
                        </a:rPr>
                        <a:t>Variables</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2200" smtClean="0">
                          <a:effectLst/>
                          <a:latin typeface="Times New Roman" pitchFamily="18" charset="0"/>
                          <a:cs typeface="Times New Roman" pitchFamily="18" charset="0"/>
                        </a:rPr>
                        <a:t>(β</a:t>
                      </a:r>
                      <a:r>
                        <a:rPr lang="en-US" sz="2200" dirty="0">
                          <a:effectLst/>
                          <a:latin typeface="Times New Roman" pitchFamily="18" charset="0"/>
                          <a:cs typeface="Times New Roman" pitchFamily="18" charset="0"/>
                        </a:rPr>
                        <a:t>)</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1800" b="1" kern="1200" dirty="0" smtClean="0">
                          <a:solidFill>
                            <a:schemeClr val="lt1"/>
                          </a:solidFill>
                          <a:effectLst/>
                          <a:latin typeface="+mn-lt"/>
                          <a:ea typeface="+mn-ea"/>
                          <a:cs typeface="+mn-cs"/>
                        </a:rPr>
                        <a:t>%t (%sign)</a:t>
                      </a:r>
                      <a:endParaRPr lang="en-US" sz="2200" dirty="0">
                        <a:effectLst/>
                        <a:latin typeface="Times New Roman" pitchFamily="18" charset="0"/>
                        <a:ea typeface="Calibri"/>
                        <a:cs typeface="Times New Roman" pitchFamily="18" charset="0"/>
                      </a:endParaRPr>
                    </a:p>
                  </a:txBody>
                  <a:tcPr marL="44664" marR="44664" marT="0" marB="0"/>
                </a:tc>
              </a:tr>
              <a:tr h="483998">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ARROWHEAD</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151765" algn="dec"/>
                        </a:tabLst>
                      </a:pPr>
                      <a:r>
                        <a:rPr lang="en-US" sz="2200" dirty="0">
                          <a:effectLst/>
                          <a:latin typeface="Times New Roman"/>
                          <a:ea typeface="Calibri"/>
                        </a:rPr>
                        <a:t>2.59*</a:t>
                      </a:r>
                    </a:p>
                  </a:txBody>
                  <a:tcPr marL="68580" marR="68580" marT="0" marB="0">
                    <a:solidFill>
                      <a:srgbClr val="FFC000"/>
                    </a:solidFill>
                  </a:tcPr>
                </a:tc>
                <a:tc>
                  <a:txBody>
                    <a:bodyPr/>
                    <a:lstStyle/>
                    <a:p>
                      <a:pPr marL="0" marR="0" algn="ctr">
                        <a:spcBef>
                          <a:spcPts val="0"/>
                        </a:spcBef>
                        <a:spcAft>
                          <a:spcPts val="0"/>
                        </a:spcAft>
                      </a:pPr>
                      <a:r>
                        <a:rPr lang="en-US" sz="2200" dirty="0">
                          <a:effectLst/>
                          <a:latin typeface="Times New Roman"/>
                          <a:ea typeface="Calibri"/>
                        </a:rPr>
                        <a:t>88 (97)</a:t>
                      </a:r>
                    </a:p>
                  </a:txBody>
                  <a:tcPr marL="68580" marR="68580" marT="0" marB="0">
                    <a:solidFill>
                      <a:srgbClr val="FFC000"/>
                    </a:solidFill>
                  </a:tcPr>
                </a:tc>
              </a:tr>
              <a:tr h="483998">
                <a:tc>
                  <a:txBody>
                    <a:bodyPr/>
                    <a:lstStyle/>
                    <a:p>
                      <a:pPr marL="0" marR="0">
                        <a:spcBef>
                          <a:spcPts val="0"/>
                        </a:spcBef>
                        <a:spcAft>
                          <a:spcPts val="0"/>
                        </a:spcAft>
                      </a:pPr>
                      <a:r>
                        <a:rPr lang="en-US" sz="2200" dirty="0" smtClean="0">
                          <a:effectLst/>
                          <a:latin typeface="Times New Roman" pitchFamily="18" charset="0"/>
                          <a:cs typeface="Times New Roman" pitchFamily="18" charset="0"/>
                        </a:rPr>
                        <a:t> COI</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tabLst>
                          <a:tab pos="151765" algn="dec"/>
                        </a:tabLst>
                      </a:pPr>
                      <a:r>
                        <a:rPr lang="en-US" sz="2200">
                          <a:effectLst/>
                          <a:latin typeface="Times New Roman"/>
                          <a:ea typeface="Calibri"/>
                        </a:rPr>
                        <a:t>-1.31*</a:t>
                      </a:r>
                    </a:p>
                  </a:txBody>
                  <a:tcPr marL="68580" marR="68580" marT="0" marB="0">
                    <a:solidFill>
                      <a:srgbClr val="FFC000"/>
                    </a:solidFill>
                  </a:tcPr>
                </a:tc>
                <a:tc>
                  <a:txBody>
                    <a:bodyPr/>
                    <a:lstStyle/>
                    <a:p>
                      <a:pPr marL="0" marR="0" algn="ctr">
                        <a:spcBef>
                          <a:spcPts val="0"/>
                        </a:spcBef>
                        <a:spcAft>
                          <a:spcPts val="0"/>
                        </a:spcAft>
                      </a:pPr>
                      <a:r>
                        <a:rPr lang="en-US" sz="2200" dirty="0">
                          <a:effectLst/>
                          <a:latin typeface="Times New Roman"/>
                          <a:ea typeface="Calibri"/>
                        </a:rPr>
                        <a:t>64 (72)</a:t>
                      </a:r>
                    </a:p>
                  </a:txBody>
                  <a:tcPr marL="68580" marR="68580" marT="0" marB="0">
                    <a:solidFill>
                      <a:srgbClr val="FFC000"/>
                    </a:solidFill>
                  </a:tcPr>
                </a:tc>
              </a:tr>
              <a:tr h="522555">
                <a:tc>
                  <a:txBody>
                    <a:bodyPr/>
                    <a:lstStyle/>
                    <a:p>
                      <a:pPr marL="0" marR="0">
                        <a:spcBef>
                          <a:spcPts val="0"/>
                        </a:spcBef>
                        <a:spcAft>
                          <a:spcPts val="0"/>
                        </a:spcAft>
                      </a:pPr>
                      <a:r>
                        <a:rPr lang="en-US" sz="2200" dirty="0">
                          <a:latin typeface="Times New Roman" pitchFamily="18" charset="0"/>
                          <a:ea typeface="Calibri"/>
                          <a:cs typeface="Times New Roman" pitchFamily="18" charset="0"/>
                        </a:rPr>
                        <a:t>SLOPE</a:t>
                      </a:r>
                    </a:p>
                  </a:txBody>
                  <a:tcPr marL="68580" marR="68580" marT="0" marB="0"/>
                </a:tc>
                <a:tc>
                  <a:txBody>
                    <a:bodyPr/>
                    <a:lstStyle/>
                    <a:p>
                      <a:pPr marL="0" marR="0" algn="ctr">
                        <a:spcBef>
                          <a:spcPts val="0"/>
                        </a:spcBef>
                        <a:spcAft>
                          <a:spcPts val="0"/>
                        </a:spcAft>
                        <a:tabLst>
                          <a:tab pos="151765" algn="dec"/>
                        </a:tabLst>
                      </a:pPr>
                      <a:r>
                        <a:rPr lang="en-US" sz="2200">
                          <a:effectLst/>
                          <a:latin typeface="Times New Roman"/>
                          <a:ea typeface="Calibri"/>
                        </a:rPr>
                        <a:t>2.03*</a:t>
                      </a:r>
                    </a:p>
                  </a:txBody>
                  <a:tcPr marL="68580" marR="68580" marT="0" marB="0"/>
                </a:tc>
                <a:tc>
                  <a:txBody>
                    <a:bodyPr/>
                    <a:lstStyle/>
                    <a:p>
                      <a:pPr marL="0" marR="0" algn="ctr">
                        <a:spcBef>
                          <a:spcPts val="0"/>
                        </a:spcBef>
                        <a:spcAft>
                          <a:spcPts val="0"/>
                        </a:spcAft>
                      </a:pPr>
                      <a:r>
                        <a:rPr lang="en-US" sz="2200">
                          <a:effectLst/>
                          <a:latin typeface="Times New Roman"/>
                          <a:ea typeface="Calibri"/>
                        </a:rPr>
                        <a:t>79 (92)</a:t>
                      </a:r>
                    </a:p>
                  </a:txBody>
                  <a:tcPr marL="68580" marR="68580" marT="0" marB="0"/>
                </a:tc>
              </a:tr>
              <a:tr h="483737">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ARROW*COI</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151765" algn="dec"/>
                        </a:tabLst>
                      </a:pPr>
                      <a:r>
                        <a:rPr lang="en-US" sz="2200">
                          <a:effectLst/>
                          <a:latin typeface="Times New Roman"/>
                          <a:ea typeface="Calibri"/>
                        </a:rPr>
                        <a:t>-1.54*</a:t>
                      </a:r>
                    </a:p>
                  </a:txBody>
                  <a:tcPr marL="68580" marR="68580" marT="0" marB="0">
                    <a:solidFill>
                      <a:srgbClr val="FFC000"/>
                    </a:solidFill>
                  </a:tcPr>
                </a:tc>
                <a:tc>
                  <a:txBody>
                    <a:bodyPr/>
                    <a:lstStyle/>
                    <a:p>
                      <a:pPr marL="0" marR="0" algn="ctr">
                        <a:spcBef>
                          <a:spcPts val="0"/>
                        </a:spcBef>
                        <a:spcAft>
                          <a:spcPts val="0"/>
                        </a:spcAft>
                      </a:pPr>
                      <a:r>
                        <a:rPr lang="en-US" sz="2200">
                          <a:effectLst/>
                          <a:latin typeface="Times New Roman"/>
                          <a:ea typeface="Calibri"/>
                        </a:rPr>
                        <a:t>81 (88)</a:t>
                      </a:r>
                    </a:p>
                  </a:txBody>
                  <a:tcPr marL="68580" marR="68580" marT="0" marB="0">
                    <a:solidFill>
                      <a:srgbClr val="FFC000"/>
                    </a:solidFill>
                  </a:tcPr>
                </a:tc>
              </a:tr>
              <a:tr h="374949">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ARROW*SLOPE</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151765" algn="dec"/>
                        </a:tabLst>
                      </a:pPr>
                      <a:r>
                        <a:rPr lang="en-US" sz="2200">
                          <a:effectLst/>
                          <a:latin typeface="Times New Roman"/>
                          <a:ea typeface="Calibri"/>
                        </a:rPr>
                        <a:t>2.33*</a:t>
                      </a:r>
                    </a:p>
                  </a:txBody>
                  <a:tcPr marL="68580" marR="68580" marT="0" marB="0"/>
                </a:tc>
                <a:tc>
                  <a:txBody>
                    <a:bodyPr/>
                    <a:lstStyle/>
                    <a:p>
                      <a:pPr marL="0" marR="0" algn="ctr">
                        <a:spcBef>
                          <a:spcPts val="0"/>
                        </a:spcBef>
                        <a:spcAft>
                          <a:spcPts val="0"/>
                        </a:spcAft>
                      </a:pPr>
                      <a:r>
                        <a:rPr lang="en-US" sz="2200" dirty="0">
                          <a:effectLst/>
                          <a:latin typeface="Times New Roman"/>
                          <a:ea typeface="Calibri"/>
                        </a:rPr>
                        <a:t>83 (96)</a:t>
                      </a:r>
                    </a:p>
                  </a:txBody>
                  <a:tcPr marL="68580" marR="68580" marT="0" marB="0"/>
                </a:tc>
              </a:tr>
            </a:tbl>
          </a:graphicData>
        </a:graphic>
      </p:graphicFrame>
      <p:sp>
        <p:nvSpPr>
          <p:cNvPr id="9" name="TextBox 8"/>
          <p:cNvSpPr txBox="1"/>
          <p:nvPr/>
        </p:nvSpPr>
        <p:spPr>
          <a:xfrm>
            <a:off x="0" y="5334000"/>
            <a:ext cx="9144000" cy="892552"/>
          </a:xfrm>
          <a:prstGeom prst="rect">
            <a:avLst/>
          </a:prstGeom>
          <a:noFill/>
        </p:spPr>
        <p:txBody>
          <a:bodyPr wrap="square" rtlCol="0">
            <a:spAutoFit/>
          </a:bodyPr>
          <a:lstStyle/>
          <a:p>
            <a:r>
              <a:rPr lang="en-US" sz="2600" dirty="0" smtClean="0"/>
              <a:t>   ARROWHEAD </a:t>
            </a:r>
            <a:r>
              <a:rPr lang="en-US" sz="2600" dirty="0"/>
              <a:t>increased Quote-to-trade </a:t>
            </a:r>
            <a:r>
              <a:rPr lang="en-US" sz="2600" dirty="0" smtClean="0"/>
              <a:t>ratio; strengthens  COI </a:t>
            </a:r>
            <a:r>
              <a:rPr lang="en-US" sz="2600" dirty="0"/>
              <a:t>=&gt;Quotes-to-trade ratio relation</a:t>
            </a:r>
            <a:r>
              <a:rPr lang="en-US" sz="2600" dirty="0" smtClean="0"/>
              <a:t>.</a:t>
            </a:r>
            <a:endParaRPr lang="en-US" sz="2600" dirty="0"/>
          </a:p>
        </p:txBody>
      </p:sp>
      <p:sp>
        <p:nvSpPr>
          <p:cNvPr id="10" name="Rectangle 2"/>
          <p:cNvSpPr txBox="1">
            <a:spLocks noChangeArrowheads="1"/>
          </p:cNvSpPr>
          <p:nvPr/>
        </p:nvSpPr>
        <p:spPr bwMode="blackWhite">
          <a:xfrm>
            <a:off x="228600" y="76200"/>
            <a:ext cx="8763000" cy="6096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r>
              <a:rPr lang="en-US" sz="2900" b="1" dirty="0" smtClean="0">
                <a:solidFill>
                  <a:schemeClr val="bg1"/>
                </a:solidFill>
              </a:rPr>
              <a:t>LOB COI Predicts the future Quotes-to-trade ratio</a:t>
            </a:r>
            <a:endParaRPr lang="en-US" sz="2900" b="1" dirty="0">
              <a:solidFill>
                <a:schemeClr val="bg1"/>
              </a:solidFill>
            </a:endParaRPr>
          </a:p>
        </p:txBody>
      </p:sp>
      <p:sp>
        <p:nvSpPr>
          <p:cNvPr id="11" name="TextBox 10"/>
          <p:cNvSpPr txBox="1"/>
          <p:nvPr/>
        </p:nvSpPr>
        <p:spPr>
          <a:xfrm>
            <a:off x="38100" y="6324600"/>
            <a:ext cx="9144000" cy="492443"/>
          </a:xfrm>
          <a:prstGeom prst="rect">
            <a:avLst/>
          </a:prstGeom>
          <a:noFill/>
        </p:spPr>
        <p:txBody>
          <a:bodyPr wrap="square" rtlCol="0">
            <a:spAutoFit/>
          </a:bodyPr>
          <a:lstStyle/>
          <a:p>
            <a:r>
              <a:rPr lang="en-US" sz="2600" dirty="0" smtClean="0"/>
              <a:t>  Higher COI =&gt; Lower Quotes-to-trade ratio</a:t>
            </a:r>
            <a:endParaRPr lang="en-US" sz="2600" dirty="0"/>
          </a:p>
        </p:txBody>
      </p:sp>
    </p:spTree>
    <p:extLst>
      <p:ext uri="{BB962C8B-B14F-4D97-AF65-F5344CB8AC3E}">
        <p14:creationId xmlns:p14="http://schemas.microsoft.com/office/powerpoint/2010/main" val="2573106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5" name="Rectangle 4"/>
              <p:cNvSpPr/>
              <p:nvPr/>
            </p:nvSpPr>
            <p:spPr>
              <a:xfrm>
                <a:off x="381000" y="1524000"/>
                <a:ext cx="8229600" cy="14621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𝑋</m:t>
                          </m:r>
                        </m:e>
                        <m:sub>
                          <m:r>
                            <a:rPr lang="en-US" sz="2600" i="1">
                              <a:latin typeface="Cambria Math"/>
                            </a:rPr>
                            <m:t>𝑖</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𝛼</m:t>
                          </m:r>
                        </m:e>
                        <m:sub>
                          <m:r>
                            <a:rPr lang="en-US" sz="2600" i="1">
                              <a:latin typeface="Cambria Math"/>
                            </a:rPr>
                            <m:t>𝑖</m:t>
                          </m:r>
                        </m:sub>
                      </m:sSub>
                      <m:r>
                        <a:rPr lang="en-US" sz="2600" i="1">
                          <a:latin typeface="Cambria Math"/>
                        </a:rPr>
                        <m:t> + </m:t>
                      </m:r>
                      <m:sSub>
                        <m:sSubPr>
                          <m:ctrlPr>
                            <a:rPr lang="en-US" sz="2600" i="1">
                              <a:latin typeface="Cambria Math"/>
                            </a:rPr>
                          </m:ctrlPr>
                        </m:sSubPr>
                        <m:e>
                          <m:r>
                            <a:rPr lang="en-US" sz="2600" i="1">
                              <a:latin typeface="Cambria Math"/>
                            </a:rPr>
                            <m:t>𝛽</m:t>
                          </m:r>
                        </m:e>
                        <m:sub>
                          <m:r>
                            <a:rPr lang="en-US" sz="2600" i="1">
                              <a:latin typeface="Cambria Math"/>
                            </a:rPr>
                            <m:t>𝑖</m:t>
                          </m:r>
                        </m:sub>
                      </m:sSub>
                      <m:sSub>
                        <m:sSubPr>
                          <m:ctrlPr>
                            <a:rPr lang="en-US" sz="2600" i="1">
                              <a:latin typeface="Cambria Math"/>
                            </a:rPr>
                          </m:ctrlPr>
                        </m:sSubPr>
                        <m:e>
                          <m:r>
                            <a:rPr lang="en-US" sz="2600" i="1">
                              <a:latin typeface="Cambria Math"/>
                            </a:rPr>
                            <m:t>𝑆</m:t>
                          </m:r>
                        </m:e>
                        <m:sub>
                          <m:r>
                            <a:rPr lang="en-US" sz="2600" i="1">
                              <a:latin typeface="Cambria Math"/>
                            </a:rPr>
                            <m:t>𝑡</m:t>
                          </m:r>
                          <m:r>
                            <a:rPr lang="en-US" sz="2600" i="1">
                              <a:latin typeface="Cambria Math"/>
                            </a:rPr>
                            <m:t>−1</m:t>
                          </m:r>
                        </m:sub>
                      </m:sSub>
                      <m:r>
                        <a:rPr lang="en-US" sz="2600" i="1">
                          <a:latin typeface="Cambria Math"/>
                        </a:rPr>
                        <m:t> + </m:t>
                      </m:r>
                      <m:sSub>
                        <m:sSubPr>
                          <m:ctrlPr>
                            <a:rPr lang="en-US" sz="2600" i="1">
                              <a:latin typeface="Cambria Math"/>
                            </a:rPr>
                          </m:ctrlPr>
                        </m:sSubPr>
                        <m:e>
                          <m:r>
                            <a:rPr lang="en-US" sz="2600" i="1">
                              <a:latin typeface="Cambria Math"/>
                            </a:rPr>
                            <m:t>𝜀</m:t>
                          </m:r>
                        </m:e>
                        <m:sub>
                          <m:r>
                            <a:rPr lang="en-US" sz="2600" i="1">
                              <a:latin typeface="Cambria Math"/>
                            </a:rPr>
                            <m:t>𝑖</m:t>
                          </m:r>
                          <m:r>
                            <a:rPr lang="en-US" sz="2600" i="1">
                              <a:latin typeface="Cambria Math"/>
                            </a:rPr>
                            <m:t>,</m:t>
                          </m:r>
                          <m:r>
                            <a:rPr lang="en-US" sz="2600" i="1">
                              <a:latin typeface="Cambria Math"/>
                            </a:rPr>
                            <m:t>𝑡</m:t>
                          </m:r>
                        </m:sub>
                      </m:sSub>
                    </m:oMath>
                  </m:oMathPara>
                </a14:m>
                <a:endParaRPr lang="en-US" sz="2600" dirty="0"/>
              </a:p>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𝑋</m:t>
                          </m:r>
                        </m:e>
                        <m:sub>
                          <m:r>
                            <a:rPr lang="en-US" sz="2600" i="1">
                              <a:latin typeface="Cambria Math"/>
                            </a:rPr>
                            <m:t>𝑀𝐾𝑇</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𝛼</m:t>
                          </m:r>
                        </m:e>
                        <m:sub>
                          <m:r>
                            <a:rPr lang="en-US" sz="2600" i="1">
                              <a:latin typeface="Cambria Math"/>
                            </a:rPr>
                            <m:t>𝑀𝐾𝑇</m:t>
                          </m:r>
                        </m:sub>
                      </m:sSub>
                      <m:r>
                        <a:rPr lang="en-US" sz="2600" i="1">
                          <a:latin typeface="Cambria Math"/>
                        </a:rPr>
                        <m:t> + </m:t>
                      </m:r>
                      <m:sSub>
                        <m:sSubPr>
                          <m:ctrlPr>
                            <a:rPr lang="en-US" sz="2600" i="1">
                              <a:latin typeface="Cambria Math"/>
                            </a:rPr>
                          </m:ctrlPr>
                        </m:sSubPr>
                        <m:e>
                          <m:r>
                            <a:rPr lang="en-US" sz="2600" i="1">
                              <a:latin typeface="Cambria Math"/>
                            </a:rPr>
                            <m:t>𝛽</m:t>
                          </m:r>
                        </m:e>
                        <m:sub>
                          <m:r>
                            <a:rPr lang="en-US" sz="2600" i="1">
                              <a:latin typeface="Cambria Math"/>
                            </a:rPr>
                            <m:t>𝑀𝐾𝑇</m:t>
                          </m:r>
                        </m:sub>
                      </m:sSub>
                      <m:sSub>
                        <m:sSubPr>
                          <m:ctrlPr>
                            <a:rPr lang="en-US" sz="2600" i="1">
                              <a:latin typeface="Cambria Math"/>
                            </a:rPr>
                          </m:ctrlPr>
                        </m:sSubPr>
                        <m:e>
                          <m:r>
                            <a:rPr lang="en-US" sz="2600" i="1">
                              <a:latin typeface="Cambria Math"/>
                            </a:rPr>
                            <m:t>𝑆</m:t>
                          </m:r>
                        </m:e>
                        <m:sub>
                          <m:r>
                            <a:rPr lang="en-US" sz="2600" i="1">
                              <a:latin typeface="Cambria Math"/>
                            </a:rPr>
                            <m:t>𝑡</m:t>
                          </m:r>
                          <m:r>
                            <a:rPr lang="en-US" sz="2600" i="1">
                              <a:latin typeface="Cambria Math"/>
                            </a:rPr>
                            <m:t>−1</m:t>
                          </m:r>
                        </m:sub>
                      </m:sSub>
                      <m:r>
                        <a:rPr lang="en-US" sz="2600" i="1">
                          <a:latin typeface="Cambria Math"/>
                        </a:rPr>
                        <m:t> + </m:t>
                      </m:r>
                      <m:sSub>
                        <m:sSubPr>
                          <m:ctrlPr>
                            <a:rPr lang="en-US" sz="2600" i="1">
                              <a:latin typeface="Cambria Math"/>
                            </a:rPr>
                          </m:ctrlPr>
                        </m:sSubPr>
                        <m:e>
                          <m:r>
                            <a:rPr lang="en-US" sz="2600" i="1">
                              <a:latin typeface="Cambria Math"/>
                            </a:rPr>
                            <m:t>𝜀</m:t>
                          </m:r>
                        </m:e>
                        <m:sub>
                          <m:r>
                            <a:rPr lang="en-US" sz="2600" i="1">
                              <a:latin typeface="Cambria Math"/>
                            </a:rPr>
                            <m:t>𝑀𝐾𝑇</m:t>
                          </m:r>
                          <m:r>
                            <a:rPr lang="en-US" sz="2600" i="1">
                              <a:latin typeface="Cambria Math"/>
                            </a:rPr>
                            <m:t>,</m:t>
                          </m:r>
                          <m:r>
                            <a:rPr lang="en-US" sz="2600" i="1">
                              <a:latin typeface="Cambria Math"/>
                            </a:rPr>
                            <m:t>𝑡</m:t>
                          </m:r>
                        </m:sub>
                      </m:sSub>
                    </m:oMath>
                  </m:oMathPara>
                </a14:m>
                <a:endParaRPr lang="en-US" sz="2600" dirty="0"/>
              </a:p>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𝑋</m:t>
                          </m:r>
                        </m:e>
                        <m:sub>
                          <m:r>
                            <a:rPr lang="en-US" sz="2600" i="1">
                              <a:latin typeface="Cambria Math"/>
                            </a:rPr>
                            <m:t>𝑀𝐾𝑇</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𝛼</m:t>
                          </m:r>
                        </m:e>
                        <m:sub>
                          <m:r>
                            <a:rPr lang="en-US" sz="2600" i="1">
                              <a:latin typeface="Cambria Math"/>
                            </a:rPr>
                            <m:t>𝑀𝐾𝑇</m:t>
                          </m:r>
                          <m:r>
                            <a:rPr lang="en-US" sz="2600" i="1">
                              <a:latin typeface="Cambria Math"/>
                            </a:rPr>
                            <m:t>|</m:t>
                          </m:r>
                          <m:r>
                            <a:rPr lang="en-US" sz="2600" i="1">
                              <a:latin typeface="Cambria Math"/>
                            </a:rPr>
                            <m:t>𝑖</m:t>
                          </m:r>
                        </m:sub>
                      </m:sSub>
                      <m:r>
                        <a:rPr lang="en-US" sz="2600" i="1">
                          <a:latin typeface="Cambria Math"/>
                        </a:rPr>
                        <m:t> + </m:t>
                      </m:r>
                      <m:sSub>
                        <m:sSubPr>
                          <m:ctrlPr>
                            <a:rPr lang="en-US" sz="2600" i="1">
                              <a:latin typeface="Cambria Math"/>
                            </a:rPr>
                          </m:ctrlPr>
                        </m:sSubPr>
                        <m:e>
                          <m:r>
                            <a:rPr lang="en-US" sz="2600" i="1">
                              <a:latin typeface="Cambria Math"/>
                            </a:rPr>
                            <m:t>𝛽</m:t>
                          </m:r>
                        </m:e>
                        <m:sub>
                          <m:r>
                            <a:rPr lang="en-US" sz="2600" i="1">
                              <a:latin typeface="Cambria Math"/>
                            </a:rPr>
                            <m:t>𝑀𝐾𝑇</m:t>
                          </m:r>
                          <m:r>
                            <a:rPr lang="en-US" sz="2600" i="1">
                              <a:latin typeface="Cambria Math"/>
                            </a:rPr>
                            <m:t>|</m:t>
                          </m:r>
                          <m:r>
                            <a:rPr lang="en-US" sz="2600" i="1">
                              <a:latin typeface="Cambria Math"/>
                            </a:rPr>
                            <m:t>𝑖</m:t>
                          </m:r>
                        </m:sub>
                      </m:sSub>
                      <m:sSub>
                        <m:sSubPr>
                          <m:ctrlPr>
                            <a:rPr lang="en-US" sz="2600" i="1">
                              <a:latin typeface="Cambria Math"/>
                            </a:rPr>
                          </m:ctrlPr>
                        </m:sSubPr>
                        <m:e>
                          <m:r>
                            <a:rPr lang="en-US" sz="2600" i="1">
                              <a:latin typeface="Cambria Math"/>
                            </a:rPr>
                            <m:t>𝑆</m:t>
                          </m:r>
                        </m:e>
                        <m:sub>
                          <m:r>
                            <a:rPr lang="en-US" sz="2600" i="1">
                              <a:latin typeface="Cambria Math"/>
                            </a:rPr>
                            <m:t>𝑡</m:t>
                          </m:r>
                          <m:r>
                            <a:rPr lang="en-US" sz="2600" i="1">
                              <a:latin typeface="Cambria Math"/>
                            </a:rPr>
                            <m:t>−1</m:t>
                          </m:r>
                        </m:sub>
                      </m:sSub>
                      <m:r>
                        <a:rPr lang="en-US" sz="2600" i="1">
                          <a:latin typeface="Cambria Math"/>
                        </a:rPr>
                        <m:t> + </m:t>
                      </m:r>
                      <m:sSub>
                        <m:sSubPr>
                          <m:ctrlPr>
                            <a:rPr lang="en-US" sz="2600" i="1">
                              <a:latin typeface="Cambria Math"/>
                            </a:rPr>
                          </m:ctrlPr>
                        </m:sSubPr>
                        <m:e>
                          <m:r>
                            <a:rPr lang="en-US" sz="2600" i="1">
                              <a:latin typeface="Cambria Math"/>
                            </a:rPr>
                            <m:t>𝛾</m:t>
                          </m:r>
                        </m:e>
                        <m:sub>
                          <m:r>
                            <a:rPr lang="en-US" sz="2600" i="1">
                              <a:latin typeface="Cambria Math"/>
                            </a:rPr>
                            <m:t>𝑀𝐾𝑇</m:t>
                          </m:r>
                          <m:r>
                            <a:rPr lang="en-US" sz="2600" i="1">
                              <a:latin typeface="Cambria Math"/>
                            </a:rPr>
                            <m:t>|</m:t>
                          </m:r>
                          <m:r>
                            <a:rPr lang="en-US" sz="2600" i="1">
                              <a:latin typeface="Cambria Math"/>
                            </a:rPr>
                            <m:t>𝑖</m:t>
                          </m:r>
                        </m:sub>
                      </m:sSub>
                      <m:sSub>
                        <m:sSubPr>
                          <m:ctrlPr>
                            <a:rPr lang="en-US" sz="2600" i="1">
                              <a:latin typeface="Cambria Math"/>
                            </a:rPr>
                          </m:ctrlPr>
                        </m:sSubPr>
                        <m:e>
                          <m:r>
                            <a:rPr lang="en-US" sz="2600" i="1">
                              <a:latin typeface="Cambria Math"/>
                            </a:rPr>
                            <m:t>𝑋</m:t>
                          </m:r>
                        </m:e>
                        <m:sub>
                          <m:r>
                            <a:rPr lang="en-US" sz="2600" i="1">
                              <a:latin typeface="Cambria Math"/>
                            </a:rPr>
                            <m:t>𝑖</m:t>
                          </m:r>
                          <m:r>
                            <a:rPr lang="en-US" sz="2600" i="1">
                              <a:latin typeface="Cambria Math"/>
                            </a:rPr>
                            <m:t>,</m:t>
                          </m:r>
                          <m:r>
                            <a:rPr lang="en-US" sz="2600" i="1">
                              <a:latin typeface="Cambria Math"/>
                            </a:rPr>
                            <m:t>𝑡</m:t>
                          </m:r>
                        </m:sub>
                      </m:sSub>
                      <m:r>
                        <a:rPr lang="en-US" sz="2600" i="1">
                          <a:latin typeface="Cambria Math"/>
                        </a:rPr>
                        <m:t> + </m:t>
                      </m:r>
                      <m:sSub>
                        <m:sSubPr>
                          <m:ctrlPr>
                            <a:rPr lang="en-US" sz="2600" i="1">
                              <a:latin typeface="Cambria Math"/>
                            </a:rPr>
                          </m:ctrlPr>
                        </m:sSubPr>
                        <m:e>
                          <m:r>
                            <a:rPr lang="en-US" sz="2600" i="1">
                              <a:latin typeface="Cambria Math"/>
                            </a:rPr>
                            <m:t>𝜀</m:t>
                          </m:r>
                        </m:e>
                        <m:sub>
                          <m:r>
                            <a:rPr lang="en-US" sz="2600" i="1">
                              <a:latin typeface="Cambria Math"/>
                            </a:rPr>
                            <m:t>𝑀𝐾𝑇</m:t>
                          </m:r>
                          <m:r>
                            <a:rPr lang="en-US" sz="2600" i="1">
                              <a:latin typeface="Cambria Math"/>
                            </a:rPr>
                            <m:t>|</m:t>
                          </m:r>
                          <m:r>
                            <a:rPr lang="en-US" sz="2600" i="1">
                              <a:latin typeface="Cambria Math"/>
                            </a:rPr>
                            <m:t>𝑖</m:t>
                          </m:r>
                          <m:r>
                            <a:rPr lang="en-US" sz="2600" i="1">
                              <a:latin typeface="Cambria Math"/>
                            </a:rPr>
                            <m:t>,</m:t>
                          </m:r>
                          <m:r>
                            <a:rPr lang="en-US" sz="2600" i="1">
                              <a:latin typeface="Cambria Math"/>
                            </a:rPr>
                            <m:t>𝑡</m:t>
                          </m:r>
                        </m:sub>
                      </m:sSub>
                    </m:oMath>
                  </m:oMathPara>
                </a14:m>
                <a:endParaRPr lang="en-US" sz="2600" dirty="0"/>
              </a:p>
            </p:txBody>
          </p:sp>
        </mc:Choice>
        <mc:Fallback xmlns="">
          <p:sp>
            <p:nvSpPr>
              <p:cNvPr id="5" name="Rectangle 4"/>
              <p:cNvSpPr>
                <a:spLocks noRot="1" noChangeAspect="1" noMove="1" noResize="1" noEditPoints="1" noAdjustHandles="1" noChangeArrowheads="1" noChangeShapeType="1" noTextEdit="1"/>
              </p:cNvSpPr>
              <p:nvPr/>
            </p:nvSpPr>
            <p:spPr>
              <a:xfrm>
                <a:off x="381000" y="1524000"/>
                <a:ext cx="8229600" cy="1462195"/>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81000" y="1676400"/>
                <a:ext cx="8534400" cy="187987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𝑉𝐴𝑋</m:t>
                          </m:r>
                        </m:e>
                        <m:sub>
                          <m:r>
                            <a:rPr lang="en-US" sz="2600" i="1">
                              <a:latin typeface="Cambria Math"/>
                            </a:rPr>
                            <m:t>𝑖</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𝛼</m:t>
                          </m:r>
                        </m:e>
                        <m:sub>
                          <m:r>
                            <a:rPr lang="en-US" sz="2600" i="1">
                              <a:latin typeface="Cambria Math"/>
                            </a:rPr>
                            <m:t>𝑖</m:t>
                          </m:r>
                        </m:sub>
                      </m:sSub>
                      <m:r>
                        <a:rPr lang="en-US" sz="2600" i="1">
                          <a:latin typeface="Cambria Math"/>
                        </a:rPr>
                        <m:t> + </m:t>
                      </m:r>
                      <m:sSub>
                        <m:sSubPr>
                          <m:ctrlPr>
                            <a:rPr lang="en-US" sz="2600" i="1">
                              <a:latin typeface="Cambria Math"/>
                            </a:rPr>
                          </m:ctrlPr>
                        </m:sSubPr>
                        <m:e>
                          <m:r>
                            <a:rPr lang="en-US" sz="2600" i="1">
                              <a:latin typeface="Cambria Math"/>
                            </a:rPr>
                            <m:t>𝛽</m:t>
                          </m:r>
                        </m:e>
                        <m:sub>
                          <m:r>
                            <a:rPr lang="en-US" sz="2600" i="1">
                              <a:latin typeface="Cambria Math"/>
                            </a:rPr>
                            <m:t>𝑖</m:t>
                          </m:r>
                        </m:sub>
                      </m:sSub>
                      <m:sSub>
                        <m:sSubPr>
                          <m:ctrlPr>
                            <a:rPr lang="en-US" sz="2600" i="1">
                              <a:latin typeface="Cambria Math"/>
                            </a:rPr>
                          </m:ctrlPr>
                        </m:sSubPr>
                        <m:e>
                          <m:r>
                            <a:rPr lang="en-US" sz="2600" i="1">
                              <a:latin typeface="Cambria Math"/>
                            </a:rPr>
                            <m:t>𝑆</m:t>
                          </m:r>
                        </m:e>
                        <m:sub>
                          <m:r>
                            <a:rPr lang="en-US" sz="2600" i="1">
                              <a:latin typeface="Cambria Math"/>
                            </a:rPr>
                            <m:t>𝑡</m:t>
                          </m:r>
                          <m:r>
                            <a:rPr lang="en-US" sz="2600" i="1">
                              <a:latin typeface="Cambria Math"/>
                            </a:rPr>
                            <m:t>−1</m:t>
                          </m:r>
                        </m:sub>
                      </m:sSub>
                    </m:oMath>
                  </m:oMathPara>
                </a14:m>
                <a:endParaRPr lang="en-US" sz="2600" dirty="0"/>
              </a:p>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𝑉𝐴𝑋</m:t>
                          </m:r>
                        </m:e>
                        <m:sub>
                          <m:r>
                            <a:rPr lang="en-US" sz="2600" i="1">
                              <a:latin typeface="Cambria Math"/>
                            </a:rPr>
                            <m:t>𝑀𝐾𝑇</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𝛼</m:t>
                          </m:r>
                        </m:e>
                        <m:sub>
                          <m:r>
                            <a:rPr lang="en-US" sz="2600" i="1">
                              <a:latin typeface="Cambria Math"/>
                            </a:rPr>
                            <m:t>𝑀𝐾𝑇</m:t>
                          </m:r>
                        </m:sub>
                      </m:sSub>
                      <m:r>
                        <a:rPr lang="en-US" sz="2600" i="1">
                          <a:latin typeface="Cambria Math"/>
                        </a:rPr>
                        <m:t> + </m:t>
                      </m:r>
                      <m:sSub>
                        <m:sSubPr>
                          <m:ctrlPr>
                            <a:rPr lang="en-US" sz="2600" i="1">
                              <a:latin typeface="Cambria Math"/>
                            </a:rPr>
                          </m:ctrlPr>
                        </m:sSubPr>
                        <m:e>
                          <m:r>
                            <a:rPr lang="en-US" sz="2600" i="1">
                              <a:latin typeface="Cambria Math"/>
                            </a:rPr>
                            <m:t>𝛽</m:t>
                          </m:r>
                        </m:e>
                        <m:sub>
                          <m:r>
                            <a:rPr lang="en-US" sz="2600" i="1">
                              <a:latin typeface="Cambria Math"/>
                            </a:rPr>
                            <m:t>𝑀𝐾𝑇</m:t>
                          </m:r>
                        </m:sub>
                      </m:sSub>
                      <m:sSub>
                        <m:sSubPr>
                          <m:ctrlPr>
                            <a:rPr lang="en-US" sz="2600" i="1">
                              <a:latin typeface="Cambria Math"/>
                            </a:rPr>
                          </m:ctrlPr>
                        </m:sSubPr>
                        <m:e>
                          <m:r>
                            <a:rPr lang="en-US" sz="2600" i="1">
                              <a:latin typeface="Cambria Math"/>
                            </a:rPr>
                            <m:t>𝑆</m:t>
                          </m:r>
                        </m:e>
                        <m:sub>
                          <m:r>
                            <a:rPr lang="en-US" sz="2600" i="1">
                              <a:latin typeface="Cambria Math"/>
                            </a:rPr>
                            <m:t>𝑡</m:t>
                          </m:r>
                          <m:r>
                            <a:rPr lang="en-US" sz="2600" i="1">
                              <a:latin typeface="Cambria Math"/>
                            </a:rPr>
                            <m:t>−1</m:t>
                          </m:r>
                        </m:sub>
                      </m:sSub>
                    </m:oMath>
                  </m:oMathPara>
                </a14:m>
                <a:endParaRPr lang="en-US" sz="2600" dirty="0"/>
              </a:p>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𝐶𝑂𝑉𝐴𝑋</m:t>
                          </m:r>
                        </m:e>
                        <m:sub>
                          <m:r>
                            <a:rPr lang="en-US" sz="2600" i="1">
                              <a:latin typeface="Cambria Math"/>
                            </a:rPr>
                            <m:t>𝑖</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𝛼</m:t>
                          </m:r>
                        </m:e>
                        <m:sub>
                          <m:r>
                            <a:rPr lang="en-US" sz="2600" i="1">
                              <a:latin typeface="Cambria Math"/>
                            </a:rPr>
                            <m:t>𝑀𝐾𝑇</m:t>
                          </m:r>
                          <m:r>
                            <a:rPr lang="en-US" sz="2600" i="1">
                              <a:latin typeface="Cambria Math"/>
                            </a:rPr>
                            <m:t>|</m:t>
                          </m:r>
                          <m:r>
                            <a:rPr lang="en-US" sz="2600" i="1">
                              <a:latin typeface="Cambria Math"/>
                            </a:rPr>
                            <m:t>𝑖</m:t>
                          </m:r>
                        </m:sub>
                      </m:sSub>
                      <m:r>
                        <a:rPr lang="en-US" sz="2600" i="1">
                          <a:latin typeface="Cambria Math"/>
                        </a:rPr>
                        <m:t> + </m:t>
                      </m:r>
                      <m:sSub>
                        <m:sSubPr>
                          <m:ctrlPr>
                            <a:rPr lang="en-US" sz="2600" i="1">
                              <a:latin typeface="Cambria Math"/>
                            </a:rPr>
                          </m:ctrlPr>
                        </m:sSubPr>
                        <m:e>
                          <m:r>
                            <a:rPr lang="en-US" sz="2600" i="1">
                              <a:latin typeface="Cambria Math"/>
                            </a:rPr>
                            <m:t>𝛽</m:t>
                          </m:r>
                        </m:e>
                        <m:sub>
                          <m:r>
                            <a:rPr lang="en-US" sz="2600" i="1">
                              <a:latin typeface="Cambria Math"/>
                            </a:rPr>
                            <m:t>𝑀𝐾𝑇</m:t>
                          </m:r>
                          <m:r>
                            <a:rPr lang="en-US" sz="2600" i="1">
                              <a:latin typeface="Cambria Math"/>
                            </a:rPr>
                            <m:t>|</m:t>
                          </m:r>
                          <m:r>
                            <a:rPr lang="en-US" sz="2600" i="1">
                              <a:latin typeface="Cambria Math"/>
                            </a:rPr>
                            <m:t>𝑖</m:t>
                          </m:r>
                        </m:sub>
                      </m:sSub>
                      <m:sSub>
                        <m:sSubPr>
                          <m:ctrlPr>
                            <a:rPr lang="en-US" sz="2600" i="1">
                              <a:latin typeface="Cambria Math"/>
                            </a:rPr>
                          </m:ctrlPr>
                        </m:sSubPr>
                        <m:e>
                          <m:r>
                            <a:rPr lang="en-US" sz="2600" i="1">
                              <a:latin typeface="Cambria Math"/>
                            </a:rPr>
                            <m:t>𝑆</m:t>
                          </m:r>
                        </m:e>
                        <m:sub>
                          <m:r>
                            <a:rPr lang="en-US" sz="2600" i="1">
                              <a:latin typeface="Cambria Math"/>
                            </a:rPr>
                            <m:t>𝑡</m:t>
                          </m:r>
                          <m:r>
                            <a:rPr lang="en-US" sz="2600" i="1">
                              <a:latin typeface="Cambria Math"/>
                            </a:rPr>
                            <m:t>−1</m:t>
                          </m:r>
                        </m:sub>
                      </m:sSub>
                      <m:r>
                        <a:rPr lang="en-US" sz="2600" i="1">
                          <a:latin typeface="Cambria Math"/>
                        </a:rPr>
                        <m:t> + </m:t>
                      </m:r>
                      <m:sSub>
                        <m:sSubPr>
                          <m:ctrlPr>
                            <a:rPr lang="en-US" sz="2600" i="1">
                              <a:latin typeface="Cambria Math"/>
                            </a:rPr>
                          </m:ctrlPr>
                        </m:sSubPr>
                        <m:e>
                          <m:r>
                            <a:rPr lang="en-US" sz="2600" i="1">
                              <a:latin typeface="Cambria Math"/>
                            </a:rPr>
                            <m:t>𝛾</m:t>
                          </m:r>
                        </m:e>
                        <m:sub>
                          <m:r>
                            <a:rPr lang="en-US" sz="2600" i="1">
                              <a:latin typeface="Cambria Math"/>
                            </a:rPr>
                            <m:t>𝑀𝐾𝑇</m:t>
                          </m:r>
                          <m:r>
                            <a:rPr lang="en-US" sz="2600" i="1">
                              <a:latin typeface="Cambria Math"/>
                            </a:rPr>
                            <m:t>|</m:t>
                          </m:r>
                          <m:r>
                            <a:rPr lang="en-US" sz="2600" i="1">
                              <a:latin typeface="Cambria Math"/>
                            </a:rPr>
                            <m:t>𝑖</m:t>
                          </m:r>
                        </m:sub>
                      </m:sSub>
                      <m:sSub>
                        <m:sSubPr>
                          <m:ctrlPr>
                            <a:rPr lang="en-US" sz="2600" i="1">
                              <a:latin typeface="Cambria Math"/>
                            </a:rPr>
                          </m:ctrlPr>
                        </m:sSubPr>
                        <m:e>
                          <m:r>
                            <a:rPr lang="en-US" sz="2600" i="1">
                              <a:latin typeface="Cambria Math"/>
                            </a:rPr>
                            <m:t>𝑉𝐴𝑋</m:t>
                          </m:r>
                        </m:e>
                        <m:sub>
                          <m:r>
                            <a:rPr lang="en-US" sz="2600" i="1">
                              <a:latin typeface="Cambria Math"/>
                            </a:rPr>
                            <m:t>𝑖</m:t>
                          </m:r>
                          <m:r>
                            <a:rPr lang="en-US" sz="2600" i="1">
                              <a:latin typeface="Cambria Math"/>
                            </a:rPr>
                            <m:t>,</m:t>
                          </m:r>
                          <m:r>
                            <a:rPr lang="en-US" sz="2600" i="1">
                              <a:latin typeface="Cambria Math"/>
                            </a:rPr>
                            <m:t>𝑡</m:t>
                          </m:r>
                        </m:sub>
                      </m:sSub>
                    </m:oMath>
                  </m:oMathPara>
                </a14:m>
                <a:endParaRPr lang="en-US" sz="2600" dirty="0"/>
              </a:p>
              <a:p>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m:t>
                          </m:r>
                          <m:r>
                            <a:rPr lang="en-US" sz="2600" i="1">
                              <a:latin typeface="Cambria Math"/>
                            </a:rPr>
                            <m:t>𝐶𝑂𝑉𝐴𝑋</m:t>
                          </m:r>
                        </m:e>
                        <m:sub>
                          <m:r>
                            <a:rPr lang="en-US" sz="2600" i="1">
                              <a:latin typeface="Cambria Math"/>
                            </a:rPr>
                            <m:t>𝑖</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𝐶𝑂𝑉𝐴𝑋</m:t>
                          </m:r>
                        </m:e>
                        <m:sub>
                          <m:r>
                            <a:rPr lang="en-US" sz="2600" i="1">
                              <a:latin typeface="Cambria Math"/>
                            </a:rPr>
                            <m:t>𝑖</m:t>
                          </m:r>
                          <m:r>
                            <a:rPr lang="en-US" sz="2600" i="1">
                              <a:latin typeface="Cambria Math"/>
                            </a:rPr>
                            <m:t>,</m:t>
                          </m:r>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𝑉𝐴𝑅</m:t>
                          </m:r>
                        </m:e>
                        <m:sub>
                          <m:r>
                            <a:rPr lang="en-US" sz="2600" i="1">
                              <a:latin typeface="Cambria Math"/>
                            </a:rPr>
                            <m:t>𝑀𝐾𝑇</m:t>
                          </m:r>
                          <m:r>
                            <a:rPr lang="en-US" sz="2600" i="1">
                              <a:latin typeface="Cambria Math"/>
                            </a:rPr>
                            <m:t>,</m:t>
                          </m:r>
                          <m:r>
                            <a:rPr lang="en-US" sz="2600" i="1">
                              <a:latin typeface="Cambria Math"/>
                            </a:rPr>
                            <m:t>𝑡</m:t>
                          </m:r>
                        </m:sub>
                      </m:sSub>
                    </m:oMath>
                  </m:oMathPara>
                </a14:m>
                <a:endParaRPr lang="en-US" sz="2600" dirty="0"/>
              </a:p>
            </p:txBody>
          </p:sp>
        </mc:Choice>
        <mc:Fallback xmlns="">
          <p:sp>
            <p:nvSpPr>
              <p:cNvPr id="6" name="Rectangle 5"/>
              <p:cNvSpPr>
                <a:spLocks noRot="1" noChangeAspect="1" noMove="1" noResize="1" noEditPoints="1" noAdjustHandles="1" noChangeArrowheads="1" noChangeShapeType="1" noTextEdit="1"/>
              </p:cNvSpPr>
              <p:nvPr/>
            </p:nvSpPr>
            <p:spPr>
              <a:xfrm>
                <a:off x="381000" y="1676400"/>
                <a:ext cx="8534400" cy="1879874"/>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90500" y="4191000"/>
                <a:ext cx="8915400" cy="2545697"/>
              </a:xfrm>
              <a:prstGeom prst="rect">
                <a:avLst/>
              </a:prstGeom>
            </p:spPr>
            <p:txBody>
              <a:bodyPr wrap="square">
                <a:spAutoFit/>
              </a:bodyPr>
              <a:lstStyle/>
              <a:p>
                <a:r>
                  <a:rPr lang="en-US" sz="2600" dirty="0" smtClean="0"/>
                  <a:t>where </a:t>
                </a:r>
                <a14:m>
                  <m:oMath xmlns:m="http://schemas.openxmlformats.org/officeDocument/2006/math">
                    <m:sSub>
                      <m:sSubPr>
                        <m:ctrlPr>
                          <a:rPr lang="en-US" sz="2600" i="1">
                            <a:latin typeface="Cambria Math"/>
                          </a:rPr>
                        </m:ctrlPr>
                      </m:sSubPr>
                      <m:e>
                        <m:r>
                          <a:rPr lang="en-US" sz="2600" i="1">
                            <a:latin typeface="Cambria Math"/>
                          </a:rPr>
                          <m:t>∆</m:t>
                        </m:r>
                        <m:r>
                          <a:rPr lang="en-US" sz="2600" i="1">
                            <a:latin typeface="Cambria Math"/>
                          </a:rPr>
                          <m:t>𝐶𝑂𝑉𝐴𝑋</m:t>
                        </m:r>
                      </m:e>
                      <m:sub>
                        <m:r>
                          <a:rPr lang="en-US" sz="2600" i="1">
                            <a:latin typeface="Cambria Math"/>
                          </a:rPr>
                          <m:t>𝑖</m:t>
                        </m:r>
                        <m:r>
                          <a:rPr lang="en-US" sz="2600" i="1">
                            <a:latin typeface="Cambria Math"/>
                          </a:rPr>
                          <m:t>,</m:t>
                        </m:r>
                        <m:r>
                          <a:rPr lang="en-US" sz="2600" i="1">
                            <a:latin typeface="Cambria Math"/>
                          </a:rPr>
                          <m:t>𝑡</m:t>
                        </m:r>
                      </m:sub>
                    </m:sSub>
                  </m:oMath>
                </a14:m>
                <a:r>
                  <a:rPr lang="en-US" sz="2600" dirty="0"/>
                  <a:t> denotes the difference between the </a:t>
                </a:r>
                <a:r>
                  <a:rPr lang="en-US" sz="2600" i="1" dirty="0"/>
                  <a:t>VAX </a:t>
                </a:r>
                <a:r>
                  <a:rPr lang="en-US" sz="2600" dirty="0"/>
                  <a:t>of the stock market conditional on the illiquidity risk of a particular stock </a:t>
                </a:r>
                <a:r>
                  <a:rPr lang="en-US" sz="2600" i="1" dirty="0" err="1"/>
                  <a:t>i</a:t>
                </a:r>
                <a:r>
                  <a:rPr lang="en-US" sz="2600" dirty="0"/>
                  <a:t>, </a:t>
                </a:r>
                <a:r>
                  <a:rPr lang="en-US" sz="2600" i="1" dirty="0" err="1"/>
                  <a:t>COVAX</a:t>
                </a:r>
                <a:r>
                  <a:rPr lang="en-US" sz="2600" i="1" baseline="-25000" dirty="0" err="1"/>
                  <a:t>i</a:t>
                </a:r>
                <a:r>
                  <a:rPr lang="en-US" sz="2600" dirty="0"/>
                  <a:t>, and the unconditional </a:t>
                </a:r>
                <a:r>
                  <a:rPr lang="en-US" sz="2600" i="1" dirty="0"/>
                  <a:t>VAX</a:t>
                </a:r>
                <a:r>
                  <a:rPr lang="en-US" sz="2600" dirty="0"/>
                  <a:t> of the stock market, i.e., </a:t>
                </a:r>
                <a14:m>
                  <m:oMath xmlns:m="http://schemas.openxmlformats.org/officeDocument/2006/math">
                    <m:sSub>
                      <m:sSubPr>
                        <m:ctrlPr>
                          <a:rPr lang="en-US" sz="2600" i="1">
                            <a:latin typeface="Cambria Math"/>
                          </a:rPr>
                        </m:ctrlPr>
                      </m:sSubPr>
                      <m:e>
                        <m:r>
                          <a:rPr lang="en-US" sz="2600" i="1">
                            <a:latin typeface="Cambria Math"/>
                          </a:rPr>
                          <m:t>𝑉𝑎𝑅</m:t>
                        </m:r>
                      </m:e>
                      <m:sub>
                        <m:r>
                          <a:rPr lang="en-US" sz="2600" i="1">
                            <a:latin typeface="Cambria Math"/>
                          </a:rPr>
                          <m:t>𝑀𝐾𝑇</m:t>
                        </m:r>
                        <m:r>
                          <a:rPr lang="en-US" sz="2600" i="1">
                            <a:latin typeface="Cambria Math"/>
                          </a:rPr>
                          <m:t>,</m:t>
                        </m:r>
                        <m:r>
                          <a:rPr lang="en-US" sz="2600" i="1">
                            <a:latin typeface="Cambria Math"/>
                          </a:rPr>
                          <m:t>𝑡</m:t>
                        </m:r>
                      </m:sub>
                    </m:sSub>
                    <m:r>
                      <a:rPr lang="en-US" sz="2600" b="0" i="0" smtClean="0">
                        <a:latin typeface="Cambria Math"/>
                      </a:rPr>
                      <m:t>. </m:t>
                    </m:r>
                  </m:oMath>
                </a14:m>
                <a:r>
                  <a:rPr lang="en-US" sz="2600" dirty="0" smtClean="0"/>
                  <a:t>Hence</a:t>
                </a:r>
                <a:r>
                  <a:rPr lang="en-US" sz="2600" dirty="0"/>
                  <a:t>, </a:t>
                </a:r>
                <a14:m>
                  <m:oMath xmlns:m="http://schemas.openxmlformats.org/officeDocument/2006/math">
                    <m:sSub>
                      <m:sSubPr>
                        <m:ctrlPr>
                          <a:rPr lang="en-US" sz="2600" i="1">
                            <a:latin typeface="Cambria Math"/>
                          </a:rPr>
                        </m:ctrlPr>
                      </m:sSubPr>
                      <m:e>
                        <m:r>
                          <a:rPr lang="en-US" sz="2600" i="1">
                            <a:latin typeface="Cambria Math"/>
                          </a:rPr>
                          <m:t>∆</m:t>
                        </m:r>
                        <m:r>
                          <a:rPr lang="en-US" sz="2600" i="1">
                            <a:latin typeface="Cambria Math"/>
                          </a:rPr>
                          <m:t>𝐶𝑜𝑉𝑎𝑋</m:t>
                        </m:r>
                      </m:e>
                      <m:sub>
                        <m:r>
                          <a:rPr lang="en-US" sz="2600" i="1">
                            <a:latin typeface="Cambria Math"/>
                          </a:rPr>
                          <m:t>𝑖</m:t>
                        </m:r>
                        <m:r>
                          <a:rPr lang="en-US" sz="2600" i="1">
                            <a:latin typeface="Cambria Math"/>
                          </a:rPr>
                          <m:t>,</m:t>
                        </m:r>
                        <m:r>
                          <a:rPr lang="en-US" sz="2600" i="1">
                            <a:latin typeface="Cambria Math"/>
                          </a:rPr>
                          <m:t>𝑡</m:t>
                        </m:r>
                      </m:sub>
                    </m:sSub>
                  </m:oMath>
                </a14:m>
                <a:r>
                  <a:rPr lang="en-US" sz="2600" dirty="0"/>
                  <a:t> serves as a measure of how much a stock adds to overall systemic risk.</a:t>
                </a:r>
              </a:p>
            </p:txBody>
          </p:sp>
        </mc:Choice>
        <mc:Fallback xmlns="">
          <p:sp>
            <p:nvSpPr>
              <p:cNvPr id="9" name="Rectangle 8"/>
              <p:cNvSpPr>
                <a:spLocks noRot="1" noChangeAspect="1" noMove="1" noResize="1" noEditPoints="1" noAdjustHandles="1" noChangeArrowheads="1" noChangeShapeType="1" noTextEdit="1"/>
              </p:cNvSpPr>
              <p:nvPr/>
            </p:nvSpPr>
            <p:spPr>
              <a:xfrm>
                <a:off x="190500" y="4191000"/>
                <a:ext cx="8915400" cy="2545697"/>
              </a:xfrm>
              <a:prstGeom prst="rect">
                <a:avLst/>
              </a:prstGeom>
              <a:blipFill rotWithShape="1">
                <a:blip r:embed="rId4"/>
                <a:stretch>
                  <a:fillRect l="-1162" t="-2398" r="-1982" b="-4077"/>
                </a:stretch>
              </a:blipFill>
            </p:spPr>
            <p:txBody>
              <a:bodyPr/>
              <a:lstStyle/>
              <a:p>
                <a:r>
                  <a:rPr lang="en-US">
                    <a:noFill/>
                  </a:rPr>
                  <a:t> </a:t>
                </a:r>
              </a:p>
            </p:txBody>
          </p:sp>
        </mc:Fallback>
      </mc:AlternateContent>
    </p:spTree>
    <p:extLst>
      <p:ext uri="{BB962C8B-B14F-4D97-AF65-F5344CB8AC3E}">
        <p14:creationId xmlns:p14="http://schemas.microsoft.com/office/powerpoint/2010/main" val="3314189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647950" y="1546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5"/>
          <p:cNvSpPr/>
          <p:nvPr/>
        </p:nvSpPr>
        <p:spPr>
          <a:xfrm>
            <a:off x="38100" y="762000"/>
            <a:ext cx="9105900" cy="1323439"/>
          </a:xfrm>
          <a:prstGeom prst="rect">
            <a:avLst/>
          </a:prstGeom>
        </p:spPr>
        <p:txBody>
          <a:bodyPr wrap="square">
            <a:spAutoFit/>
          </a:bodyPr>
          <a:lstStyle/>
          <a:p>
            <a:r>
              <a:rPr lang="en-US" sz="2000" i="1" dirty="0" err="1"/>
              <a:t>X</a:t>
            </a:r>
            <a:r>
              <a:rPr lang="en-US" sz="2000" i="1" baseline="-25000" dirty="0" err="1"/>
              <a:t>i,t</a:t>
            </a:r>
            <a:r>
              <a:rPr lang="en-US" sz="2000" i="1" baseline="-25000" dirty="0"/>
              <a:t> + 1</a:t>
            </a:r>
            <a:r>
              <a:rPr lang="en-US" sz="2000" i="1" dirty="0"/>
              <a:t> = α</a:t>
            </a:r>
            <a:r>
              <a:rPr lang="en-US" sz="2000" i="1" baseline="-25000" dirty="0" err="1"/>
              <a:t>i</a:t>
            </a:r>
            <a:r>
              <a:rPr lang="en-US" sz="2000" i="1" dirty="0"/>
              <a:t> + β</a:t>
            </a:r>
            <a:r>
              <a:rPr lang="fr-FR" sz="2000" i="1" baseline="-25000" dirty="0"/>
              <a:t>0i</a:t>
            </a:r>
            <a:r>
              <a:rPr lang="fr-FR" sz="2000" i="1" dirty="0"/>
              <a:t> </a:t>
            </a:r>
            <a:r>
              <a:rPr lang="fr-FR" sz="2000" i="1" dirty="0" err="1"/>
              <a:t>ARROWHEAD</a:t>
            </a:r>
            <a:r>
              <a:rPr lang="fr-FR" sz="2000" i="1" baseline="-25000" dirty="0" err="1"/>
              <a:t>i,t</a:t>
            </a:r>
            <a:r>
              <a:rPr lang="fr-FR" sz="2000" i="1" dirty="0"/>
              <a:t> + </a:t>
            </a:r>
            <a:r>
              <a:rPr lang="en-US" sz="2000" i="1" dirty="0"/>
              <a:t>β</a:t>
            </a:r>
            <a:r>
              <a:rPr lang="en-US" sz="2000" i="1" baseline="-25000" dirty="0"/>
              <a:t>1i</a:t>
            </a:r>
            <a:r>
              <a:rPr lang="en-US" sz="2000" i="1" dirty="0"/>
              <a:t>COI</a:t>
            </a:r>
            <a:r>
              <a:rPr lang="en-US" sz="2000" i="1" baseline="-25000" dirty="0"/>
              <a:t>i,t</a:t>
            </a:r>
            <a:r>
              <a:rPr lang="en-US" sz="2000" i="1" dirty="0"/>
              <a:t> + β</a:t>
            </a:r>
            <a:r>
              <a:rPr lang="en-US" sz="2000" i="1" baseline="-25000" dirty="0"/>
              <a:t>2i</a:t>
            </a:r>
            <a:r>
              <a:rPr lang="en-US" sz="2000" i="1" dirty="0"/>
              <a:t>SLOPE</a:t>
            </a:r>
            <a:r>
              <a:rPr lang="en-US" sz="2000" i="1" baseline="-25000" dirty="0"/>
              <a:t>i,t</a:t>
            </a:r>
            <a:r>
              <a:rPr lang="en-US" sz="2000" i="1" dirty="0"/>
              <a:t> + β</a:t>
            </a:r>
            <a:r>
              <a:rPr lang="en-US" sz="2000" i="1" baseline="-25000" dirty="0"/>
              <a:t>3i </a:t>
            </a:r>
            <a:r>
              <a:rPr lang="en-US" sz="2000" i="1" dirty="0" err="1"/>
              <a:t>NTRDS</a:t>
            </a:r>
            <a:r>
              <a:rPr lang="en-US" sz="2000" i="1" baseline="-25000" dirty="0" err="1"/>
              <a:t>i,t</a:t>
            </a:r>
            <a:r>
              <a:rPr lang="en-US" sz="2000" i="1" dirty="0"/>
              <a:t> + β</a:t>
            </a:r>
            <a:r>
              <a:rPr lang="en-US" sz="2000" i="1" baseline="-25000" dirty="0"/>
              <a:t>4i </a:t>
            </a:r>
            <a:r>
              <a:rPr lang="en-US" sz="2000" i="1" dirty="0" err="1"/>
              <a:t>ATS</a:t>
            </a:r>
            <a:r>
              <a:rPr lang="en-US" sz="2000" i="1" baseline="-25000" dirty="0" err="1"/>
              <a:t>i,t</a:t>
            </a:r>
            <a:r>
              <a:rPr lang="en-US" sz="2000" i="1" dirty="0"/>
              <a:t> + β</a:t>
            </a:r>
            <a:r>
              <a:rPr lang="en-US" sz="2000" i="1" baseline="-25000" dirty="0"/>
              <a:t>5i </a:t>
            </a:r>
            <a:r>
              <a:rPr lang="en-US" sz="2000" i="1" dirty="0" err="1"/>
              <a:t>SPREAD</a:t>
            </a:r>
            <a:r>
              <a:rPr lang="en-US" sz="2000" i="1" baseline="-25000" dirty="0" err="1"/>
              <a:t>i,t</a:t>
            </a:r>
            <a:r>
              <a:rPr lang="en-US" sz="2000" i="1" dirty="0"/>
              <a:t> + β</a:t>
            </a:r>
            <a:r>
              <a:rPr lang="en-US" sz="2000" i="1" baseline="-25000" dirty="0"/>
              <a:t>6i </a:t>
            </a:r>
            <a:r>
              <a:rPr lang="en-US" sz="2000" i="1" dirty="0" err="1"/>
              <a:t>DEPTH</a:t>
            </a:r>
            <a:r>
              <a:rPr lang="en-US" sz="2000" i="1" baseline="-25000" dirty="0" err="1"/>
              <a:t>i,t</a:t>
            </a:r>
            <a:r>
              <a:rPr lang="fr-FR" sz="2000" i="1" dirty="0"/>
              <a:t> + </a:t>
            </a:r>
            <a:r>
              <a:rPr lang="en-US" sz="2000" i="1" dirty="0"/>
              <a:t>β</a:t>
            </a:r>
            <a:r>
              <a:rPr lang="fr-FR" sz="2000" i="1" baseline="-25000" dirty="0"/>
              <a:t>7i</a:t>
            </a:r>
            <a:r>
              <a:rPr lang="en-US" sz="2000" i="1" dirty="0" err="1"/>
              <a:t>VOLATILITY</a:t>
            </a:r>
            <a:r>
              <a:rPr lang="en-US" sz="2000" i="1" baseline="-25000" dirty="0" err="1"/>
              <a:t>i,t</a:t>
            </a:r>
            <a:r>
              <a:rPr lang="fr-FR" sz="2000" i="1" dirty="0"/>
              <a:t> + </a:t>
            </a:r>
            <a:r>
              <a:rPr lang="en-US" sz="2000" i="1" dirty="0"/>
              <a:t>β</a:t>
            </a:r>
            <a:r>
              <a:rPr lang="fr-FR" sz="2000" i="1" baseline="-25000" dirty="0"/>
              <a:t>8i</a:t>
            </a:r>
            <a:r>
              <a:rPr lang="en-US" sz="2000" i="1" dirty="0" err="1"/>
              <a:t>RETURN</a:t>
            </a:r>
            <a:r>
              <a:rPr lang="en-US" sz="2000" i="1" baseline="-25000" dirty="0" err="1"/>
              <a:t>i,t</a:t>
            </a:r>
            <a:r>
              <a:rPr lang="fr-FR" sz="2000" i="1" dirty="0"/>
              <a:t> + </a:t>
            </a:r>
            <a:r>
              <a:rPr lang="en-US" sz="2000" i="1" dirty="0"/>
              <a:t>β</a:t>
            </a:r>
            <a:r>
              <a:rPr lang="fr-FR" sz="2000" i="1" baseline="-25000" dirty="0"/>
              <a:t>9i</a:t>
            </a:r>
            <a:r>
              <a:rPr lang="fr-FR" sz="2000" i="1" dirty="0"/>
              <a:t> </a:t>
            </a:r>
            <a:r>
              <a:rPr lang="fr-FR" sz="2000" i="1" dirty="0" err="1"/>
              <a:t>HIGHSPEED</a:t>
            </a:r>
            <a:r>
              <a:rPr lang="fr-FR" sz="2000" i="1" baseline="-25000" dirty="0" err="1"/>
              <a:t>i,t</a:t>
            </a:r>
            <a:r>
              <a:rPr lang="fr-FR" sz="2000" i="1" dirty="0"/>
              <a:t> + </a:t>
            </a:r>
            <a:r>
              <a:rPr lang="en-US" sz="2000" i="1" dirty="0"/>
              <a:t>β</a:t>
            </a:r>
            <a:r>
              <a:rPr lang="fr-FR" sz="2000" i="1" baseline="-25000" dirty="0"/>
              <a:t>10i</a:t>
            </a:r>
            <a:r>
              <a:rPr lang="fr-FR" sz="2000" i="1" dirty="0"/>
              <a:t> </a:t>
            </a:r>
            <a:r>
              <a:rPr lang="fr-FR" sz="2000" i="1" dirty="0" err="1"/>
              <a:t>LOWSPEED</a:t>
            </a:r>
            <a:r>
              <a:rPr lang="fr-FR" sz="2000" i="1" baseline="-25000" dirty="0" err="1"/>
              <a:t>i,t</a:t>
            </a:r>
            <a:r>
              <a:rPr lang="fr-FR" sz="2000" i="1" dirty="0"/>
              <a:t> +  </a:t>
            </a:r>
            <a:r>
              <a:rPr lang="en-US" sz="2000" i="1" dirty="0"/>
              <a:t>β</a:t>
            </a:r>
            <a:r>
              <a:rPr lang="fr-FR" sz="2000" i="1" baseline="-25000" dirty="0"/>
              <a:t>11i</a:t>
            </a:r>
            <a:r>
              <a:rPr lang="fr-FR" sz="2000" i="1" dirty="0"/>
              <a:t> </a:t>
            </a:r>
            <a:r>
              <a:rPr lang="fr-FR" sz="2000" i="1" dirty="0" err="1"/>
              <a:t>ARROWHEAD</a:t>
            </a:r>
            <a:r>
              <a:rPr lang="fr-FR" sz="2000" i="1" baseline="-25000" dirty="0" err="1"/>
              <a:t>i,t</a:t>
            </a:r>
            <a:r>
              <a:rPr lang="fr-FR" sz="2000" i="1" dirty="0"/>
              <a:t>*</a:t>
            </a:r>
            <a:r>
              <a:rPr lang="en-US" sz="2000" i="1" dirty="0" err="1"/>
              <a:t>COI</a:t>
            </a:r>
            <a:r>
              <a:rPr lang="en-US" sz="2000" i="1" baseline="-25000" dirty="0" err="1"/>
              <a:t>i,t</a:t>
            </a:r>
            <a:r>
              <a:rPr lang="fr-FR" sz="2000" i="1" dirty="0"/>
              <a:t>  +  </a:t>
            </a:r>
            <a:r>
              <a:rPr lang="en-US" sz="2000" i="1" dirty="0"/>
              <a:t>β</a:t>
            </a:r>
            <a:r>
              <a:rPr lang="fr-FR" sz="2000" i="1" baseline="-25000" dirty="0"/>
              <a:t>12i</a:t>
            </a:r>
            <a:r>
              <a:rPr lang="fr-FR" sz="2000" i="1" dirty="0"/>
              <a:t> </a:t>
            </a:r>
            <a:r>
              <a:rPr lang="fr-FR" sz="2000" i="1" dirty="0" err="1"/>
              <a:t>ARROWHEAD</a:t>
            </a:r>
            <a:r>
              <a:rPr lang="fr-FR" sz="2000" i="1" baseline="-25000" dirty="0" err="1"/>
              <a:t>i,t</a:t>
            </a:r>
            <a:r>
              <a:rPr lang="fr-FR" sz="2000" i="1" dirty="0"/>
              <a:t>*</a:t>
            </a:r>
            <a:r>
              <a:rPr lang="en-US" sz="2000" i="1" dirty="0" err="1"/>
              <a:t>SLOPE</a:t>
            </a:r>
            <a:r>
              <a:rPr lang="en-US" sz="2000" i="1" baseline="-25000" dirty="0" err="1"/>
              <a:t>it</a:t>
            </a:r>
            <a:r>
              <a:rPr lang="en-US" sz="2000" i="1" baseline="-25000" dirty="0"/>
              <a:t> </a:t>
            </a:r>
            <a:r>
              <a:rPr lang="en-US" sz="2000" i="1" dirty="0"/>
              <a:t>+ µ</a:t>
            </a:r>
            <a:r>
              <a:rPr lang="en-US" sz="2000" i="1" baseline="-25000" dirty="0" err="1"/>
              <a:t>i,t</a:t>
            </a:r>
            <a:r>
              <a:rPr lang="en-US" sz="2000" i="1" baseline="-25000" dirty="0"/>
              <a:t> + 1</a:t>
            </a:r>
            <a:endParaRPr lang="en-US" sz="2000" dirty="0"/>
          </a:p>
        </p:txBody>
      </p:sp>
      <p:graphicFrame>
        <p:nvGraphicFramePr>
          <p:cNvPr id="7" name="Table 6"/>
          <p:cNvGraphicFramePr>
            <a:graphicFrameLocks noGrp="1"/>
          </p:cNvGraphicFramePr>
          <p:nvPr>
            <p:extLst>
              <p:ext uri="{D42A27DB-BD31-4B8C-83A1-F6EECF244321}">
                <p14:modId xmlns:p14="http://schemas.microsoft.com/office/powerpoint/2010/main" val="650998010"/>
              </p:ext>
            </p:extLst>
          </p:nvPr>
        </p:nvGraphicFramePr>
        <p:xfrm>
          <a:off x="228600" y="2286000"/>
          <a:ext cx="8763000" cy="3200401"/>
        </p:xfrm>
        <a:graphic>
          <a:graphicData uri="http://schemas.openxmlformats.org/drawingml/2006/table">
            <a:tbl>
              <a:tblPr firstRow="1" firstCol="1" bandRow="1">
                <a:tableStyleId>{5C22544A-7EE6-4342-B048-85BDC9FD1C3A}</a:tableStyleId>
              </a:tblPr>
              <a:tblGrid>
                <a:gridCol w="3455679"/>
                <a:gridCol w="2563890"/>
                <a:gridCol w="2743431"/>
              </a:tblGrid>
              <a:tr h="440576">
                <a:tc>
                  <a:txBody>
                    <a:bodyPr/>
                    <a:lstStyle/>
                    <a:p>
                      <a:pPr marL="0" marR="0">
                        <a:spcBef>
                          <a:spcPts val="0"/>
                        </a:spcBef>
                        <a:spcAft>
                          <a:spcPts val="0"/>
                        </a:spcAft>
                      </a:pPr>
                      <a:r>
                        <a:rPr lang="en-US" sz="2200" dirty="0">
                          <a:effectLst/>
                          <a:latin typeface="Times New Roman" pitchFamily="18" charset="0"/>
                          <a:cs typeface="Times New Roman" pitchFamily="18" charset="0"/>
                        </a:rPr>
                        <a:t>Variables</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2200" smtClean="0">
                          <a:effectLst/>
                          <a:latin typeface="Times New Roman" pitchFamily="18" charset="0"/>
                          <a:cs typeface="Times New Roman" pitchFamily="18" charset="0"/>
                        </a:rPr>
                        <a:t>(β</a:t>
                      </a:r>
                      <a:r>
                        <a:rPr lang="en-US" sz="2200" dirty="0">
                          <a:effectLst/>
                          <a:latin typeface="Times New Roman" pitchFamily="18" charset="0"/>
                          <a:cs typeface="Times New Roman" pitchFamily="18" charset="0"/>
                        </a:rPr>
                        <a:t>)</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1800" b="1" kern="1200" dirty="0" smtClean="0">
                          <a:solidFill>
                            <a:schemeClr val="lt1"/>
                          </a:solidFill>
                          <a:effectLst/>
                          <a:latin typeface="+mn-lt"/>
                          <a:ea typeface="+mn-ea"/>
                          <a:cs typeface="+mn-cs"/>
                        </a:rPr>
                        <a:t>%t (%sign)</a:t>
                      </a:r>
                      <a:endParaRPr lang="en-US" sz="2200" dirty="0">
                        <a:effectLst/>
                        <a:latin typeface="Times New Roman" pitchFamily="18" charset="0"/>
                        <a:ea typeface="Calibri"/>
                        <a:cs typeface="Times New Roman" pitchFamily="18" charset="0"/>
                      </a:endParaRPr>
                    </a:p>
                  </a:txBody>
                  <a:tcPr marL="44664" marR="44664" marT="0" marB="0"/>
                </a:tc>
              </a:tr>
              <a:tr h="568589">
                <a:tc>
                  <a:txBody>
                    <a:bodyPr/>
                    <a:lstStyle/>
                    <a:p>
                      <a:pPr marL="0" marR="0">
                        <a:spcBef>
                          <a:spcPts val="0"/>
                        </a:spcBef>
                        <a:spcAft>
                          <a:spcPts val="0"/>
                        </a:spcAft>
                      </a:pPr>
                      <a:r>
                        <a:rPr lang="en-US" sz="2400" dirty="0" smtClean="0">
                          <a:latin typeface="Times New Roman" pitchFamily="18" charset="0"/>
                          <a:ea typeface="Calibri"/>
                          <a:cs typeface="Times New Roman" pitchFamily="18" charset="0"/>
                        </a:rPr>
                        <a:t>ARROWHEAD</a:t>
                      </a:r>
                      <a:endParaRPr lang="en-US" sz="2400" dirty="0">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0"/>
                        </a:spcAft>
                        <a:tabLst>
                          <a:tab pos="133985" algn="dec"/>
                        </a:tabLst>
                      </a:pPr>
                      <a:r>
                        <a:rPr lang="en-US" sz="2400">
                          <a:effectLst/>
                          <a:latin typeface="Times New Roman"/>
                          <a:ea typeface="Calibri"/>
                        </a:rPr>
                        <a:t>1.21*</a:t>
                      </a:r>
                    </a:p>
                  </a:txBody>
                  <a:tcPr marL="68580" marR="68580" marT="0" marB="0">
                    <a:solidFill>
                      <a:srgbClr val="FFC000"/>
                    </a:solidFill>
                  </a:tcPr>
                </a:tc>
                <a:tc>
                  <a:txBody>
                    <a:bodyPr/>
                    <a:lstStyle/>
                    <a:p>
                      <a:pPr marL="0" marR="0" algn="ctr">
                        <a:lnSpc>
                          <a:spcPct val="115000"/>
                        </a:lnSpc>
                        <a:spcBef>
                          <a:spcPts val="0"/>
                        </a:spcBef>
                        <a:spcAft>
                          <a:spcPts val="0"/>
                        </a:spcAft>
                      </a:pPr>
                      <a:r>
                        <a:rPr lang="en-US" sz="2400">
                          <a:effectLst/>
                          <a:latin typeface="Times New Roman"/>
                          <a:ea typeface="Calibri"/>
                        </a:rPr>
                        <a:t>77(88)</a:t>
                      </a:r>
                    </a:p>
                  </a:txBody>
                  <a:tcPr marL="68580" marR="68580" marT="0" marB="0">
                    <a:solidFill>
                      <a:srgbClr val="FFC000"/>
                    </a:solidFill>
                  </a:tcPr>
                </a:tc>
              </a:tr>
              <a:tr h="568589">
                <a:tc>
                  <a:txBody>
                    <a:bodyPr/>
                    <a:lstStyle/>
                    <a:p>
                      <a:pPr marL="0" marR="0">
                        <a:spcBef>
                          <a:spcPts val="0"/>
                        </a:spcBef>
                        <a:spcAft>
                          <a:spcPts val="0"/>
                        </a:spcAft>
                      </a:pPr>
                      <a:r>
                        <a:rPr lang="en-US" sz="2400" dirty="0" smtClean="0">
                          <a:effectLst/>
                          <a:latin typeface="Times New Roman" pitchFamily="18" charset="0"/>
                          <a:cs typeface="Times New Roman" pitchFamily="18" charset="0"/>
                        </a:rPr>
                        <a:t> COI</a:t>
                      </a:r>
                      <a:endParaRPr lang="en-US" sz="2400" dirty="0">
                        <a:effectLst/>
                        <a:latin typeface="Times New Roman" pitchFamily="18" charset="0"/>
                        <a:ea typeface="Calibri"/>
                        <a:cs typeface="Times New Roman" pitchFamily="18" charset="0"/>
                      </a:endParaRPr>
                    </a:p>
                  </a:txBody>
                  <a:tcPr marL="44664" marR="44664" marT="0" marB="0"/>
                </a:tc>
                <a:tc>
                  <a:txBody>
                    <a:bodyPr/>
                    <a:lstStyle/>
                    <a:p>
                      <a:pPr marL="0" marR="0" algn="ctr">
                        <a:lnSpc>
                          <a:spcPct val="115000"/>
                        </a:lnSpc>
                        <a:spcBef>
                          <a:spcPts val="0"/>
                        </a:spcBef>
                        <a:spcAft>
                          <a:spcPts val="0"/>
                        </a:spcAft>
                        <a:tabLst>
                          <a:tab pos="133985" algn="dec"/>
                        </a:tabLst>
                      </a:pPr>
                      <a:r>
                        <a:rPr lang="en-US" sz="2400">
                          <a:effectLst/>
                          <a:latin typeface="Times New Roman"/>
                          <a:ea typeface="Calibri"/>
                        </a:rPr>
                        <a:t>1.08*</a:t>
                      </a:r>
                    </a:p>
                  </a:txBody>
                  <a:tcPr marL="68580" marR="68580" marT="0" marB="0">
                    <a:solidFill>
                      <a:srgbClr val="FFC000"/>
                    </a:solidFill>
                  </a:tcPr>
                </a:tc>
                <a:tc>
                  <a:txBody>
                    <a:bodyPr/>
                    <a:lstStyle/>
                    <a:p>
                      <a:pPr marL="0" marR="0" algn="ctr">
                        <a:lnSpc>
                          <a:spcPct val="115000"/>
                        </a:lnSpc>
                        <a:spcBef>
                          <a:spcPts val="0"/>
                        </a:spcBef>
                        <a:spcAft>
                          <a:spcPts val="0"/>
                        </a:spcAft>
                      </a:pPr>
                      <a:r>
                        <a:rPr lang="en-US" sz="2400">
                          <a:effectLst/>
                          <a:latin typeface="Times New Roman"/>
                          <a:ea typeface="Calibri"/>
                        </a:rPr>
                        <a:t>85(81)</a:t>
                      </a:r>
                    </a:p>
                  </a:txBody>
                  <a:tcPr marL="68580" marR="68580" marT="0" marB="0">
                    <a:solidFill>
                      <a:srgbClr val="FFC000"/>
                    </a:solidFill>
                  </a:tcPr>
                </a:tc>
              </a:tr>
              <a:tr h="613884">
                <a:tc>
                  <a:txBody>
                    <a:bodyPr/>
                    <a:lstStyle/>
                    <a:p>
                      <a:pPr marL="0" marR="0">
                        <a:spcBef>
                          <a:spcPts val="0"/>
                        </a:spcBef>
                        <a:spcAft>
                          <a:spcPts val="0"/>
                        </a:spcAft>
                      </a:pPr>
                      <a:r>
                        <a:rPr lang="en-US" sz="2400" dirty="0">
                          <a:latin typeface="Times New Roman" pitchFamily="18" charset="0"/>
                          <a:ea typeface="Calibri"/>
                          <a:cs typeface="Times New Roman" pitchFamily="18" charset="0"/>
                        </a:rPr>
                        <a:t>SLOPE</a:t>
                      </a:r>
                    </a:p>
                  </a:txBody>
                  <a:tcPr marL="68580" marR="68580" marT="0" marB="0"/>
                </a:tc>
                <a:tc>
                  <a:txBody>
                    <a:bodyPr/>
                    <a:lstStyle/>
                    <a:p>
                      <a:pPr marL="0" marR="0" algn="ctr">
                        <a:lnSpc>
                          <a:spcPct val="115000"/>
                        </a:lnSpc>
                        <a:spcBef>
                          <a:spcPts val="0"/>
                        </a:spcBef>
                        <a:spcAft>
                          <a:spcPts val="0"/>
                        </a:spcAft>
                        <a:tabLst>
                          <a:tab pos="133985" algn="dec"/>
                        </a:tabLst>
                      </a:pPr>
                      <a:r>
                        <a:rPr lang="en-US" sz="2400">
                          <a:effectLst/>
                          <a:latin typeface="Times New Roman"/>
                          <a:ea typeface="Calibri"/>
                        </a:rPr>
                        <a:t>-0.36</a:t>
                      </a:r>
                    </a:p>
                  </a:txBody>
                  <a:tcPr marL="68580" marR="68580" marT="0" marB="0"/>
                </a:tc>
                <a:tc>
                  <a:txBody>
                    <a:bodyPr/>
                    <a:lstStyle/>
                    <a:p>
                      <a:pPr marL="0" marR="0" algn="ctr">
                        <a:lnSpc>
                          <a:spcPct val="115000"/>
                        </a:lnSpc>
                        <a:spcBef>
                          <a:spcPts val="0"/>
                        </a:spcBef>
                        <a:spcAft>
                          <a:spcPts val="0"/>
                        </a:spcAft>
                      </a:pPr>
                      <a:r>
                        <a:rPr lang="en-US" sz="2400" dirty="0">
                          <a:effectLst/>
                          <a:latin typeface="Times New Roman"/>
                          <a:ea typeface="Calibri"/>
                        </a:rPr>
                        <a:t>48(71)</a:t>
                      </a:r>
                    </a:p>
                  </a:txBody>
                  <a:tcPr marL="68580" marR="68580" marT="0" marB="0"/>
                </a:tc>
              </a:tr>
              <a:tr h="568282">
                <a:tc>
                  <a:txBody>
                    <a:bodyPr/>
                    <a:lstStyle/>
                    <a:p>
                      <a:pPr marL="0" marR="0">
                        <a:spcBef>
                          <a:spcPts val="0"/>
                        </a:spcBef>
                        <a:spcAft>
                          <a:spcPts val="0"/>
                        </a:spcAft>
                      </a:pPr>
                      <a:r>
                        <a:rPr lang="en-US" sz="2400" dirty="0" smtClean="0">
                          <a:latin typeface="Times New Roman" pitchFamily="18" charset="0"/>
                          <a:ea typeface="Calibri"/>
                          <a:cs typeface="Times New Roman" pitchFamily="18" charset="0"/>
                        </a:rPr>
                        <a:t>ARROW*COI</a:t>
                      </a:r>
                      <a:endParaRPr lang="en-US" sz="2400" dirty="0">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0"/>
                        </a:spcAft>
                        <a:tabLst>
                          <a:tab pos="133985" algn="dec"/>
                        </a:tabLst>
                      </a:pPr>
                      <a:r>
                        <a:rPr lang="en-US" sz="2400" dirty="0">
                          <a:effectLst/>
                          <a:latin typeface="Times New Roman"/>
                          <a:ea typeface="Calibri"/>
                        </a:rPr>
                        <a:t>1.96*</a:t>
                      </a:r>
                    </a:p>
                  </a:txBody>
                  <a:tcPr marL="68580" marR="68580" marT="0" marB="0">
                    <a:solidFill>
                      <a:srgbClr val="FFC000"/>
                    </a:solidFill>
                  </a:tcPr>
                </a:tc>
                <a:tc>
                  <a:txBody>
                    <a:bodyPr/>
                    <a:lstStyle/>
                    <a:p>
                      <a:pPr marL="0" marR="0" algn="ctr">
                        <a:lnSpc>
                          <a:spcPct val="115000"/>
                        </a:lnSpc>
                        <a:spcBef>
                          <a:spcPts val="0"/>
                        </a:spcBef>
                        <a:spcAft>
                          <a:spcPts val="0"/>
                        </a:spcAft>
                      </a:pPr>
                      <a:r>
                        <a:rPr lang="en-US" sz="2400">
                          <a:effectLst/>
                          <a:latin typeface="Times New Roman"/>
                          <a:ea typeface="Calibri"/>
                        </a:rPr>
                        <a:t>82(88)</a:t>
                      </a:r>
                    </a:p>
                  </a:txBody>
                  <a:tcPr marL="68580" marR="68580" marT="0" marB="0">
                    <a:solidFill>
                      <a:srgbClr val="FFC000"/>
                    </a:solidFill>
                  </a:tcPr>
                </a:tc>
              </a:tr>
              <a:tr h="440481">
                <a:tc>
                  <a:txBody>
                    <a:bodyPr/>
                    <a:lstStyle/>
                    <a:p>
                      <a:pPr marL="0" marR="0">
                        <a:spcBef>
                          <a:spcPts val="0"/>
                        </a:spcBef>
                        <a:spcAft>
                          <a:spcPts val="0"/>
                        </a:spcAft>
                      </a:pPr>
                      <a:r>
                        <a:rPr lang="en-US" sz="2400" dirty="0" smtClean="0">
                          <a:latin typeface="Times New Roman" pitchFamily="18" charset="0"/>
                          <a:ea typeface="Calibri"/>
                          <a:cs typeface="Times New Roman" pitchFamily="18" charset="0"/>
                        </a:rPr>
                        <a:t>ARROW*SLOPE</a:t>
                      </a:r>
                      <a:endParaRPr lang="en-US" sz="2400" dirty="0">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0"/>
                        </a:spcAft>
                        <a:tabLst>
                          <a:tab pos="133985" algn="dec"/>
                        </a:tabLst>
                      </a:pPr>
                      <a:r>
                        <a:rPr lang="en-US" sz="2400">
                          <a:effectLst/>
                          <a:latin typeface="Times New Roman"/>
                          <a:ea typeface="Calibri"/>
                        </a:rPr>
                        <a:t>-1.18*</a:t>
                      </a:r>
                    </a:p>
                  </a:txBody>
                  <a:tcPr marL="68580" marR="68580" marT="0" marB="0"/>
                </a:tc>
                <a:tc>
                  <a:txBody>
                    <a:bodyPr/>
                    <a:lstStyle/>
                    <a:p>
                      <a:pPr marL="0" marR="0" algn="ctr">
                        <a:lnSpc>
                          <a:spcPct val="115000"/>
                        </a:lnSpc>
                        <a:spcBef>
                          <a:spcPts val="0"/>
                        </a:spcBef>
                        <a:spcAft>
                          <a:spcPts val="0"/>
                        </a:spcAft>
                      </a:pPr>
                      <a:r>
                        <a:rPr lang="en-US" sz="2400" dirty="0">
                          <a:effectLst/>
                          <a:latin typeface="Times New Roman"/>
                          <a:ea typeface="Calibri"/>
                        </a:rPr>
                        <a:t>66(78)</a:t>
                      </a:r>
                    </a:p>
                  </a:txBody>
                  <a:tcPr marL="68580" marR="68580" marT="0" marB="0"/>
                </a:tc>
              </a:tr>
            </a:tbl>
          </a:graphicData>
        </a:graphic>
      </p:graphicFrame>
      <p:sp>
        <p:nvSpPr>
          <p:cNvPr id="9" name="TextBox 8"/>
          <p:cNvSpPr txBox="1"/>
          <p:nvPr/>
        </p:nvSpPr>
        <p:spPr>
          <a:xfrm>
            <a:off x="0" y="5638800"/>
            <a:ext cx="9144000" cy="492443"/>
          </a:xfrm>
          <a:prstGeom prst="rect">
            <a:avLst/>
          </a:prstGeom>
          <a:noFill/>
        </p:spPr>
        <p:txBody>
          <a:bodyPr wrap="square" rtlCol="0">
            <a:spAutoFit/>
          </a:bodyPr>
          <a:lstStyle/>
          <a:p>
            <a:r>
              <a:rPr lang="en-US" sz="2600" dirty="0" smtClean="0"/>
              <a:t>   ARROWHEAD </a:t>
            </a:r>
            <a:r>
              <a:rPr lang="en-US" sz="2600" dirty="0"/>
              <a:t>increased </a:t>
            </a:r>
            <a:r>
              <a:rPr lang="en-US" sz="2600" dirty="0" err="1" smtClean="0"/>
              <a:t>CoVaQ</a:t>
            </a:r>
            <a:endParaRPr lang="en-US" sz="2600" dirty="0"/>
          </a:p>
        </p:txBody>
      </p:sp>
      <p:sp>
        <p:nvSpPr>
          <p:cNvPr id="10" name="Rectangle 2"/>
          <p:cNvSpPr txBox="1">
            <a:spLocks noChangeArrowheads="1"/>
          </p:cNvSpPr>
          <p:nvPr/>
        </p:nvSpPr>
        <p:spPr bwMode="blackWhite">
          <a:xfrm>
            <a:off x="228600" y="76200"/>
            <a:ext cx="8763000" cy="6096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r>
              <a:rPr lang="en-US" sz="2900" b="1" dirty="0" smtClean="0">
                <a:solidFill>
                  <a:schemeClr val="bg1"/>
                </a:solidFill>
              </a:rPr>
              <a:t>LOB COI Predicts the future </a:t>
            </a:r>
            <a:r>
              <a:rPr lang="en-US" sz="2900" b="1" dirty="0" err="1" smtClean="0">
                <a:solidFill>
                  <a:schemeClr val="bg1"/>
                </a:solidFill>
              </a:rPr>
              <a:t>CoVaQ</a:t>
            </a:r>
            <a:endParaRPr lang="en-US" sz="2900" b="1" dirty="0">
              <a:solidFill>
                <a:schemeClr val="bg1"/>
              </a:solidFill>
            </a:endParaRPr>
          </a:p>
        </p:txBody>
      </p:sp>
    </p:spTree>
    <p:extLst>
      <p:ext uri="{BB962C8B-B14F-4D97-AF65-F5344CB8AC3E}">
        <p14:creationId xmlns:p14="http://schemas.microsoft.com/office/powerpoint/2010/main" val="1388892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7" name="Picture 3" descr="C:\Users\Smita\Desktop\greencomp.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191000"/>
            <a:ext cx="2520863" cy="262890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a:spLocks noGrp="1"/>
          </p:cNvSpPr>
          <p:nvPr>
            <p:ph idx="1"/>
          </p:nvPr>
        </p:nvSpPr>
        <p:spPr>
          <a:xfrm>
            <a:off x="0" y="1371600"/>
            <a:ext cx="9144000" cy="5867400"/>
          </a:xfrm>
        </p:spPr>
        <p:txBody>
          <a:bodyPr>
            <a:noAutofit/>
            <a:scene3d>
              <a:camera prst="orthographicFront"/>
              <a:lightRig rig="soft" dir="t">
                <a:rot lat="0" lon="0" rev="10800000"/>
              </a:lightRig>
            </a:scene3d>
            <a:sp3d>
              <a:bevelT w="27940" h="12700"/>
              <a:contourClr>
                <a:srgbClr val="DDDDDD"/>
              </a:contourClr>
            </a:sp3d>
          </a:bodyPr>
          <a:lstStyle/>
          <a:p>
            <a:pPr>
              <a:lnSpc>
                <a:spcPct val="100000"/>
              </a:lnSpc>
              <a:spcBef>
                <a:spcPts val="600"/>
              </a:spcBef>
              <a:buFont typeface="Wingdings" pitchFamily="2" charset="2"/>
              <a:buChar char="ü"/>
            </a:pPr>
            <a:endParaRPr lang="en-US" sz="1200" b="1" dirty="0" smtClean="0">
              <a:effectLst/>
            </a:endParaRPr>
          </a:p>
          <a:p>
            <a:pPr>
              <a:lnSpc>
                <a:spcPct val="100000"/>
              </a:lnSpc>
              <a:spcBef>
                <a:spcPts val="600"/>
              </a:spcBef>
            </a:pPr>
            <a:r>
              <a:rPr lang="en-US" dirty="0" err="1" smtClean="0">
                <a:effectLst/>
              </a:rPr>
              <a:t>Rosu</a:t>
            </a:r>
            <a:r>
              <a:rPr lang="en-US" dirty="0" smtClean="0">
                <a:effectLst/>
              </a:rPr>
              <a:t> </a:t>
            </a:r>
            <a:r>
              <a:rPr lang="en-US" dirty="0">
                <a:effectLst/>
              </a:rPr>
              <a:t>(2009</a:t>
            </a:r>
            <a:r>
              <a:rPr lang="en-US" dirty="0" smtClean="0">
                <a:effectLst/>
              </a:rPr>
              <a:t>): when </a:t>
            </a:r>
            <a:r>
              <a:rPr lang="en-US" dirty="0">
                <a:effectLst/>
              </a:rPr>
              <a:t>the LOB is full, traders play a “game of </a:t>
            </a:r>
            <a:r>
              <a:rPr lang="en-US" dirty="0" smtClean="0">
                <a:effectLst/>
              </a:rPr>
              <a:t>attrition”</a:t>
            </a:r>
          </a:p>
          <a:p>
            <a:pPr lvl="1">
              <a:lnSpc>
                <a:spcPct val="100000"/>
              </a:lnSpc>
              <a:spcBef>
                <a:spcPts val="600"/>
              </a:spcBef>
              <a:buNone/>
            </a:pPr>
            <a:r>
              <a:rPr lang="en-US" b="1" dirty="0" smtClean="0">
                <a:effectLst/>
              </a:rPr>
              <a:t>H1: Low Latency facilitates fleeting </a:t>
            </a:r>
            <a:r>
              <a:rPr lang="en-US" b="1" dirty="0">
                <a:effectLst/>
              </a:rPr>
              <a:t>orders.</a:t>
            </a:r>
          </a:p>
          <a:p>
            <a:pPr lvl="1">
              <a:lnSpc>
                <a:spcPct val="100000"/>
              </a:lnSpc>
              <a:spcBef>
                <a:spcPts val="600"/>
              </a:spcBef>
            </a:pPr>
            <a:endParaRPr lang="en-US" b="1" dirty="0" smtClean="0">
              <a:effectLst/>
            </a:endParaRPr>
          </a:p>
        </p:txBody>
      </p:sp>
      <p:sp>
        <p:nvSpPr>
          <p:cNvPr id="6" name="Rectangle 4"/>
          <p:cNvSpPr>
            <a:spLocks noChangeArrowheads="1"/>
          </p:cNvSpPr>
          <p:nvPr/>
        </p:nvSpPr>
        <p:spPr bwMode="auto">
          <a:xfrm>
            <a:off x="3048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7" name="Rectangle 2"/>
          <p:cNvSpPr txBox="1">
            <a:spLocks noChangeArrowheads="1"/>
          </p:cNvSpPr>
          <p:nvPr/>
        </p:nvSpPr>
        <p:spPr bwMode="blackWhite">
          <a:xfrm>
            <a:off x="4572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lgn="ctr" eaLnBrk="0" fontAlgn="base" hangingPunct="0">
              <a:lnSpc>
                <a:spcPct val="85000"/>
              </a:lnSpc>
              <a:spcBef>
                <a:spcPct val="10000"/>
              </a:spcBef>
              <a:spcAft>
                <a:spcPct val="0"/>
              </a:spcAft>
              <a:defRPr/>
            </a:pPr>
            <a:r>
              <a:rPr lang="en-US" sz="4800" b="1" kern="0" dirty="0">
                <a:solidFill>
                  <a:schemeClr val="bg1"/>
                </a:solidFill>
                <a:effectLst>
                  <a:outerShdw blurRad="38100" dist="38100" dir="2700000" algn="tl">
                    <a:srgbClr val="000000"/>
                  </a:outerShdw>
                </a:effectLst>
                <a:latin typeface="+mj-lt"/>
                <a:ea typeface="+mj-ea"/>
                <a:cs typeface="+mj-cs"/>
              </a:rPr>
              <a:t>Fleeting orders</a:t>
            </a:r>
            <a:endParaRPr kumimoji="0" lang="en-GB" sz="4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j-lt"/>
              <a:ea typeface="+mj-ea"/>
              <a:cs typeface="+mj-cs"/>
            </a:endParaRPr>
          </a:p>
        </p:txBody>
      </p:sp>
      <p:graphicFrame>
        <p:nvGraphicFramePr>
          <p:cNvPr id="8" name="Table 7"/>
          <p:cNvGraphicFramePr>
            <a:graphicFrameLocks noGrp="1"/>
          </p:cNvGraphicFramePr>
          <p:nvPr>
            <p:extLst>
              <p:ext uri="{D42A27DB-BD31-4B8C-83A1-F6EECF244321}">
                <p14:modId xmlns:p14="http://schemas.microsoft.com/office/powerpoint/2010/main" val="2257324185"/>
              </p:ext>
            </p:extLst>
          </p:nvPr>
        </p:nvGraphicFramePr>
        <p:xfrm>
          <a:off x="2705100" y="4800600"/>
          <a:ext cx="3619500" cy="1828800"/>
        </p:xfrm>
        <a:graphic>
          <a:graphicData uri="http://schemas.openxmlformats.org/drawingml/2006/table">
            <a:tbl>
              <a:tblPr>
                <a:tableStyleId>{5C22544A-7EE6-4342-B048-85BDC9FD1C3A}</a:tableStyleId>
              </a:tblPr>
              <a:tblGrid>
                <a:gridCol w="904875"/>
                <a:gridCol w="904875"/>
                <a:gridCol w="904875"/>
                <a:gridCol w="904875"/>
              </a:tblGrid>
              <a:tr h="304800">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Bid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Bid</a:t>
                      </a: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Ask </a:t>
                      </a:r>
                      <a:r>
                        <a:rPr lang="en-US" sz="1600" u="none" strike="noStrike" kern="1200" dirty="0" err="1">
                          <a:solidFill>
                            <a:schemeClr val="dk1"/>
                          </a:solidFill>
                          <a:effectLst/>
                          <a:latin typeface="+mn-lt"/>
                          <a:ea typeface="+mn-ea"/>
                          <a:cs typeface="+mn-cs"/>
                        </a:rPr>
                        <a:t>Vol</a:t>
                      </a:r>
                      <a:endParaRPr lang="en-US" sz="1600" u="none" strike="noStrike" kern="1200" dirty="0">
                        <a:solidFill>
                          <a:schemeClr val="dk1"/>
                        </a:solidFill>
                        <a:effectLst/>
                        <a:latin typeface="+mn-lt"/>
                        <a:ea typeface="+mn-ea"/>
                        <a:cs typeface="+mn-cs"/>
                      </a:endParaRPr>
                    </a:p>
                  </a:txBody>
                  <a:tcPr marL="9525" marR="9525" marT="9525" marB="0" anchor="ctr">
                    <a:solidFill>
                      <a:srgbClr val="92D050"/>
                    </a:solidFill>
                  </a:tcPr>
                </a:tc>
                <a:tc>
                  <a:txBody>
                    <a:bodyPr/>
                    <a:lstStyle/>
                    <a:p>
                      <a:pPr marL="0" algn="ctr" defTabSz="914400" rtl="0" eaLnBrk="1" fontAlgn="ctr" latinLnBrk="0" hangingPunct="1"/>
                      <a:r>
                        <a:rPr lang="en-US" sz="1600" u="none" strike="noStrike" kern="1200" dirty="0">
                          <a:solidFill>
                            <a:schemeClr val="dk1"/>
                          </a:solidFill>
                          <a:effectLst/>
                          <a:latin typeface="+mn-lt"/>
                          <a:ea typeface="+mn-ea"/>
                          <a:cs typeface="+mn-cs"/>
                        </a:rPr>
                        <a:t>Ask</a:t>
                      </a:r>
                    </a:p>
                  </a:txBody>
                  <a:tcPr marL="9525" marR="9525" marT="9525" marB="0" anchor="ctr">
                    <a:solidFill>
                      <a:srgbClr val="92D050"/>
                    </a:solidFill>
                  </a:tcPr>
                </a:tc>
              </a:tr>
              <a:tr h="304800">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20</a:t>
                      </a:r>
                    </a:p>
                  </a:txBody>
                  <a:tcPr marL="9525" marR="9525" marT="9525" marB="0" anchor="b"/>
                </a:tc>
                <a:tc>
                  <a:txBody>
                    <a:bodyPr/>
                    <a:lstStyle/>
                    <a:p>
                      <a:pPr marL="0" algn="ctr" defTabSz="914400" rtl="0" eaLnBrk="1" fontAlgn="b" latinLnBrk="0" hangingPunct="1"/>
                      <a:r>
                        <a:rPr lang="en-US" sz="1600" b="1" u="none" strike="noStrike" kern="1200" dirty="0" smtClean="0">
                          <a:solidFill>
                            <a:schemeClr val="dk1"/>
                          </a:solidFill>
                          <a:effectLst/>
                          <a:latin typeface="+mn-lt"/>
                          <a:ea typeface="+mn-ea"/>
                          <a:cs typeface="+mn-cs"/>
                        </a:rPr>
                        <a:t>200</a:t>
                      </a:r>
                      <a:endParaRPr lang="en-US" sz="1600" b="1" u="none" strike="noStrike" kern="1200" dirty="0">
                        <a:solidFill>
                          <a:schemeClr val="dk1"/>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21</a:t>
                      </a:r>
                    </a:p>
                  </a:txBody>
                  <a:tcPr marL="9525" marR="9525" marT="9525" marB="0" anchor="b"/>
                </a:tc>
              </a:tr>
              <a:tr h="304800">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19</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22</a:t>
                      </a:r>
                    </a:p>
                  </a:txBody>
                  <a:tcPr marL="9525" marR="9525" marT="9525" marB="0" anchor="b"/>
                </a:tc>
              </a:tr>
              <a:tr h="304800">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18</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900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23</a:t>
                      </a:r>
                    </a:p>
                  </a:txBody>
                  <a:tcPr marL="9525" marR="9525" marT="9525" marB="0" anchor="b"/>
                </a:tc>
              </a:tr>
              <a:tr h="304800">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800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17</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800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24</a:t>
                      </a:r>
                    </a:p>
                  </a:txBody>
                  <a:tcPr marL="9525" marR="9525" marT="9525" marB="0" anchor="b"/>
                </a:tc>
              </a:tr>
              <a:tr h="304800">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600</a:t>
                      </a:r>
                    </a:p>
                  </a:txBody>
                  <a:tcPr marL="9525" marR="9525" marT="9525" marB="0" anchor="b"/>
                </a:tc>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16</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600</a:t>
                      </a:r>
                    </a:p>
                  </a:txBody>
                  <a:tcPr marL="9525" marR="9525" marT="9525" marB="0" anchor="b"/>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25</a:t>
                      </a:r>
                    </a:p>
                  </a:txBody>
                  <a:tcPr marL="9525" marR="9525" marT="9525" marB="0" anchor="b"/>
                </a:tc>
              </a:tr>
            </a:tbl>
          </a:graphicData>
        </a:graphic>
      </p:graphicFrame>
      <p:pic>
        <p:nvPicPr>
          <p:cNvPr id="1026" name="Picture 2" descr="C:\Users\Smita\Desktop\redcomp.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2650" y="4191000"/>
            <a:ext cx="1911350" cy="23059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705600" y="4876800"/>
            <a:ext cx="1295400" cy="369332"/>
          </a:xfrm>
          <a:prstGeom prst="rect">
            <a:avLst/>
          </a:prstGeom>
          <a:noFill/>
        </p:spPr>
        <p:txBody>
          <a:bodyPr wrap="square" rtlCol="0">
            <a:spAutoFit/>
          </a:bodyPr>
          <a:lstStyle/>
          <a:p>
            <a:r>
              <a:rPr lang="en-US" dirty="0" smtClean="0">
                <a:solidFill>
                  <a:srgbClr val="C00000"/>
                </a:solidFill>
              </a:rPr>
              <a:t>Buy@20.5</a:t>
            </a:r>
            <a:endParaRPr lang="en-US" dirty="0">
              <a:solidFill>
                <a:srgbClr val="C00000"/>
              </a:solidFill>
            </a:endParaRPr>
          </a:p>
        </p:txBody>
      </p:sp>
      <p:sp>
        <p:nvSpPr>
          <p:cNvPr id="9" name="TextBox 8"/>
          <p:cNvSpPr txBox="1"/>
          <p:nvPr/>
        </p:nvSpPr>
        <p:spPr>
          <a:xfrm>
            <a:off x="1447800" y="4974627"/>
            <a:ext cx="1295400" cy="369332"/>
          </a:xfrm>
          <a:prstGeom prst="rect">
            <a:avLst/>
          </a:prstGeom>
          <a:noFill/>
        </p:spPr>
        <p:txBody>
          <a:bodyPr wrap="square" rtlCol="0">
            <a:spAutoFit/>
          </a:bodyPr>
          <a:lstStyle/>
          <a:p>
            <a:r>
              <a:rPr lang="en-US" b="1" dirty="0" smtClean="0">
                <a:solidFill>
                  <a:srgbClr val="214A02"/>
                </a:solidFill>
              </a:rPr>
              <a:t>Sell@20.5</a:t>
            </a:r>
            <a:endParaRPr lang="en-US" b="1" dirty="0">
              <a:solidFill>
                <a:srgbClr val="214A02"/>
              </a:solidFill>
            </a:endParaRPr>
          </a:p>
        </p:txBody>
      </p:sp>
    </p:spTree>
    <p:extLst>
      <p:ext uri="{BB962C8B-B14F-4D97-AF65-F5344CB8AC3E}">
        <p14:creationId xmlns:p14="http://schemas.microsoft.com/office/powerpoint/2010/main" val="3529632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300"/>
                                  </p:stCondLst>
                                  <p:childTnLst>
                                    <p:set>
                                      <p:cBhvr>
                                        <p:cTn id="6" dur="1" fill="hold">
                                          <p:stCondLst>
                                            <p:cond delay="0"/>
                                          </p:stCondLst>
                                        </p:cTn>
                                        <p:tgtEl>
                                          <p:spTgt spid="1027"/>
                                        </p:tgtEl>
                                        <p:attrNameLst>
                                          <p:attrName>style.visibility</p:attrName>
                                        </p:attrNameLst>
                                      </p:cBhvr>
                                      <p:to>
                                        <p:strVal val="visible"/>
                                      </p:to>
                                    </p:set>
                                  </p:childTnLst>
                                </p:cTn>
                              </p:par>
                            </p:childTnLst>
                          </p:cTn>
                        </p:par>
                        <p:par>
                          <p:cTn id="7" fill="hold">
                            <p:stCondLst>
                              <p:cond delay="300"/>
                            </p:stCondLst>
                            <p:childTnLst>
                              <p:par>
                                <p:cTn id="8" presetID="1" presetClass="entr" presetSubtype="0" fill="hold" nodeType="afterEffect">
                                  <p:stCondLst>
                                    <p:cond delay="0"/>
                                  </p:stCondLst>
                                  <p:childTnLst>
                                    <p:set>
                                      <p:cBhvr>
                                        <p:cTn id="9" dur="1" fill="hold">
                                          <p:stCondLst>
                                            <p:cond delay="0"/>
                                          </p:stCondLst>
                                        </p:cTn>
                                        <p:tgtEl>
                                          <p:spTgt spid="102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1"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41" presetClass="path" presetSubtype="0" accel="50000" decel="50000" fill="hold" grpId="0" nodeType="withEffect">
                                  <p:stCondLst>
                                    <p:cond delay="0"/>
                                  </p:stCondLst>
                                  <p:childTnLst>
                                    <p:animMotion origin="layout" path="M 3.33333E-6 -2.59259E-6 C -0.00539 0.00209 -0.02448 0.0044 -0.03091 0.0044 C -0.07292 0.0044 -0.1158 -0.02893 -0.1158 -0.06203 C -0.1158 -0.0456 -0.13733 -0.02893 -0.15782 -0.02893 C -0.17934 -0.02893 -0.19966 -0.04583 -0.19966 -0.06203 C -0.19966 -0.05393 -0.21042 -0.0456 -0.22118 -0.0456 C -0.23195 -0.0456 -0.24271 -0.0537 -0.24271 -0.06203 C -0.24271 -0.0581 -0.24809 -0.05393 -0.25348 -0.05393 C -0.25886 -0.05393 -0.26424 -0.05833 -0.26424 -0.06203 C -0.26424 -0.06018 -0.26702 -0.0581 -0.26962 -0.0581 C -0.27101 -0.0581 -0.275 -0.06018 -0.275 -0.06203 C -0.275 -0.06111 -0.27639 -0.06018 -0.27778 -0.06018 C -0.27778 -0.05972 -0.28056 -0.06111 -0.28056 -0.06203 C -0.28056 -0.0618 -0.28056 -0.06111 -0.28195 -0.06111 C -0.28195 -0.06157 -0.28334 -0.0618 -0.28334 -0.06203 C -0.28334 -0.06203 -0.28334 -0.0618 -0.28334 -0.06157 C -0.28473 -0.06157 -0.28473 -0.0618 -0.28473 -0.06203 C -0.28611 -0.06203 -0.28611 -0.0618 -0.28611 -0.06157 C -0.2875 -0.06157 -0.2875 -0.0618 -0.2875 -0.06203 " pathEditMode="relative" rAng="0" ptsTypes="fffffffffffffffffff">
                                      <p:cBhvr>
                                        <p:cTn id="15" dur="2000" fill="hold"/>
                                        <p:tgtEl>
                                          <p:spTgt spid="2"/>
                                        </p:tgtEl>
                                        <p:attrNameLst>
                                          <p:attrName>ppt_x</p:attrName>
                                          <p:attrName>ppt_y</p:attrName>
                                        </p:attrNameLst>
                                      </p:cBhvr>
                                      <p:rCtr x="-14375" y="-2894"/>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54" presetClass="path" presetSubtype="0" accel="50000" decel="50000" fill="hold" grpId="0" nodeType="withEffect">
                                  <p:stCondLst>
                                    <p:cond delay="0"/>
                                  </p:stCondLst>
                                  <p:childTnLst>
                                    <p:animMotion origin="layout" path="M 3.33333E-6 1.48148E-6 C 0.00521 0.00278 0.0243 0.00532 0.03073 0.00532 C 0.07257 0.00532 0.11562 -0.03519 0.11562 -0.07546 C 0.11562 -0.05533 0.13715 -0.03519 0.15746 -0.03519 C 0.17899 -0.03519 0.1993 -0.05556 0.1993 -0.07546 C 0.1993 -0.06551 0.21024 -0.05533 0.22083 -0.05533 C 0.23159 -0.05533 0.24236 -0.06528 0.24236 -0.07546 C 0.24236 -0.07037 0.24774 -0.06551 0.25312 -0.06551 C 0.2585 -0.06551 0.26406 -0.0706 0.26406 -0.07546 C 0.26406 -0.07292 0.26684 -0.07037 0.26927 -0.07037 C 0.27066 -0.07037 0.27465 -0.07315 0.27465 -0.07546 C 0.27465 -0.07431 0.27621 -0.07292 0.27743 -0.07292 C 0.27743 -0.07315 0.28021 -0.07431 0.28021 -0.07546 C 0.28021 -0.075 0.28021 -0.07431 0.28177 -0.07431 C 0.28177 -0.07454 0.28316 -0.075 0.28316 -0.07546 C 0.28316 -0.07523 0.28316 -0.075 0.28316 -0.07454 C 0.28455 -0.07454 0.28455 -0.075 0.28455 -0.07523 C 0.28593 -0.07523 0.28593 -0.075 0.28593 -0.07454 C 0.2875 -0.07454 0.2875 -0.075 0.2875 -0.07523 " pathEditMode="relative" rAng="0" ptsTypes="fffffffffffffffffff">
                                      <p:cBhvr>
                                        <p:cTn id="21" dur="2000" fill="hold"/>
                                        <p:tgtEl>
                                          <p:spTgt spid="9"/>
                                        </p:tgtEl>
                                        <p:attrNameLst>
                                          <p:attrName>ppt_x</p:attrName>
                                          <p:attrName>ppt_y</p:attrName>
                                        </p:attrNameLst>
                                      </p:cBhvr>
                                      <p:rCtr x="14375" y="-3519"/>
                                    </p:animMotion>
                                  </p:childTnLst>
                                </p:cTn>
                              </p:par>
                            </p:childTnLst>
                          </p:cTn>
                        </p:par>
                        <p:par>
                          <p:cTn id="22" fill="hold">
                            <p:stCondLst>
                              <p:cond delay="2000"/>
                            </p:stCondLst>
                            <p:childTnLst>
                              <p:par>
                                <p:cTn id="23" presetID="21" presetClass="emph" presetSubtype="0" fill="hold" grpId="3" nodeType="afterEffect">
                                  <p:stCondLst>
                                    <p:cond delay="0"/>
                                  </p:stCondLst>
                                  <p:childTnLst>
                                    <p:animClr clrSpc="hsl" dir="cw">
                                      <p:cBhvr override="childStyle">
                                        <p:cTn id="24" dur="500" fill="hold"/>
                                        <p:tgtEl>
                                          <p:spTgt spid="2"/>
                                        </p:tgtEl>
                                        <p:attrNameLst>
                                          <p:attrName>style.color</p:attrName>
                                        </p:attrNameLst>
                                      </p:cBhvr>
                                      <p:by>
                                        <p:hsl h="7200000" s="0" l="0"/>
                                      </p:by>
                                    </p:animClr>
                                    <p:animClr clrSpc="hsl" dir="cw">
                                      <p:cBhvr>
                                        <p:cTn id="25" dur="500" fill="hold"/>
                                        <p:tgtEl>
                                          <p:spTgt spid="2"/>
                                        </p:tgtEl>
                                        <p:attrNameLst>
                                          <p:attrName>fillcolor</p:attrName>
                                        </p:attrNameLst>
                                      </p:cBhvr>
                                      <p:by>
                                        <p:hsl h="7200000" s="0" l="0"/>
                                      </p:by>
                                    </p:animClr>
                                    <p:animClr clrSpc="hsl" dir="cw">
                                      <p:cBhvr>
                                        <p:cTn id="26" dur="500" fill="hold"/>
                                        <p:tgtEl>
                                          <p:spTgt spid="2"/>
                                        </p:tgtEl>
                                        <p:attrNameLst>
                                          <p:attrName>stroke.color</p:attrName>
                                        </p:attrNameLst>
                                      </p:cBhvr>
                                      <p:by>
                                        <p:hsl h="7200000" s="0" l="0"/>
                                      </p:by>
                                    </p:animClr>
                                    <p:set>
                                      <p:cBhvr>
                                        <p:cTn id="27" dur="500" fill="hold"/>
                                        <p:tgtEl>
                                          <p:spTgt spid="2"/>
                                        </p:tgtEl>
                                        <p:attrNameLst>
                                          <p:attrName>fill.type</p:attrName>
                                        </p:attrNameLst>
                                      </p:cBhvr>
                                      <p:to>
                                        <p:strVal val="solid"/>
                                      </p:to>
                                    </p:set>
                                  </p:childTnLst>
                                </p:cTn>
                              </p:par>
                            </p:childTnLst>
                          </p:cTn>
                        </p:par>
                        <p:par>
                          <p:cTn id="28" fill="hold">
                            <p:stCondLst>
                              <p:cond delay="2500"/>
                            </p:stCondLst>
                            <p:childTnLst>
                              <p:par>
                                <p:cTn id="29" presetID="30" presetClass="exit" presetSubtype="0" fill="hold" grpId="2" nodeType="afterEffect">
                                  <p:stCondLst>
                                    <p:cond delay="0"/>
                                  </p:stCondLst>
                                  <p:childTnLst>
                                    <p:animEffect transition="out" filter="fade">
                                      <p:cBhvr>
                                        <p:cTn id="30" dur="800" accel="100000">
                                          <p:stCondLst>
                                            <p:cond delay="200"/>
                                          </p:stCondLst>
                                        </p:cTn>
                                        <p:tgtEl>
                                          <p:spTgt spid="2"/>
                                        </p:tgtEl>
                                      </p:cBhvr>
                                    </p:animEffect>
                                    <p:anim calcmode="lin" valueType="num">
                                      <p:cBhvr>
                                        <p:cTn id="31" dur="800" accel="100000">
                                          <p:stCondLst>
                                            <p:cond delay="200"/>
                                          </p:stCondLst>
                                        </p:cTn>
                                        <p:tgtEl>
                                          <p:spTgt spid="2"/>
                                        </p:tgtEl>
                                        <p:attrNameLst>
                                          <p:attrName>style.rotation</p:attrName>
                                        </p:attrNameLst>
                                      </p:cBhvr>
                                      <p:tavLst>
                                        <p:tav tm="0">
                                          <p:val>
                                            <p:fltVal val="0"/>
                                          </p:val>
                                        </p:tav>
                                        <p:tav tm="100000">
                                          <p:val>
                                            <p:fltVal val="-90"/>
                                          </p:val>
                                        </p:tav>
                                      </p:tavLst>
                                    </p:anim>
                                    <p:anim calcmode="lin" valueType="num">
                                      <p:cBhvr>
                                        <p:cTn id="32" dur="200" decel="100000"/>
                                        <p:tgtEl>
                                          <p:spTgt spid="2"/>
                                        </p:tgtEl>
                                        <p:attrNameLst>
                                          <p:attrName>ppt_x</p:attrName>
                                        </p:attrNameLst>
                                      </p:cBhvr>
                                      <p:tavLst>
                                        <p:tav tm="0">
                                          <p:val>
                                            <p:strVal val="ppt_x"/>
                                          </p:val>
                                        </p:tav>
                                        <p:tav tm="100000">
                                          <p:val>
                                            <p:strVal val="ppt_x-0.05"/>
                                          </p:val>
                                        </p:tav>
                                      </p:tavLst>
                                    </p:anim>
                                    <p:anim calcmode="lin" valueType="num">
                                      <p:cBhvr>
                                        <p:cTn id="33" dur="200" decel="100000"/>
                                        <p:tgtEl>
                                          <p:spTgt spid="2"/>
                                        </p:tgtEl>
                                        <p:attrNameLst>
                                          <p:attrName>ppt_y</p:attrName>
                                        </p:attrNameLst>
                                      </p:cBhvr>
                                      <p:tavLst>
                                        <p:tav tm="0">
                                          <p:val>
                                            <p:strVal val="ppt_y"/>
                                          </p:val>
                                        </p:tav>
                                        <p:tav tm="100000">
                                          <p:val>
                                            <p:strVal val="ppt_y+0.1"/>
                                          </p:val>
                                        </p:tav>
                                      </p:tavLst>
                                    </p:anim>
                                    <p:anim calcmode="lin" valueType="num">
                                      <p:cBhvr>
                                        <p:cTn id="34" dur="800" accel="100000">
                                          <p:stCondLst>
                                            <p:cond delay="200"/>
                                          </p:stCondLst>
                                        </p:cTn>
                                        <p:tgtEl>
                                          <p:spTgt spid="2"/>
                                        </p:tgtEl>
                                        <p:attrNameLst>
                                          <p:attrName>ppt_x</p:attrName>
                                        </p:attrNameLst>
                                      </p:cBhvr>
                                      <p:tavLst>
                                        <p:tav tm="0">
                                          <p:val>
                                            <p:strVal val="ppt_x"/>
                                          </p:val>
                                        </p:tav>
                                        <p:tav tm="100000">
                                          <p:val>
                                            <p:strVal val="ppt_x+0.4+0.05"/>
                                          </p:val>
                                        </p:tav>
                                      </p:tavLst>
                                    </p:anim>
                                    <p:anim calcmode="lin" valueType="num">
                                      <p:cBhvr>
                                        <p:cTn id="35" dur="800" accel="100000">
                                          <p:stCondLst>
                                            <p:cond delay="200"/>
                                          </p:stCondLst>
                                        </p:cTn>
                                        <p:tgtEl>
                                          <p:spTgt spid="2"/>
                                        </p:tgtEl>
                                        <p:attrNameLst>
                                          <p:attrName>ppt_y</p:attrName>
                                        </p:attrNameLst>
                                      </p:cBhvr>
                                      <p:tavLst>
                                        <p:tav tm="0">
                                          <p:val>
                                            <p:strVal val="ppt_y"/>
                                          </p:val>
                                        </p:tav>
                                        <p:tav tm="100000">
                                          <p:val>
                                            <p:strVal val="ppt_y-0.4-0.1"/>
                                          </p:val>
                                        </p:tav>
                                      </p:tavLst>
                                    </p:anim>
                                    <p:set>
                                      <p:cBhvr>
                                        <p:cTn id="36" dur="1" fill="hold">
                                          <p:stCondLst>
                                            <p:cond delay="999"/>
                                          </p:stCondLst>
                                        </p:cTn>
                                        <p:tgtEl>
                                          <p:spTgt spid="2"/>
                                        </p:tgtEl>
                                        <p:attrNameLst>
                                          <p:attrName>style.visibility</p:attrName>
                                        </p:attrNameLst>
                                      </p:cBhvr>
                                      <p:to>
                                        <p:strVal val="hidden"/>
                                      </p:to>
                                    </p:set>
                                  </p:childTnLst>
                                </p:cTn>
                              </p:par>
                              <p:par>
                                <p:cTn id="37" presetID="30" presetClass="exit" presetSubtype="0" fill="hold" grpId="2" nodeType="withEffect">
                                  <p:stCondLst>
                                    <p:cond delay="0"/>
                                  </p:stCondLst>
                                  <p:childTnLst>
                                    <p:animEffect transition="out" filter="fade">
                                      <p:cBhvr>
                                        <p:cTn id="38" dur="800" accel="100000">
                                          <p:stCondLst>
                                            <p:cond delay="200"/>
                                          </p:stCondLst>
                                        </p:cTn>
                                        <p:tgtEl>
                                          <p:spTgt spid="9"/>
                                        </p:tgtEl>
                                      </p:cBhvr>
                                    </p:animEffect>
                                    <p:anim calcmode="lin" valueType="num">
                                      <p:cBhvr>
                                        <p:cTn id="39" dur="800" accel="100000">
                                          <p:stCondLst>
                                            <p:cond delay="200"/>
                                          </p:stCondLst>
                                        </p:cTn>
                                        <p:tgtEl>
                                          <p:spTgt spid="9"/>
                                        </p:tgtEl>
                                        <p:attrNameLst>
                                          <p:attrName>style.rotation</p:attrName>
                                        </p:attrNameLst>
                                      </p:cBhvr>
                                      <p:tavLst>
                                        <p:tav tm="0">
                                          <p:val>
                                            <p:fltVal val="0"/>
                                          </p:val>
                                        </p:tav>
                                        <p:tav tm="100000">
                                          <p:val>
                                            <p:fltVal val="-90"/>
                                          </p:val>
                                        </p:tav>
                                      </p:tavLst>
                                    </p:anim>
                                    <p:anim calcmode="lin" valueType="num">
                                      <p:cBhvr>
                                        <p:cTn id="40" dur="200" decel="100000"/>
                                        <p:tgtEl>
                                          <p:spTgt spid="9"/>
                                        </p:tgtEl>
                                        <p:attrNameLst>
                                          <p:attrName>ppt_x</p:attrName>
                                        </p:attrNameLst>
                                      </p:cBhvr>
                                      <p:tavLst>
                                        <p:tav tm="0">
                                          <p:val>
                                            <p:strVal val="ppt_x"/>
                                          </p:val>
                                        </p:tav>
                                        <p:tav tm="100000">
                                          <p:val>
                                            <p:strVal val="ppt_x-0.05"/>
                                          </p:val>
                                        </p:tav>
                                      </p:tavLst>
                                    </p:anim>
                                    <p:anim calcmode="lin" valueType="num">
                                      <p:cBhvr>
                                        <p:cTn id="41" dur="200" decel="100000"/>
                                        <p:tgtEl>
                                          <p:spTgt spid="9"/>
                                        </p:tgtEl>
                                        <p:attrNameLst>
                                          <p:attrName>ppt_y</p:attrName>
                                        </p:attrNameLst>
                                      </p:cBhvr>
                                      <p:tavLst>
                                        <p:tav tm="0">
                                          <p:val>
                                            <p:strVal val="ppt_y"/>
                                          </p:val>
                                        </p:tav>
                                        <p:tav tm="100000">
                                          <p:val>
                                            <p:strVal val="ppt_y+0.1"/>
                                          </p:val>
                                        </p:tav>
                                      </p:tavLst>
                                    </p:anim>
                                    <p:anim calcmode="lin" valueType="num">
                                      <p:cBhvr>
                                        <p:cTn id="42" dur="800" accel="100000">
                                          <p:stCondLst>
                                            <p:cond delay="200"/>
                                          </p:stCondLst>
                                        </p:cTn>
                                        <p:tgtEl>
                                          <p:spTgt spid="9"/>
                                        </p:tgtEl>
                                        <p:attrNameLst>
                                          <p:attrName>ppt_x</p:attrName>
                                        </p:attrNameLst>
                                      </p:cBhvr>
                                      <p:tavLst>
                                        <p:tav tm="0">
                                          <p:val>
                                            <p:strVal val="ppt_x"/>
                                          </p:val>
                                        </p:tav>
                                        <p:tav tm="100000">
                                          <p:val>
                                            <p:strVal val="ppt_x+0.4+0.05"/>
                                          </p:val>
                                        </p:tav>
                                      </p:tavLst>
                                    </p:anim>
                                    <p:anim calcmode="lin" valueType="num">
                                      <p:cBhvr>
                                        <p:cTn id="43" dur="800" accel="100000">
                                          <p:stCondLst>
                                            <p:cond delay="200"/>
                                          </p:stCondLst>
                                        </p:cTn>
                                        <p:tgtEl>
                                          <p:spTgt spid="9"/>
                                        </p:tgtEl>
                                        <p:attrNameLst>
                                          <p:attrName>ppt_y</p:attrName>
                                        </p:attrNameLst>
                                      </p:cBhvr>
                                      <p:tavLst>
                                        <p:tav tm="0">
                                          <p:val>
                                            <p:strVal val="ppt_y"/>
                                          </p:val>
                                        </p:tav>
                                        <p:tav tm="100000">
                                          <p:val>
                                            <p:strVal val="ppt_y-0.4-0.1"/>
                                          </p:val>
                                        </p:tav>
                                      </p:tavLst>
                                    </p:anim>
                                    <p:set>
                                      <p:cBhvr>
                                        <p:cTn id="44"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P spid="9" grpId="0"/>
      <p:bldP spid="9" grpId="1"/>
      <p:bldP spid="9" grpId="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 y="19050"/>
            <a:ext cx="9127226" cy="7091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80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647950" y="1546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5"/>
          <p:cNvSpPr/>
          <p:nvPr/>
        </p:nvSpPr>
        <p:spPr>
          <a:xfrm>
            <a:off x="228600" y="838200"/>
            <a:ext cx="8915400" cy="1323439"/>
          </a:xfrm>
          <a:prstGeom prst="rect">
            <a:avLst/>
          </a:prstGeom>
        </p:spPr>
        <p:txBody>
          <a:bodyPr wrap="square">
            <a:spAutoFit/>
          </a:bodyPr>
          <a:lstStyle/>
          <a:p>
            <a:r>
              <a:rPr lang="en-US" sz="2000" i="1" dirty="0" smtClean="0"/>
              <a:t>FLEET</a:t>
            </a:r>
            <a:r>
              <a:rPr lang="en-US" sz="2000" i="1" baseline="-25000" dirty="0" smtClean="0"/>
              <a:t>i,t+1</a:t>
            </a:r>
            <a:r>
              <a:rPr lang="en-US" sz="2000" i="1" dirty="0" smtClean="0"/>
              <a:t> </a:t>
            </a:r>
            <a:r>
              <a:rPr lang="en-US" sz="2000" i="1" dirty="0"/>
              <a:t>= α</a:t>
            </a:r>
            <a:r>
              <a:rPr lang="en-US" sz="2000" i="1" baseline="-25000" dirty="0" err="1"/>
              <a:t>i</a:t>
            </a:r>
            <a:r>
              <a:rPr lang="en-US" sz="2000" i="1" dirty="0"/>
              <a:t> + β</a:t>
            </a:r>
            <a:r>
              <a:rPr lang="en-US" sz="2000" i="1" baseline="-25000" dirty="0"/>
              <a:t>1i</a:t>
            </a:r>
            <a:r>
              <a:rPr lang="en-US" sz="2000" i="1" dirty="0"/>
              <a:t>COI</a:t>
            </a:r>
            <a:r>
              <a:rPr lang="en-US" sz="2000" i="1" baseline="-25000" dirty="0"/>
              <a:t>i,t</a:t>
            </a:r>
            <a:r>
              <a:rPr lang="en-US" sz="2000" i="1" dirty="0"/>
              <a:t> + β</a:t>
            </a:r>
            <a:r>
              <a:rPr lang="en-US" sz="2000" i="1" baseline="-25000" dirty="0"/>
              <a:t>2i</a:t>
            </a:r>
            <a:r>
              <a:rPr lang="en-US" sz="2000" i="1" dirty="0"/>
              <a:t>SLOPE</a:t>
            </a:r>
            <a:r>
              <a:rPr lang="en-US" sz="2000" i="1" baseline="-25000" dirty="0"/>
              <a:t>i,t</a:t>
            </a:r>
            <a:r>
              <a:rPr lang="en-US" sz="2000" i="1" dirty="0"/>
              <a:t> + β</a:t>
            </a:r>
            <a:r>
              <a:rPr lang="en-US" sz="2000" i="1" baseline="-25000" dirty="0"/>
              <a:t>3i </a:t>
            </a:r>
            <a:r>
              <a:rPr lang="en-US" sz="2000" i="1" dirty="0" err="1"/>
              <a:t>NTRDS</a:t>
            </a:r>
            <a:r>
              <a:rPr lang="en-US" sz="2000" i="1" baseline="-25000" dirty="0" err="1"/>
              <a:t>i,t</a:t>
            </a:r>
            <a:r>
              <a:rPr lang="en-US" sz="2000" i="1" dirty="0"/>
              <a:t> + β</a:t>
            </a:r>
            <a:r>
              <a:rPr lang="en-US" sz="2000" i="1" baseline="-25000" dirty="0"/>
              <a:t>4i </a:t>
            </a:r>
            <a:r>
              <a:rPr lang="en-US" sz="2000" i="1" dirty="0" err="1"/>
              <a:t>ATS</a:t>
            </a:r>
            <a:r>
              <a:rPr lang="en-US" sz="2000" i="1" baseline="-25000" dirty="0" err="1"/>
              <a:t>i,t</a:t>
            </a:r>
            <a:r>
              <a:rPr lang="en-US" sz="2000" i="1" dirty="0"/>
              <a:t> + β</a:t>
            </a:r>
            <a:r>
              <a:rPr lang="en-US" sz="2000" i="1" baseline="-25000" dirty="0"/>
              <a:t>5i </a:t>
            </a:r>
            <a:r>
              <a:rPr lang="en-US" sz="2000" i="1" dirty="0" err="1"/>
              <a:t>SPREAD</a:t>
            </a:r>
            <a:r>
              <a:rPr lang="en-US" sz="2000" i="1" baseline="-25000" dirty="0" err="1"/>
              <a:t>i,t</a:t>
            </a:r>
            <a:r>
              <a:rPr lang="en-US" sz="2000" i="1" dirty="0"/>
              <a:t> + β</a:t>
            </a:r>
            <a:r>
              <a:rPr lang="en-US" sz="2000" i="1" baseline="-25000" dirty="0"/>
              <a:t>6i </a:t>
            </a:r>
            <a:r>
              <a:rPr lang="en-US" sz="2000" i="1" dirty="0" err="1"/>
              <a:t>DEPTH</a:t>
            </a:r>
            <a:r>
              <a:rPr lang="en-US" sz="2000" i="1" baseline="-25000" dirty="0" err="1"/>
              <a:t>i,t</a:t>
            </a:r>
            <a:r>
              <a:rPr lang="en-US" sz="2000" i="1" dirty="0"/>
              <a:t> </a:t>
            </a:r>
            <a:r>
              <a:rPr lang="fr-FR" sz="2000" i="1" dirty="0" smtClean="0"/>
              <a:t>+</a:t>
            </a:r>
            <a:r>
              <a:rPr lang="en-US" sz="2000" i="1" dirty="0"/>
              <a:t>β</a:t>
            </a:r>
            <a:r>
              <a:rPr lang="fr-FR" sz="2000" i="1" baseline="-25000" dirty="0"/>
              <a:t>7i</a:t>
            </a:r>
            <a:r>
              <a:rPr lang="fr-FR" sz="2000" i="1" dirty="0"/>
              <a:t> TRADING </a:t>
            </a:r>
            <a:r>
              <a:rPr lang="fr-FR" sz="2000" i="1" dirty="0" err="1"/>
              <a:t>SPEED</a:t>
            </a:r>
            <a:r>
              <a:rPr lang="fr-FR" sz="2000" i="1" baseline="-25000" dirty="0" err="1"/>
              <a:t>i,t</a:t>
            </a:r>
            <a:r>
              <a:rPr lang="fr-FR" sz="2000" i="1" dirty="0"/>
              <a:t>  +</a:t>
            </a:r>
            <a:r>
              <a:rPr lang="en-US" sz="2000" i="1" dirty="0"/>
              <a:t>β</a:t>
            </a:r>
            <a:r>
              <a:rPr lang="fr-FR" sz="2000" i="1" baseline="-25000" dirty="0"/>
              <a:t>8i</a:t>
            </a:r>
            <a:r>
              <a:rPr lang="fr-FR" sz="2000" i="1" dirty="0"/>
              <a:t> </a:t>
            </a:r>
            <a:r>
              <a:rPr lang="en-US" sz="2000" i="1" dirty="0" err="1"/>
              <a:t>VOLATILITY</a:t>
            </a:r>
            <a:r>
              <a:rPr lang="en-US" sz="2000" i="1" baseline="-25000" dirty="0" err="1"/>
              <a:t>i,t</a:t>
            </a:r>
            <a:r>
              <a:rPr lang="en-US" sz="2000" i="1" dirty="0"/>
              <a:t> </a:t>
            </a:r>
            <a:r>
              <a:rPr lang="fr-FR" sz="2000" i="1" dirty="0"/>
              <a:t>+</a:t>
            </a:r>
            <a:r>
              <a:rPr lang="en-US" sz="2000" i="1" dirty="0"/>
              <a:t>β</a:t>
            </a:r>
            <a:r>
              <a:rPr lang="fr-FR" sz="2000" i="1" baseline="-25000" dirty="0"/>
              <a:t>9i</a:t>
            </a:r>
            <a:r>
              <a:rPr lang="fr-FR" sz="2000" i="1" dirty="0"/>
              <a:t> </a:t>
            </a:r>
            <a:r>
              <a:rPr lang="en-US" sz="2000" i="1" dirty="0" err="1"/>
              <a:t>RETURN</a:t>
            </a:r>
            <a:r>
              <a:rPr lang="en-US" sz="2000" i="1" baseline="-25000" dirty="0" err="1"/>
              <a:t>i,t</a:t>
            </a:r>
            <a:r>
              <a:rPr lang="en-US" sz="2000" i="1" dirty="0"/>
              <a:t> </a:t>
            </a:r>
            <a:r>
              <a:rPr lang="fr-FR" sz="2000" i="1" dirty="0"/>
              <a:t>+</a:t>
            </a:r>
            <a:r>
              <a:rPr lang="en-US" sz="2000" i="1" dirty="0"/>
              <a:t>β</a:t>
            </a:r>
            <a:r>
              <a:rPr lang="fr-FR" sz="2000" i="1" baseline="-25000" dirty="0"/>
              <a:t>10i</a:t>
            </a:r>
            <a:r>
              <a:rPr lang="fr-FR" sz="2000" i="1" dirty="0"/>
              <a:t> </a:t>
            </a:r>
            <a:r>
              <a:rPr lang="fr-FR" sz="2000" i="1" dirty="0" err="1"/>
              <a:t>ARROWHEAD</a:t>
            </a:r>
            <a:r>
              <a:rPr lang="fr-FR" sz="2000" i="1" baseline="-25000" dirty="0" err="1"/>
              <a:t>i,t</a:t>
            </a:r>
            <a:r>
              <a:rPr lang="fr-FR" sz="2000" i="1" dirty="0"/>
              <a:t> +</a:t>
            </a:r>
            <a:r>
              <a:rPr lang="en-US" sz="2000" i="1" dirty="0"/>
              <a:t>β</a:t>
            </a:r>
            <a:r>
              <a:rPr lang="fr-FR" sz="2000" i="1" baseline="-25000" dirty="0"/>
              <a:t>11i</a:t>
            </a:r>
            <a:r>
              <a:rPr lang="fr-FR" sz="2000" i="1" dirty="0"/>
              <a:t> </a:t>
            </a:r>
            <a:r>
              <a:rPr lang="fr-FR" sz="2000" i="1" dirty="0" err="1"/>
              <a:t>MKTRET</a:t>
            </a:r>
            <a:r>
              <a:rPr lang="fr-FR" sz="2000" i="1" baseline="-25000" dirty="0" err="1"/>
              <a:t>i,t</a:t>
            </a:r>
            <a:r>
              <a:rPr lang="fr-FR" sz="2000" i="1" dirty="0"/>
              <a:t> +</a:t>
            </a:r>
            <a:r>
              <a:rPr lang="en-US" sz="2000" i="1" dirty="0"/>
              <a:t>β</a:t>
            </a:r>
            <a:r>
              <a:rPr lang="fr-FR" sz="2000" i="1" baseline="-25000" dirty="0"/>
              <a:t>12i</a:t>
            </a:r>
            <a:r>
              <a:rPr lang="fr-FR" sz="2000" i="1" dirty="0"/>
              <a:t> </a:t>
            </a:r>
            <a:r>
              <a:rPr lang="fr-FR" sz="2000" i="1" dirty="0" err="1"/>
              <a:t>ARROWHEAD</a:t>
            </a:r>
            <a:r>
              <a:rPr lang="fr-FR" sz="2000" i="1" baseline="-25000" dirty="0" err="1"/>
              <a:t>i,t</a:t>
            </a:r>
            <a:r>
              <a:rPr lang="fr-FR" sz="2000" i="1" dirty="0"/>
              <a:t>*</a:t>
            </a:r>
            <a:r>
              <a:rPr lang="en-US" sz="2000" i="1" dirty="0" err="1"/>
              <a:t>COI</a:t>
            </a:r>
            <a:r>
              <a:rPr lang="en-US" sz="2000" i="1" baseline="-25000" dirty="0" err="1"/>
              <a:t>i,t</a:t>
            </a:r>
            <a:r>
              <a:rPr lang="fr-FR" sz="2000" i="1" dirty="0"/>
              <a:t> +</a:t>
            </a:r>
            <a:r>
              <a:rPr lang="en-US" sz="2000" i="1" dirty="0"/>
              <a:t>β</a:t>
            </a:r>
            <a:r>
              <a:rPr lang="fr-FR" sz="2000" i="1" baseline="-25000" dirty="0"/>
              <a:t>13i</a:t>
            </a:r>
            <a:r>
              <a:rPr lang="fr-FR" sz="2000" i="1" dirty="0"/>
              <a:t> </a:t>
            </a:r>
            <a:r>
              <a:rPr lang="fr-FR" sz="2000" i="1" dirty="0" err="1"/>
              <a:t>ARROWHEAD</a:t>
            </a:r>
            <a:r>
              <a:rPr lang="fr-FR" sz="2000" i="1" baseline="-25000" dirty="0" err="1"/>
              <a:t>i,t</a:t>
            </a:r>
            <a:r>
              <a:rPr lang="fr-FR" sz="2000" i="1" dirty="0"/>
              <a:t>*</a:t>
            </a:r>
            <a:r>
              <a:rPr lang="en-US" sz="2000" i="1" dirty="0" err="1"/>
              <a:t>SLOPE</a:t>
            </a:r>
            <a:r>
              <a:rPr lang="en-US" sz="2000" i="1" baseline="-25000" dirty="0" err="1"/>
              <a:t>it</a:t>
            </a:r>
            <a:r>
              <a:rPr lang="en-US" sz="2000" i="1" baseline="-25000" dirty="0"/>
              <a:t> </a:t>
            </a:r>
            <a:r>
              <a:rPr lang="en-US" sz="2000" i="1" dirty="0"/>
              <a:t>+µ</a:t>
            </a:r>
            <a:r>
              <a:rPr lang="en-US" sz="2000" i="1" baseline="-25000" dirty="0"/>
              <a:t>i,t+1</a:t>
            </a:r>
            <a:endParaRPr lang="en-US" sz="2000" dirty="0"/>
          </a:p>
        </p:txBody>
      </p:sp>
      <p:graphicFrame>
        <p:nvGraphicFramePr>
          <p:cNvPr id="7" name="Table 6"/>
          <p:cNvGraphicFramePr>
            <a:graphicFrameLocks noGrp="1"/>
          </p:cNvGraphicFramePr>
          <p:nvPr>
            <p:extLst>
              <p:ext uri="{D42A27DB-BD31-4B8C-83A1-F6EECF244321}">
                <p14:modId xmlns:p14="http://schemas.microsoft.com/office/powerpoint/2010/main" val="2298122700"/>
              </p:ext>
            </p:extLst>
          </p:nvPr>
        </p:nvGraphicFramePr>
        <p:xfrm>
          <a:off x="228600" y="2417572"/>
          <a:ext cx="8534400" cy="2724267"/>
        </p:xfrm>
        <a:graphic>
          <a:graphicData uri="http://schemas.openxmlformats.org/drawingml/2006/table">
            <a:tbl>
              <a:tblPr firstRow="1" firstCol="1" bandRow="1">
                <a:tableStyleId>{5C22544A-7EE6-4342-B048-85BDC9FD1C3A}</a:tableStyleId>
              </a:tblPr>
              <a:tblGrid>
                <a:gridCol w="3365531"/>
                <a:gridCol w="2497006"/>
                <a:gridCol w="2671863"/>
              </a:tblGrid>
              <a:tr h="375030">
                <a:tc>
                  <a:txBody>
                    <a:bodyPr/>
                    <a:lstStyle/>
                    <a:p>
                      <a:pPr marL="0" marR="0">
                        <a:spcBef>
                          <a:spcPts val="0"/>
                        </a:spcBef>
                        <a:spcAft>
                          <a:spcPts val="0"/>
                        </a:spcAft>
                      </a:pPr>
                      <a:r>
                        <a:rPr lang="en-US" sz="2200" dirty="0">
                          <a:effectLst/>
                          <a:latin typeface="Times New Roman" pitchFamily="18" charset="0"/>
                          <a:cs typeface="Times New Roman" pitchFamily="18" charset="0"/>
                        </a:rPr>
                        <a:t>Variables</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2200" smtClean="0">
                          <a:effectLst/>
                          <a:latin typeface="Times New Roman" pitchFamily="18" charset="0"/>
                          <a:cs typeface="Times New Roman" pitchFamily="18" charset="0"/>
                        </a:rPr>
                        <a:t>(β</a:t>
                      </a:r>
                      <a:r>
                        <a:rPr lang="en-US" sz="2200" dirty="0">
                          <a:effectLst/>
                          <a:latin typeface="Times New Roman" pitchFamily="18" charset="0"/>
                          <a:cs typeface="Times New Roman" pitchFamily="18" charset="0"/>
                        </a:rPr>
                        <a:t>)</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pPr>
                      <a:r>
                        <a:rPr lang="en-US" sz="1800" b="1" kern="1200" dirty="0" smtClean="0">
                          <a:solidFill>
                            <a:schemeClr val="lt1"/>
                          </a:solidFill>
                          <a:effectLst/>
                          <a:latin typeface="+mn-lt"/>
                          <a:ea typeface="+mn-ea"/>
                          <a:cs typeface="+mn-cs"/>
                        </a:rPr>
                        <a:t>%t (%sign)</a:t>
                      </a:r>
                      <a:endParaRPr lang="en-US" sz="2200" dirty="0">
                        <a:effectLst/>
                        <a:latin typeface="Times New Roman" pitchFamily="18" charset="0"/>
                        <a:ea typeface="Calibri"/>
                        <a:cs typeface="Times New Roman" pitchFamily="18" charset="0"/>
                      </a:endParaRPr>
                    </a:p>
                  </a:txBody>
                  <a:tcPr marL="44664" marR="44664" marT="0" marB="0"/>
                </a:tc>
              </a:tr>
              <a:tr h="483998">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ARROWHEAD</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326390" algn="dec"/>
                        </a:tabLst>
                      </a:pPr>
                      <a:r>
                        <a:rPr lang="en-US" sz="2200" dirty="0" smtClean="0">
                          <a:effectLst/>
                          <a:latin typeface="Times New Roman"/>
                          <a:ea typeface="Calibri"/>
                        </a:rPr>
                        <a:t>1.74*</a:t>
                      </a:r>
                      <a:endParaRPr lang="en-US" sz="2200" dirty="0">
                        <a:effectLst/>
                        <a:latin typeface="Times New Roman"/>
                        <a:ea typeface="Calibri"/>
                      </a:endParaRPr>
                    </a:p>
                  </a:txBody>
                  <a:tcPr marL="68580" marR="68580" marT="0" marB="0">
                    <a:solidFill>
                      <a:srgbClr val="FFC000"/>
                    </a:solidFill>
                  </a:tcPr>
                </a:tc>
                <a:tc>
                  <a:txBody>
                    <a:bodyPr/>
                    <a:lstStyle/>
                    <a:p>
                      <a:pPr marL="0" marR="0" algn="ctr">
                        <a:spcBef>
                          <a:spcPts val="0"/>
                        </a:spcBef>
                        <a:spcAft>
                          <a:spcPts val="0"/>
                        </a:spcAft>
                      </a:pPr>
                      <a:r>
                        <a:rPr lang="en-US" sz="2200" dirty="0" smtClean="0">
                          <a:effectLst/>
                          <a:latin typeface="Times New Roman"/>
                          <a:ea typeface="Calibri"/>
                        </a:rPr>
                        <a:t>89(91)</a:t>
                      </a:r>
                      <a:endParaRPr lang="en-US" sz="2200" dirty="0">
                        <a:effectLst/>
                        <a:latin typeface="Times New Roman"/>
                        <a:ea typeface="Calibri"/>
                      </a:endParaRPr>
                    </a:p>
                  </a:txBody>
                  <a:tcPr marL="68580" marR="68580" marT="0" marB="0">
                    <a:solidFill>
                      <a:srgbClr val="FFC000"/>
                    </a:solidFill>
                  </a:tcPr>
                </a:tc>
              </a:tr>
              <a:tr h="483998">
                <a:tc>
                  <a:txBody>
                    <a:bodyPr/>
                    <a:lstStyle/>
                    <a:p>
                      <a:pPr marL="0" marR="0">
                        <a:spcBef>
                          <a:spcPts val="0"/>
                        </a:spcBef>
                        <a:spcAft>
                          <a:spcPts val="0"/>
                        </a:spcAft>
                      </a:pPr>
                      <a:r>
                        <a:rPr lang="en-US" sz="2200" dirty="0" smtClean="0">
                          <a:effectLst/>
                          <a:latin typeface="Times New Roman" pitchFamily="18" charset="0"/>
                          <a:cs typeface="Times New Roman" pitchFamily="18" charset="0"/>
                        </a:rPr>
                        <a:t> COI</a:t>
                      </a:r>
                      <a:endParaRPr lang="en-US" sz="2200" dirty="0">
                        <a:effectLst/>
                        <a:latin typeface="Times New Roman" pitchFamily="18" charset="0"/>
                        <a:ea typeface="Calibri"/>
                        <a:cs typeface="Times New Roman" pitchFamily="18" charset="0"/>
                      </a:endParaRPr>
                    </a:p>
                  </a:txBody>
                  <a:tcPr marL="44664" marR="44664" marT="0" marB="0"/>
                </a:tc>
                <a:tc>
                  <a:txBody>
                    <a:bodyPr/>
                    <a:lstStyle/>
                    <a:p>
                      <a:pPr marL="0" marR="0" algn="ctr">
                        <a:spcBef>
                          <a:spcPts val="0"/>
                        </a:spcBef>
                        <a:spcAft>
                          <a:spcPts val="0"/>
                        </a:spcAft>
                        <a:tabLst>
                          <a:tab pos="326390" algn="dec"/>
                        </a:tabLst>
                      </a:pPr>
                      <a:r>
                        <a:rPr lang="en-US" sz="2200" dirty="0">
                          <a:effectLst/>
                          <a:latin typeface="Times New Roman"/>
                          <a:ea typeface="Calibri"/>
                        </a:rPr>
                        <a:t>-</a:t>
                      </a:r>
                      <a:r>
                        <a:rPr lang="en-US" sz="2200" dirty="0" smtClean="0">
                          <a:effectLst/>
                          <a:latin typeface="Times New Roman"/>
                          <a:ea typeface="Calibri"/>
                        </a:rPr>
                        <a:t>1.19*</a:t>
                      </a:r>
                      <a:endParaRPr lang="en-US" sz="2200" dirty="0">
                        <a:effectLst/>
                        <a:latin typeface="Times New Roman"/>
                        <a:ea typeface="Calibri"/>
                      </a:endParaRPr>
                    </a:p>
                  </a:txBody>
                  <a:tcPr marL="68580" marR="68580" marT="0" marB="0">
                    <a:solidFill>
                      <a:srgbClr val="FFC000"/>
                    </a:solidFill>
                  </a:tcPr>
                </a:tc>
                <a:tc>
                  <a:txBody>
                    <a:bodyPr/>
                    <a:lstStyle/>
                    <a:p>
                      <a:pPr marL="0" marR="0" algn="ctr">
                        <a:spcBef>
                          <a:spcPts val="0"/>
                        </a:spcBef>
                        <a:spcAft>
                          <a:spcPts val="0"/>
                        </a:spcAft>
                      </a:pPr>
                      <a:r>
                        <a:rPr lang="en-US" sz="2200" dirty="0" smtClean="0">
                          <a:effectLst/>
                          <a:latin typeface="Times New Roman"/>
                          <a:ea typeface="Calibri"/>
                        </a:rPr>
                        <a:t>68(79)</a:t>
                      </a:r>
                      <a:endParaRPr lang="en-US" sz="2200" dirty="0">
                        <a:effectLst/>
                        <a:latin typeface="Times New Roman"/>
                        <a:ea typeface="Calibri"/>
                      </a:endParaRPr>
                    </a:p>
                  </a:txBody>
                  <a:tcPr marL="68580" marR="68580" marT="0" marB="0">
                    <a:solidFill>
                      <a:srgbClr val="FFC000"/>
                    </a:solidFill>
                  </a:tcPr>
                </a:tc>
              </a:tr>
              <a:tr h="522555">
                <a:tc>
                  <a:txBody>
                    <a:bodyPr/>
                    <a:lstStyle/>
                    <a:p>
                      <a:pPr marL="0" marR="0">
                        <a:spcBef>
                          <a:spcPts val="0"/>
                        </a:spcBef>
                        <a:spcAft>
                          <a:spcPts val="0"/>
                        </a:spcAft>
                      </a:pPr>
                      <a:r>
                        <a:rPr lang="en-US" sz="2200" dirty="0">
                          <a:latin typeface="Times New Roman" pitchFamily="18" charset="0"/>
                          <a:ea typeface="Calibri"/>
                          <a:cs typeface="Times New Roman" pitchFamily="18" charset="0"/>
                        </a:rPr>
                        <a:t>SLOPE</a:t>
                      </a:r>
                    </a:p>
                  </a:txBody>
                  <a:tcPr marL="68580" marR="68580" marT="0" marB="0"/>
                </a:tc>
                <a:tc>
                  <a:txBody>
                    <a:bodyPr/>
                    <a:lstStyle/>
                    <a:p>
                      <a:pPr marL="0" marR="0" algn="ctr">
                        <a:spcBef>
                          <a:spcPts val="0"/>
                        </a:spcBef>
                        <a:spcAft>
                          <a:spcPts val="0"/>
                        </a:spcAft>
                        <a:tabLst>
                          <a:tab pos="326390" algn="dec"/>
                        </a:tabLst>
                      </a:pPr>
                      <a:r>
                        <a:rPr lang="en-US" sz="2200" dirty="0" smtClean="0">
                          <a:effectLst/>
                          <a:latin typeface="Times New Roman"/>
                          <a:ea typeface="Calibri"/>
                        </a:rPr>
                        <a:t>1.85*</a:t>
                      </a:r>
                      <a:endParaRPr lang="en-US" sz="2200" dirty="0">
                        <a:effectLst/>
                        <a:latin typeface="Times New Roman"/>
                        <a:ea typeface="Calibri"/>
                      </a:endParaRPr>
                    </a:p>
                  </a:txBody>
                  <a:tcPr marL="68580" marR="68580" marT="0" marB="0"/>
                </a:tc>
                <a:tc>
                  <a:txBody>
                    <a:bodyPr/>
                    <a:lstStyle/>
                    <a:p>
                      <a:pPr marL="0" marR="0" algn="ctr">
                        <a:spcBef>
                          <a:spcPts val="0"/>
                        </a:spcBef>
                        <a:spcAft>
                          <a:spcPts val="0"/>
                        </a:spcAft>
                      </a:pPr>
                      <a:r>
                        <a:rPr lang="en-US" sz="2200" dirty="0" smtClean="0">
                          <a:effectLst/>
                          <a:latin typeface="Times New Roman"/>
                          <a:ea typeface="Calibri"/>
                        </a:rPr>
                        <a:t>93(85)</a:t>
                      </a:r>
                      <a:endParaRPr lang="en-US" sz="2200" dirty="0">
                        <a:effectLst/>
                        <a:latin typeface="Times New Roman"/>
                        <a:ea typeface="Calibri"/>
                      </a:endParaRPr>
                    </a:p>
                  </a:txBody>
                  <a:tcPr marL="68580" marR="68580" marT="0" marB="0"/>
                </a:tc>
              </a:tr>
              <a:tr h="483737">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ARROW*COI</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326390" algn="dec"/>
                        </a:tabLst>
                      </a:pPr>
                      <a:r>
                        <a:rPr lang="en-US" sz="2200" dirty="0">
                          <a:effectLst/>
                          <a:latin typeface="Times New Roman"/>
                          <a:ea typeface="Calibri"/>
                        </a:rPr>
                        <a:t>-</a:t>
                      </a:r>
                      <a:r>
                        <a:rPr lang="en-US" sz="2200" dirty="0" smtClean="0">
                          <a:effectLst/>
                          <a:latin typeface="Times New Roman"/>
                          <a:ea typeface="Calibri"/>
                        </a:rPr>
                        <a:t>0.62*</a:t>
                      </a:r>
                      <a:endParaRPr lang="en-US" sz="2200" dirty="0">
                        <a:effectLst/>
                        <a:latin typeface="Times New Roman"/>
                        <a:ea typeface="Calibri"/>
                      </a:endParaRPr>
                    </a:p>
                  </a:txBody>
                  <a:tcPr marL="68580" marR="68580" marT="0" marB="0">
                    <a:solidFill>
                      <a:srgbClr val="FFC000"/>
                    </a:solidFill>
                  </a:tcPr>
                </a:tc>
                <a:tc>
                  <a:txBody>
                    <a:bodyPr/>
                    <a:lstStyle/>
                    <a:p>
                      <a:pPr marL="0" marR="0" algn="ctr">
                        <a:spcBef>
                          <a:spcPts val="0"/>
                        </a:spcBef>
                        <a:spcAft>
                          <a:spcPts val="0"/>
                        </a:spcAft>
                      </a:pPr>
                      <a:r>
                        <a:rPr lang="en-US" sz="2200" dirty="0" smtClean="0">
                          <a:effectLst/>
                          <a:latin typeface="Times New Roman"/>
                          <a:ea typeface="Calibri"/>
                        </a:rPr>
                        <a:t>53(69)</a:t>
                      </a:r>
                      <a:endParaRPr lang="en-US" sz="2200" dirty="0">
                        <a:effectLst/>
                        <a:latin typeface="Times New Roman"/>
                        <a:ea typeface="Calibri"/>
                      </a:endParaRPr>
                    </a:p>
                  </a:txBody>
                  <a:tcPr marL="68580" marR="68580" marT="0" marB="0">
                    <a:solidFill>
                      <a:srgbClr val="FFC000"/>
                    </a:solidFill>
                  </a:tcPr>
                </a:tc>
              </a:tr>
              <a:tr h="374949">
                <a:tc>
                  <a:txBody>
                    <a:bodyPr/>
                    <a:lstStyle/>
                    <a:p>
                      <a:pPr marL="0" marR="0">
                        <a:spcBef>
                          <a:spcPts val="0"/>
                        </a:spcBef>
                        <a:spcAft>
                          <a:spcPts val="0"/>
                        </a:spcAft>
                      </a:pPr>
                      <a:r>
                        <a:rPr lang="en-US" sz="2200" dirty="0" smtClean="0">
                          <a:latin typeface="Times New Roman" pitchFamily="18" charset="0"/>
                          <a:ea typeface="Calibri"/>
                          <a:cs typeface="Times New Roman" pitchFamily="18" charset="0"/>
                        </a:rPr>
                        <a:t>ARROW*SLOPE</a:t>
                      </a:r>
                      <a:endParaRPr lang="en-US" sz="2200" dirty="0">
                        <a:latin typeface="Times New Roman" pitchFamily="18" charset="0"/>
                        <a:ea typeface="Calibri"/>
                        <a:cs typeface="Times New Roman" pitchFamily="18" charset="0"/>
                      </a:endParaRPr>
                    </a:p>
                  </a:txBody>
                  <a:tcPr marL="68580" marR="68580" marT="0" marB="0"/>
                </a:tc>
                <a:tc>
                  <a:txBody>
                    <a:bodyPr/>
                    <a:lstStyle/>
                    <a:p>
                      <a:pPr marL="0" marR="0" algn="ctr">
                        <a:spcBef>
                          <a:spcPts val="0"/>
                        </a:spcBef>
                        <a:spcAft>
                          <a:spcPts val="0"/>
                        </a:spcAft>
                        <a:tabLst>
                          <a:tab pos="326390" algn="dec"/>
                        </a:tabLst>
                      </a:pPr>
                      <a:r>
                        <a:rPr lang="en-US" sz="2200" dirty="0" smtClean="0">
                          <a:effectLst/>
                          <a:latin typeface="Times New Roman"/>
                          <a:ea typeface="Calibri"/>
                        </a:rPr>
                        <a:t>0.89*</a:t>
                      </a:r>
                      <a:endParaRPr lang="en-US" sz="2200" dirty="0">
                        <a:effectLst/>
                        <a:latin typeface="Times New Roman"/>
                        <a:ea typeface="Calibri"/>
                      </a:endParaRPr>
                    </a:p>
                  </a:txBody>
                  <a:tcPr marL="68580" marR="68580" marT="0" marB="0"/>
                </a:tc>
                <a:tc>
                  <a:txBody>
                    <a:bodyPr/>
                    <a:lstStyle/>
                    <a:p>
                      <a:pPr marL="0" marR="0" algn="ctr">
                        <a:spcBef>
                          <a:spcPts val="0"/>
                        </a:spcBef>
                        <a:spcAft>
                          <a:spcPts val="0"/>
                        </a:spcAft>
                      </a:pPr>
                      <a:r>
                        <a:rPr lang="en-US" sz="2200" dirty="0" smtClean="0">
                          <a:effectLst/>
                          <a:latin typeface="Times New Roman"/>
                          <a:ea typeface="Calibri"/>
                        </a:rPr>
                        <a:t>79(80)</a:t>
                      </a:r>
                      <a:endParaRPr lang="en-US" sz="2200" dirty="0">
                        <a:effectLst/>
                        <a:latin typeface="Times New Roman"/>
                        <a:ea typeface="Calibri"/>
                      </a:endParaRPr>
                    </a:p>
                  </a:txBody>
                  <a:tcPr marL="68580" marR="68580" marT="0" marB="0"/>
                </a:tc>
              </a:tr>
            </a:tbl>
          </a:graphicData>
        </a:graphic>
      </p:graphicFrame>
      <p:sp>
        <p:nvSpPr>
          <p:cNvPr id="8" name="TextBox 7"/>
          <p:cNvSpPr txBox="1"/>
          <p:nvPr/>
        </p:nvSpPr>
        <p:spPr>
          <a:xfrm>
            <a:off x="38100" y="5374957"/>
            <a:ext cx="9144000" cy="492443"/>
          </a:xfrm>
          <a:prstGeom prst="rect">
            <a:avLst/>
          </a:prstGeom>
          <a:noFill/>
        </p:spPr>
        <p:txBody>
          <a:bodyPr wrap="square" rtlCol="0">
            <a:spAutoFit/>
          </a:bodyPr>
          <a:lstStyle/>
          <a:p>
            <a:r>
              <a:rPr lang="en-US" sz="2600" dirty="0" smtClean="0"/>
              <a:t>Higher COI discourages fleeting orders</a:t>
            </a:r>
            <a:endParaRPr lang="en-US" sz="2600" dirty="0"/>
          </a:p>
        </p:txBody>
      </p:sp>
      <p:sp>
        <p:nvSpPr>
          <p:cNvPr id="9" name="TextBox 8"/>
          <p:cNvSpPr txBox="1"/>
          <p:nvPr/>
        </p:nvSpPr>
        <p:spPr>
          <a:xfrm>
            <a:off x="0" y="5943600"/>
            <a:ext cx="9144000" cy="892552"/>
          </a:xfrm>
          <a:prstGeom prst="rect">
            <a:avLst/>
          </a:prstGeom>
          <a:noFill/>
        </p:spPr>
        <p:txBody>
          <a:bodyPr wrap="square" rtlCol="0">
            <a:spAutoFit/>
          </a:bodyPr>
          <a:lstStyle/>
          <a:p>
            <a:r>
              <a:rPr lang="en-US" sz="2600" dirty="0" smtClean="0"/>
              <a:t>ARROWHEAD increased the frequency of fleeting orders; strengthened COI =&gt; fleeting orders relation.</a:t>
            </a:r>
            <a:endParaRPr lang="en-US" sz="2600" dirty="0"/>
          </a:p>
        </p:txBody>
      </p:sp>
      <p:sp>
        <p:nvSpPr>
          <p:cNvPr id="10" name="Rectangle 2"/>
          <p:cNvSpPr txBox="1">
            <a:spLocks noChangeArrowheads="1"/>
          </p:cNvSpPr>
          <p:nvPr/>
        </p:nvSpPr>
        <p:spPr bwMode="blackWhite">
          <a:xfrm>
            <a:off x="228600" y="76200"/>
            <a:ext cx="8763000" cy="6096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lvl="0"/>
            <a:r>
              <a:rPr lang="en-US" sz="2900" b="1" dirty="0" smtClean="0">
                <a:solidFill>
                  <a:schemeClr val="bg1"/>
                </a:solidFill>
              </a:rPr>
              <a:t>LOB COI Predicts the fleeting orders</a:t>
            </a:r>
            <a:endParaRPr lang="en-US" sz="2900" b="1" dirty="0">
              <a:solidFill>
                <a:schemeClr val="bg1"/>
              </a:solidFill>
            </a:endParaRPr>
          </a:p>
        </p:txBody>
      </p:sp>
    </p:spTree>
    <p:extLst>
      <p:ext uri="{BB962C8B-B14F-4D97-AF65-F5344CB8AC3E}">
        <p14:creationId xmlns:p14="http://schemas.microsoft.com/office/powerpoint/2010/main" val="3964166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5800"/>
            <a:ext cx="9039225"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71018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85800"/>
            <a:ext cx="9143999"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492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123"/>
                                        </p:tgtEl>
                                      </p:cBhvr>
                                    </p:animEffect>
                                    <p:set>
                                      <p:cBhvr>
                                        <p:cTn id="7" dur="1" fill="hold">
                                          <p:stCondLst>
                                            <p:cond delay="499"/>
                                          </p:stCondLst>
                                        </p:cTn>
                                        <p:tgtEl>
                                          <p:spTgt spid="51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9600"/>
            <a:ext cx="9296400" cy="5281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15778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752600"/>
            <a:ext cx="9144000" cy="5867400"/>
          </a:xfrm>
        </p:spPr>
        <p:txBody>
          <a:bodyPr>
            <a:noAutofit/>
          </a:bodyPr>
          <a:lstStyle/>
          <a:p>
            <a:pPr>
              <a:lnSpc>
                <a:spcPct val="100000"/>
              </a:lnSpc>
              <a:spcBef>
                <a:spcPts val="600"/>
              </a:spcBef>
            </a:pPr>
            <a:r>
              <a:rPr lang="en-US" dirty="0" smtClean="0">
                <a:effectLst/>
              </a:rPr>
              <a:t>Alternate </a:t>
            </a:r>
            <a:r>
              <a:rPr lang="en-US" dirty="0">
                <a:effectLst/>
              </a:rPr>
              <a:t>sample </a:t>
            </a:r>
            <a:r>
              <a:rPr lang="en-US" dirty="0" smtClean="0">
                <a:effectLst/>
              </a:rPr>
              <a:t>selection:</a:t>
            </a:r>
          </a:p>
          <a:p>
            <a:pPr lvl="1">
              <a:lnSpc>
                <a:spcPct val="100000"/>
              </a:lnSpc>
              <a:spcBef>
                <a:spcPts val="600"/>
              </a:spcBef>
            </a:pPr>
            <a:r>
              <a:rPr lang="en-US" dirty="0" smtClean="0">
                <a:effectLst/>
              </a:rPr>
              <a:t>MTU </a:t>
            </a:r>
            <a:r>
              <a:rPr lang="en-US" dirty="0">
                <a:effectLst/>
              </a:rPr>
              <a:t>of </a:t>
            </a:r>
            <a:r>
              <a:rPr lang="en-US" dirty="0" smtClean="0">
                <a:effectLst/>
              </a:rPr>
              <a:t>1,000</a:t>
            </a:r>
          </a:p>
          <a:p>
            <a:pPr lvl="1">
              <a:lnSpc>
                <a:spcPct val="100000"/>
              </a:lnSpc>
              <a:spcBef>
                <a:spcPts val="600"/>
              </a:spcBef>
            </a:pPr>
            <a:r>
              <a:rPr lang="en-US" dirty="0" smtClean="0">
                <a:effectLst/>
              </a:rPr>
              <a:t>Drop special quotes</a:t>
            </a:r>
          </a:p>
          <a:p>
            <a:pPr>
              <a:lnSpc>
                <a:spcPct val="100000"/>
              </a:lnSpc>
              <a:spcBef>
                <a:spcPts val="600"/>
              </a:spcBef>
            </a:pPr>
            <a:r>
              <a:rPr lang="en-US" dirty="0" smtClean="0">
                <a:effectLst/>
              </a:rPr>
              <a:t>Time dummies for intraday seasonality</a:t>
            </a:r>
          </a:p>
          <a:p>
            <a:pPr>
              <a:lnSpc>
                <a:spcPct val="100000"/>
              </a:lnSpc>
              <a:spcBef>
                <a:spcPts val="600"/>
              </a:spcBef>
            </a:pPr>
            <a:r>
              <a:rPr lang="en-US" dirty="0" smtClean="0">
                <a:effectLst/>
              </a:rPr>
              <a:t>Analyses </a:t>
            </a:r>
            <a:r>
              <a:rPr lang="en-US" dirty="0" smtClean="0">
                <a:effectLst/>
              </a:rPr>
              <a:t>based on 5 minutes, 10 minutes and 30 minutes snapshot of </a:t>
            </a:r>
            <a:r>
              <a:rPr lang="en-US" dirty="0" smtClean="0">
                <a:effectLst/>
              </a:rPr>
              <a:t>LOB</a:t>
            </a:r>
            <a:endParaRPr lang="en-US" dirty="0" smtClean="0">
              <a:effectLst/>
            </a:endParaRPr>
          </a:p>
        </p:txBody>
      </p:sp>
      <p:sp>
        <p:nvSpPr>
          <p:cNvPr id="6" name="Rectangle 4"/>
          <p:cNvSpPr>
            <a:spLocks noChangeArrowheads="1"/>
          </p:cNvSpPr>
          <p:nvPr/>
        </p:nvSpPr>
        <p:spPr bwMode="auto">
          <a:xfrm>
            <a:off x="2286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7" name="Rectangle 2"/>
          <p:cNvSpPr txBox="1">
            <a:spLocks noChangeArrowheads="1"/>
          </p:cNvSpPr>
          <p:nvPr/>
        </p:nvSpPr>
        <p:spPr bwMode="blackWhite">
          <a:xfrm>
            <a:off x="3810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marL="0" marR="0" lvl="0" indent="0" algn="ctr" defTabSz="914400" rtl="0" eaLnBrk="0" fontAlgn="base" latinLnBrk="0" hangingPunct="0">
              <a:lnSpc>
                <a:spcPct val="85000"/>
              </a:lnSpc>
              <a:spcBef>
                <a:spcPct val="10000"/>
              </a:spcBef>
              <a:spcAft>
                <a:spcPct val="0"/>
              </a:spcAft>
              <a:buClrTx/>
              <a:buSzTx/>
              <a:buFontTx/>
              <a:buNone/>
              <a:tabLst/>
              <a:defRPr/>
            </a:pPr>
            <a:r>
              <a:rPr kumimoji="0" lang="en-US" sz="48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j-lt"/>
                <a:ea typeface="+mj-ea"/>
                <a:cs typeface="+mj-cs"/>
              </a:rPr>
              <a:t>Robustness Tests</a:t>
            </a:r>
            <a:endParaRPr kumimoji="0" lang="en-GB" sz="4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j-lt"/>
              <a:ea typeface="+mj-ea"/>
              <a:cs typeface="+mj-cs"/>
            </a:endParaRPr>
          </a:p>
        </p:txBody>
      </p:sp>
    </p:spTree>
    <p:extLst>
      <p:ext uri="{BB962C8B-B14F-4D97-AF65-F5344CB8AC3E}">
        <p14:creationId xmlns:p14="http://schemas.microsoft.com/office/powerpoint/2010/main" val="637228785"/>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in)">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left)">
                                      <p:cBhvr>
                                        <p:cTn id="15" dur="500"/>
                                        <p:tgtEl>
                                          <p:spTgt spid="3">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ipe(left)">
                                      <p:cBhvr>
                                        <p:cTn id="19" dur="500"/>
                                        <p:tgtEl>
                                          <p:spTgt spid="3">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left)">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wipe(left)">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wipe(left)">
                                      <p:cBhvr>
                                        <p:cTn id="3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1676400"/>
            <a:ext cx="9144000" cy="5867400"/>
          </a:xfrm>
        </p:spPr>
        <p:txBody>
          <a:bodyPr>
            <a:noAutofit/>
            <a:scene3d>
              <a:camera prst="orthographicFront"/>
              <a:lightRig rig="soft" dir="t">
                <a:rot lat="0" lon="0" rev="10800000"/>
              </a:lightRig>
            </a:scene3d>
            <a:sp3d>
              <a:bevelT w="27940" h="12700"/>
              <a:contourClr>
                <a:srgbClr val="DDDDDD"/>
              </a:contourClr>
            </a:sp3d>
          </a:bodyPr>
          <a:lstStyle/>
          <a:p>
            <a:pPr>
              <a:defRPr/>
            </a:pPr>
            <a:r>
              <a:rPr lang="en-US" dirty="0" smtClean="0">
                <a:effectLst/>
                <a:latin typeface="Arial" pitchFamily="34" charset="0"/>
                <a:cs typeface="Arial" pitchFamily="34" charset="0"/>
              </a:rPr>
              <a:t>Low-latency affects market quality:</a:t>
            </a:r>
          </a:p>
          <a:p>
            <a:pPr lvl="1">
              <a:defRPr/>
            </a:pPr>
            <a:r>
              <a:rPr lang="en-US" dirty="0" smtClean="0">
                <a:solidFill>
                  <a:srgbClr val="00823B"/>
                </a:solidFill>
                <a:effectLst/>
                <a:latin typeface="Arial" pitchFamily="34" charset="0"/>
                <a:cs typeface="Arial" pitchFamily="34" charset="0"/>
              </a:rPr>
              <a:t>Reduced COI and volatility; Increased #of trades </a:t>
            </a:r>
          </a:p>
          <a:p>
            <a:pPr lvl="1">
              <a:defRPr/>
            </a:pPr>
            <a:r>
              <a:rPr lang="en-US" dirty="0" smtClean="0">
                <a:solidFill>
                  <a:srgbClr val="FF0000"/>
                </a:solidFill>
                <a:effectLst/>
                <a:latin typeface="Arial" pitchFamily="34" charset="0"/>
                <a:cs typeface="Arial" pitchFamily="34" charset="0"/>
              </a:rPr>
              <a:t>Increased Quotes-to-trade ratio, autocorrelation &amp; cross </a:t>
            </a:r>
            <a:r>
              <a:rPr lang="en-US" dirty="0" smtClean="0">
                <a:solidFill>
                  <a:srgbClr val="FF0000"/>
                </a:solidFill>
                <a:effectLst/>
                <a:latin typeface="Arial" pitchFamily="34" charset="0"/>
                <a:cs typeface="Arial" pitchFamily="34" charset="0"/>
              </a:rPr>
              <a:t>correlation, </a:t>
            </a:r>
            <a:r>
              <a:rPr lang="en-US" dirty="0" err="1" smtClean="0">
                <a:solidFill>
                  <a:srgbClr val="FF0000"/>
                </a:solidFill>
                <a:effectLst/>
                <a:latin typeface="Arial" pitchFamily="34" charset="0"/>
                <a:cs typeface="Arial" pitchFamily="34" charset="0"/>
              </a:rPr>
              <a:t>CoVaR</a:t>
            </a:r>
            <a:r>
              <a:rPr lang="en-US" dirty="0" smtClean="0">
                <a:solidFill>
                  <a:srgbClr val="FF0000"/>
                </a:solidFill>
                <a:effectLst/>
                <a:latin typeface="Arial" pitchFamily="34" charset="0"/>
                <a:cs typeface="Arial" pitchFamily="34" charset="0"/>
              </a:rPr>
              <a:t> and </a:t>
            </a:r>
            <a:r>
              <a:rPr lang="en-US" dirty="0" err="1" smtClean="0">
                <a:solidFill>
                  <a:srgbClr val="FF0000"/>
                </a:solidFill>
                <a:effectLst/>
                <a:latin typeface="Arial" pitchFamily="34" charset="0"/>
                <a:cs typeface="Arial" pitchFamily="34" charset="0"/>
              </a:rPr>
              <a:t>CoVaQ</a:t>
            </a:r>
            <a:endParaRPr lang="en-US" dirty="0" smtClean="0">
              <a:solidFill>
                <a:srgbClr val="FF0000"/>
              </a:solidFill>
              <a:effectLst/>
              <a:latin typeface="Arial" pitchFamily="34" charset="0"/>
              <a:cs typeface="Arial" pitchFamily="34" charset="0"/>
            </a:endParaRPr>
          </a:p>
          <a:p>
            <a:pPr lvl="1">
              <a:defRPr/>
            </a:pPr>
            <a:endParaRPr lang="en-US" sz="800" dirty="0" smtClean="0">
              <a:solidFill>
                <a:srgbClr val="FF0000"/>
              </a:solidFill>
              <a:effectLst/>
              <a:latin typeface="Arial" pitchFamily="34" charset="0"/>
              <a:cs typeface="Arial" pitchFamily="34" charset="0"/>
            </a:endParaRPr>
          </a:p>
          <a:p>
            <a:pPr lvl="1">
              <a:defRPr/>
            </a:pPr>
            <a:endParaRPr lang="en-US" sz="800" dirty="0" smtClean="0">
              <a:effectLst/>
              <a:latin typeface="Arial" pitchFamily="34" charset="0"/>
              <a:cs typeface="Arial" pitchFamily="34" charset="0"/>
            </a:endParaRPr>
          </a:p>
          <a:p>
            <a:pPr>
              <a:defRPr/>
            </a:pPr>
            <a:r>
              <a:rPr lang="en-US" dirty="0">
                <a:effectLst/>
                <a:latin typeface="Arial" pitchFamily="34" charset="0"/>
                <a:cs typeface="Arial" pitchFamily="34" charset="0"/>
              </a:rPr>
              <a:t>Arrowhead </a:t>
            </a:r>
            <a:r>
              <a:rPr lang="en-US" dirty="0" smtClean="0">
                <a:effectLst/>
                <a:latin typeface="Arial" pitchFamily="34" charset="0"/>
                <a:cs typeface="Arial" pitchFamily="34" charset="0"/>
              </a:rPr>
              <a:t>increased the probability of systemic crash, especially during tail events</a:t>
            </a:r>
            <a:r>
              <a:rPr lang="en-US" sz="2800" dirty="0" smtClean="0">
                <a:effectLst/>
                <a:latin typeface="Arial" pitchFamily="34" charset="0"/>
                <a:cs typeface="Arial" pitchFamily="34" charset="0"/>
              </a:rPr>
              <a:t>.</a:t>
            </a:r>
            <a:endParaRPr lang="en-US" sz="2800" dirty="0" smtClean="0">
              <a:effectLst/>
              <a:latin typeface="Arial" pitchFamily="34" charset="0"/>
              <a:cs typeface="Arial" pitchFamily="34" charset="0"/>
            </a:endParaRPr>
          </a:p>
          <a:p>
            <a:pPr>
              <a:defRPr/>
            </a:pPr>
            <a:endParaRPr lang="en-US" sz="2600" dirty="0" smtClean="0">
              <a:effectLst/>
              <a:latin typeface="Arial" pitchFamily="34" charset="0"/>
              <a:cs typeface="Arial" pitchFamily="34" charset="0"/>
            </a:endParaRPr>
          </a:p>
          <a:p>
            <a:pPr>
              <a:spcBef>
                <a:spcPts val="600"/>
              </a:spcBef>
              <a:buNone/>
              <a:defRPr/>
            </a:pPr>
            <a:endParaRPr lang="en-US" sz="1400" spc="150" dirty="0">
              <a:ln w="11430"/>
              <a:effectLst/>
              <a:latin typeface="Arial" pitchFamily="34" charset="0"/>
              <a:cs typeface="Arial" pitchFamily="34" charset="0"/>
            </a:endParaRPr>
          </a:p>
        </p:txBody>
      </p:sp>
      <p:sp>
        <p:nvSpPr>
          <p:cNvPr id="7" name="Rectangle 4"/>
          <p:cNvSpPr>
            <a:spLocks noChangeArrowheads="1"/>
          </p:cNvSpPr>
          <p:nvPr/>
        </p:nvSpPr>
        <p:spPr bwMode="auto">
          <a:xfrm>
            <a:off x="228600" y="76200"/>
            <a:ext cx="8610600" cy="1371600"/>
          </a:xfrm>
          <a:prstGeom prst="rect">
            <a:avLst/>
          </a:prstGeom>
          <a:gradFill rotWithShape="0">
            <a:gsLst>
              <a:gs pos="0">
                <a:schemeClr val="accent1"/>
              </a:gs>
              <a:gs pos="100000">
                <a:schemeClr val="accent1">
                  <a:gamma/>
                  <a:shade val="40000"/>
                  <a:invGamma/>
                </a:schemeClr>
              </a:gs>
            </a:gsLst>
            <a:lin ang="2700000" scaled="1"/>
          </a:gradFill>
          <a:ln w="9525">
            <a:noFill/>
            <a:miter lim="800000"/>
            <a:headEnd/>
            <a:tailEnd/>
          </a:ln>
          <a:effectLst/>
        </p:spPr>
        <p:txBody>
          <a:bodyPr wrap="none" anchor="ctr"/>
          <a:lstStyle/>
          <a:p>
            <a:pPr eaLnBrk="0" hangingPunct="0"/>
            <a:endParaRPr lang="en-US">
              <a:solidFill>
                <a:srgbClr val="FFFFFF"/>
              </a:solidFill>
            </a:endParaRPr>
          </a:p>
        </p:txBody>
      </p:sp>
      <p:sp>
        <p:nvSpPr>
          <p:cNvPr id="8" name="Rectangle 2"/>
          <p:cNvSpPr txBox="1">
            <a:spLocks noChangeArrowheads="1"/>
          </p:cNvSpPr>
          <p:nvPr/>
        </p:nvSpPr>
        <p:spPr bwMode="blackWhite">
          <a:xfrm>
            <a:off x="381000" y="152400"/>
            <a:ext cx="8229600" cy="1066800"/>
          </a:xfrm>
          <a:prstGeom prst="rect">
            <a:avLst/>
          </a:prstGeom>
          <a:gradFill rotWithShape="0">
            <a:gsLst>
              <a:gs pos="0">
                <a:schemeClr val="accent1">
                  <a:gamma/>
                  <a:shade val="50196"/>
                  <a:invGamma/>
                </a:schemeClr>
              </a:gs>
              <a:gs pos="100000">
                <a:schemeClr val="accent1"/>
              </a:gs>
            </a:gsLst>
            <a:lin ang="2700000" scaled="1"/>
          </a:gradFill>
          <a:ln w="9525">
            <a:noFill/>
            <a:miter lim="800000"/>
            <a:headEnd/>
            <a:tailEnd/>
          </a:ln>
          <a:effectLst/>
        </p:spPr>
        <p:txBody>
          <a:bodyPr vert="horz" wrap="square" lIns="36000" tIns="45720" rIns="36000" bIns="45720" numCol="1" anchor="ctr" anchorCtr="1" compatLnSpc="1">
            <a:prstTxWarp prst="textNoShape">
              <a:avLst/>
            </a:prstTxWarp>
          </a:bodyPr>
          <a:lstStyle/>
          <a:p>
            <a:pPr marL="0" marR="0" lvl="0" indent="0" algn="ctr" defTabSz="914400" rtl="0" eaLnBrk="0" fontAlgn="base" latinLnBrk="0" hangingPunct="0">
              <a:lnSpc>
                <a:spcPct val="85000"/>
              </a:lnSpc>
              <a:spcBef>
                <a:spcPct val="10000"/>
              </a:spcBef>
              <a:spcAft>
                <a:spcPct val="0"/>
              </a:spcAft>
              <a:buClrTx/>
              <a:buSzTx/>
              <a:buFontTx/>
              <a:buNone/>
              <a:tabLst/>
              <a:defRPr/>
            </a:pPr>
            <a:r>
              <a:rPr kumimoji="0" lang="en-US" sz="48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j-lt"/>
                <a:ea typeface="+mj-ea"/>
                <a:cs typeface="+mj-cs"/>
              </a:rPr>
              <a:t>Conclusions</a:t>
            </a:r>
            <a:endParaRPr kumimoji="0" lang="en-GB" sz="4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j-lt"/>
              <a:ea typeface="+mj-ea"/>
              <a:cs typeface="+mj-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ox(in)">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wipe(left)">
                                      <p:cBhvr>
                                        <p:cTn id="15" dur="500"/>
                                        <p:tgtEl>
                                          <p:spTgt spid="5">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wipe(left)">
                                      <p:cBhvr>
                                        <p:cTn id="19" dur="500"/>
                                        <p:tgtEl>
                                          <p:spTgt spid="5">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wipe(left)">
                                      <p:cBhvr>
                                        <p:cTn id="23" dur="500"/>
                                        <p:tgtEl>
                                          <p:spTgt spid="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wipe(left)">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2431942982"/>
              </p:ext>
            </p:extLst>
          </p:nvPr>
        </p:nvGraphicFramePr>
        <p:xfrm>
          <a:off x="76200" y="0"/>
          <a:ext cx="9067800" cy="6929438"/>
        </p:xfrm>
        <a:graphic>
          <a:graphicData uri="http://schemas.openxmlformats.org/presentationml/2006/ole">
            <mc:AlternateContent xmlns:mc="http://schemas.openxmlformats.org/markup-compatibility/2006">
              <mc:Choice xmlns:v="urn:schemas-microsoft-com:vml" Requires="v">
                <p:oleObj spid="_x0000_s1056" name="Worksheet" r:id="rId3" imgW="11315633" imgH="11953969" progId="Excel.Sheet.8">
                  <p:embed/>
                </p:oleObj>
              </mc:Choice>
              <mc:Fallback>
                <p:oleObj name="Worksheet" r:id="rId3" imgW="11315633" imgH="11953969" progId="Excel.Sheet.8">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0"/>
                        <a:ext cx="9067800" cy="692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75553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0|0.2"/>
</p:tagLst>
</file>

<file path=ppt/tags/tag3.xml><?xml version="1.0" encoding="utf-8"?>
<p:tagLst xmlns:a="http://schemas.openxmlformats.org/drawingml/2006/main" xmlns:r="http://schemas.openxmlformats.org/officeDocument/2006/relationships" xmlns:p="http://schemas.openxmlformats.org/presentationml/2006/main">
  <p:tag name="TIMING" val="|0.5|0|0|0"/>
</p:tagLst>
</file>

<file path=ppt/tags/tag4.xml><?xml version="1.0" encoding="utf-8"?>
<p:tagLst xmlns:a="http://schemas.openxmlformats.org/drawingml/2006/main" xmlns:r="http://schemas.openxmlformats.org/officeDocument/2006/relationships" xmlns:p="http://schemas.openxmlformats.org/presentationml/2006/main">
  <p:tag name="TIMING" val="|9.1|2|1.5|36.9"/>
</p:tagLst>
</file>

<file path=ppt/tags/tag5.xml><?xml version="1.0" encoding="utf-8"?>
<p:tagLst xmlns:a="http://schemas.openxmlformats.org/drawingml/2006/main" xmlns:r="http://schemas.openxmlformats.org/officeDocument/2006/relationships" xmlns:p="http://schemas.openxmlformats.org/presentationml/2006/main">
  <p:tag name="TIMING" val="|1|0|0|0|0|0|0|0.9"/>
</p:tagLst>
</file>

<file path=ppt/tags/tag6.xml><?xml version="1.0" encoding="utf-8"?>
<p:tagLst xmlns:a="http://schemas.openxmlformats.org/drawingml/2006/main" xmlns:r="http://schemas.openxmlformats.org/officeDocument/2006/relationships" xmlns:p="http://schemas.openxmlformats.org/presentationml/2006/main">
  <p:tag name="TIMING" val="|1|0|0|0|0|0|0|0.9"/>
</p:tagLst>
</file>

<file path=ppt/tags/tag7.xml><?xml version="1.0" encoding="utf-8"?>
<p:tagLst xmlns:a="http://schemas.openxmlformats.org/drawingml/2006/main" xmlns:r="http://schemas.openxmlformats.org/officeDocument/2006/relationships" xmlns:p="http://schemas.openxmlformats.org/presentationml/2006/main">
  <p:tag name="TIMING" val="|1.1|0|0|0|0.6"/>
</p:tagLst>
</file>

<file path=ppt/tags/tag8.xml><?xml version="1.0" encoding="utf-8"?>
<p:tagLst xmlns:a="http://schemas.openxmlformats.org/drawingml/2006/main" xmlns:r="http://schemas.openxmlformats.org/officeDocument/2006/relationships" xmlns:p="http://schemas.openxmlformats.org/presentationml/2006/main">
  <p:tag name="TIMING" val="|0|0|0|0"/>
</p:tagLst>
</file>

<file path=ppt/tags/tag9.xml><?xml version="1.0" encoding="utf-8"?>
<p:tagLst xmlns:a="http://schemas.openxmlformats.org/drawingml/2006/main" xmlns:r="http://schemas.openxmlformats.org/officeDocument/2006/relationships" xmlns:p="http://schemas.openxmlformats.org/presentationml/2006/main">
  <p:tag name="TIMING" val="|0.1|0|0|0"/>
</p:tagLst>
</file>

<file path=ppt/tags/tag10.xml><?xml version="1.0" encoding="utf-8"?>
<p:tagLst xmlns:a="http://schemas.openxmlformats.org/drawingml/2006/main" xmlns:r="http://schemas.openxmlformats.org/officeDocument/2006/relationships" xmlns:p="http://schemas.openxmlformats.org/presentationml/2006/main">
  <p:tag name="TIMING" val="|0.1|0|0"/>
</p:tagLst>
</file>

<file path=ppt/tags/tag11.xml><?xml version="1.0" encoding="utf-8"?>
<p:tagLst xmlns:a="http://schemas.openxmlformats.org/drawingml/2006/main" xmlns:r="http://schemas.openxmlformats.org/officeDocument/2006/relationships" xmlns:p="http://schemas.openxmlformats.org/presentationml/2006/main">
  <p:tag name="TIMING" val="|1.1|0"/>
</p:tagLst>
</file>

<file path=ppt/tags/tag12.xml><?xml version="1.0" encoding="utf-8"?>
<p:tagLst xmlns:a="http://schemas.openxmlformats.org/drawingml/2006/main" xmlns:r="http://schemas.openxmlformats.org/officeDocument/2006/relationships" xmlns:p="http://schemas.openxmlformats.org/presentationml/2006/main">
  <p:tag name="TIMING" val="|55.5|42.8|10"/>
</p:tagLst>
</file>

<file path=ppt/tags/tag13.xml><?xml version="1.0" encoding="utf-8"?>
<p:tagLst xmlns:a="http://schemas.openxmlformats.org/drawingml/2006/main" xmlns:r="http://schemas.openxmlformats.org/officeDocument/2006/relationships" xmlns:p="http://schemas.openxmlformats.org/presentationml/2006/main">
  <p:tag name="TIMING" val="|1.5|48.3|87.4"/>
</p:tagLst>
</file>

<file path=ppt/theme/theme1.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www.awesomebackgrounds.com   ">
  <a:themeElements>
    <a:clrScheme name="">
      <a:dk1>
        <a:srgbClr val="000000"/>
      </a:dk1>
      <a:lt1>
        <a:srgbClr val="FFFFFF"/>
      </a:lt1>
      <a:dk2>
        <a:srgbClr val="000058"/>
      </a:dk2>
      <a:lt2>
        <a:srgbClr val="FF9900"/>
      </a:lt2>
      <a:accent1>
        <a:srgbClr val="3399FF"/>
      </a:accent1>
      <a:accent2>
        <a:srgbClr val="FFFF00"/>
      </a:accent2>
      <a:accent3>
        <a:srgbClr val="AAAAB4"/>
      </a:accent3>
      <a:accent4>
        <a:srgbClr val="DADADA"/>
      </a:accent4>
      <a:accent5>
        <a:srgbClr val="ADCAFF"/>
      </a:accent5>
      <a:accent6>
        <a:srgbClr val="E7E700"/>
      </a:accent6>
      <a:hlink>
        <a:srgbClr val="FF0000"/>
      </a:hlink>
      <a:folHlink>
        <a:srgbClr val="96969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a:defRPr>
        </a:defPPr>
      </a:lstStyle>
    </a:lnDef>
  </a:objectDefaults>
  <a:extraClrSchemeLst>
    <a:extraClrScheme>
      <a:clrScheme name="www.awesomebackgrounds.c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www.awesomebackgrounds.com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www.awesomebackgrounds.com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www.awesomebackgrounds.com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www.awesomebackgrounds.co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www.awesomebackgrounds.co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www.awesomebackgrounds.co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ww.awesomebackgrounds.com   ">
  <a:themeElements>
    <a:clrScheme name="">
      <a:dk1>
        <a:srgbClr val="000000"/>
      </a:dk1>
      <a:lt1>
        <a:srgbClr val="FFFFFF"/>
      </a:lt1>
      <a:dk2>
        <a:srgbClr val="000058"/>
      </a:dk2>
      <a:lt2>
        <a:srgbClr val="FF9900"/>
      </a:lt2>
      <a:accent1>
        <a:srgbClr val="3399FF"/>
      </a:accent1>
      <a:accent2>
        <a:srgbClr val="FFFF00"/>
      </a:accent2>
      <a:accent3>
        <a:srgbClr val="AAAAB4"/>
      </a:accent3>
      <a:accent4>
        <a:srgbClr val="DADADA"/>
      </a:accent4>
      <a:accent5>
        <a:srgbClr val="ADCAFF"/>
      </a:accent5>
      <a:accent6>
        <a:srgbClr val="E7E700"/>
      </a:accent6>
      <a:hlink>
        <a:srgbClr val="FF0000"/>
      </a:hlink>
      <a:folHlink>
        <a:srgbClr val="969696"/>
      </a:folHlink>
    </a:clrScheme>
    <a:fontScheme name="www.awesomebackgrounds.com   ">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a:defRPr>
        </a:defPPr>
      </a:lstStyle>
    </a:lnDef>
  </a:objectDefaults>
  <a:extraClrSchemeLst>
    <a:extraClrScheme>
      <a:clrScheme name="www.awesomebackgrounds.c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www.awesomebackgrounds.com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www.awesomebackgrounds.com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www.awesomebackgrounds.com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www.awesomebackgrounds.co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www.awesomebackgrounds.co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www.awesomebackgrounds.co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26601</TotalTime>
  <Words>2228</Words>
  <Application>Microsoft Office PowerPoint</Application>
  <PresentationFormat>On-screen Show (4:3)</PresentationFormat>
  <Paragraphs>385</Paragraphs>
  <Slides>29</Slides>
  <Notes>21</Notes>
  <HiddenSlides>1</HiddenSlides>
  <MMClips>2</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29</vt:i4>
      </vt:variant>
    </vt:vector>
  </HeadingPairs>
  <TitlesOfParts>
    <vt:vector size="33" baseType="lpstr">
      <vt:lpstr>6_Office Theme</vt:lpstr>
      <vt:lpstr>1_www.awesomebackgrounds.com   </vt:lpstr>
      <vt:lpstr>www.awesomebackgrounds.com   </vt:lpstr>
      <vt:lpstr>Worksheet</vt:lpstr>
      <vt:lpstr>PowerPoint Presentation</vt:lpstr>
      <vt:lpstr>PowerPoint Presentation</vt:lpstr>
      <vt:lpstr>Systemic Microstructure Risks of High Speed Trading</vt:lpstr>
      <vt:lpstr>Implementing Arrowhead:                    A Natural Experiment</vt:lpstr>
      <vt:lpstr>PowerPoint Presentation</vt:lpstr>
      <vt:lpstr>PowerPoint Presentation</vt:lpstr>
      <vt:lpstr>PowerPoint Presentation</vt:lpstr>
      <vt:lpstr>Low Latency and Evolution of LOB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Memphis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pjain1</dc:creator>
  <cp:lastModifiedBy>sjain1@memphis.edu</cp:lastModifiedBy>
  <cp:revision>373</cp:revision>
  <dcterms:created xsi:type="dcterms:W3CDTF">2010-04-01T15:29:57Z</dcterms:created>
  <dcterms:modified xsi:type="dcterms:W3CDTF">2014-12-17T09:51:21Z</dcterms:modified>
</cp:coreProperties>
</file>