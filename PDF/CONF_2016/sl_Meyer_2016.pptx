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83" r:id="rId3"/>
    <p:sldId id="280" r:id="rId4"/>
    <p:sldId id="278" r:id="rId5"/>
    <p:sldId id="279" r:id="rId6"/>
    <p:sldId id="281" r:id="rId7"/>
    <p:sldId id="266" r:id="rId8"/>
    <p:sldId id="257" r:id="rId9"/>
    <p:sldId id="282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90"/>
  </p:normalViewPr>
  <p:slideViewPr>
    <p:cSldViewPr snapToGrid="0" snapToObjects="1">
      <p:cViewPr varScale="1">
        <p:scale>
          <a:sx n="111" d="100"/>
          <a:sy n="111" d="100"/>
        </p:scale>
        <p:origin x="168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FE196B-23B5-2D4D-932C-B08B1D28D10C}" type="datetimeFigureOut">
              <a:rPr lang="en-US" smtClean="0"/>
              <a:pPr/>
              <a:t>12/14/16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5B1A7-2C01-2C41-A858-08FCBA44826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6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Characterize the different kinds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5B1A7-2C01-2C41-A858-08FCBA44826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21EF625-6639-F34F-AC50-0F7E46BB78DD}" type="datetimeFigureOut">
              <a:rPr lang="en-US" smtClean="0"/>
              <a:pPr/>
              <a:t>12/14/16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FAB2A2E-5ED4-A948-8B78-F52A59524D6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EF625-6639-F34F-AC50-0F7E46BB78DD}" type="datetimeFigureOut">
              <a:rPr lang="en-US" smtClean="0"/>
              <a:pPr/>
              <a:t>12/14/16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B2A2E-5ED4-A948-8B78-F52A59524D6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EF625-6639-F34F-AC50-0F7E46BB78DD}" type="datetimeFigureOut">
              <a:rPr lang="en-US" smtClean="0"/>
              <a:pPr/>
              <a:t>12/14/16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B2A2E-5ED4-A948-8B78-F52A59524D6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EF625-6639-F34F-AC50-0F7E46BB78DD}" type="datetimeFigureOut">
              <a:rPr lang="en-US" smtClean="0"/>
              <a:pPr/>
              <a:t>12/14/16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B2A2E-5ED4-A948-8B78-F52A59524D6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EF625-6639-F34F-AC50-0F7E46BB78DD}" type="datetimeFigureOut">
              <a:rPr lang="en-US" smtClean="0"/>
              <a:pPr/>
              <a:t>12/14/16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B2A2E-5ED4-A948-8B78-F52A59524D6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EF625-6639-F34F-AC50-0F7E46BB78DD}" type="datetimeFigureOut">
              <a:rPr lang="en-US" smtClean="0"/>
              <a:pPr/>
              <a:t>12/14/16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B2A2E-5ED4-A948-8B78-F52A59524D6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EF625-6639-F34F-AC50-0F7E46BB78DD}" type="datetimeFigureOut">
              <a:rPr lang="en-US" smtClean="0"/>
              <a:pPr/>
              <a:t>12/14/16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B2A2E-5ED4-A948-8B78-F52A59524D6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F21EF625-6639-F34F-AC50-0F7E46BB78DD}" type="datetimeFigureOut">
              <a:rPr lang="en-US" smtClean="0"/>
              <a:pPr/>
              <a:t>12/14/16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B2A2E-5ED4-A948-8B78-F52A59524D6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1EF625-6639-F34F-AC50-0F7E46BB78DD}" type="datetimeFigureOut">
              <a:rPr lang="en-US" smtClean="0"/>
              <a:pPr/>
              <a:t>12/14/16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FAB2A2E-5ED4-A948-8B78-F52A59524D6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EF625-6639-F34F-AC50-0F7E46BB78DD}" type="datetimeFigureOut">
              <a:rPr lang="en-US" smtClean="0"/>
              <a:pPr/>
              <a:t>12/14/16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B2A2E-5ED4-A948-8B78-F52A59524D6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EF625-6639-F34F-AC50-0F7E46BB78DD}" type="datetimeFigureOut">
              <a:rPr lang="en-US" smtClean="0"/>
              <a:pPr/>
              <a:t>12/14/16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B2A2E-5ED4-A948-8B78-F52A59524D6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fld id="{F21EF625-6639-F34F-AC50-0F7E46BB78DD}" type="datetimeFigureOut">
              <a:rPr lang="en-US" smtClean="0"/>
              <a:pPr/>
              <a:t>12/14/16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3FAB2A2E-5ED4-A948-8B78-F52A59524D6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wipe dir="d"/>
  </p:transition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95412"/>
            <a:ext cx="7772400" cy="147002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Local Discrimination and Global Public Goods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02182"/>
            <a:ext cx="6400800" cy="2486891"/>
          </a:xfrm>
        </p:spPr>
        <p:txBody>
          <a:bodyPr/>
          <a:lstStyle/>
          <a:p>
            <a:r>
              <a:rPr lang="en-US" dirty="0" smtClean="0"/>
              <a:t>Timothy Meyer</a:t>
            </a:r>
          </a:p>
          <a:p>
            <a:r>
              <a:rPr lang="en-US" dirty="0" smtClean="0"/>
              <a:t>Vanderbilt Law School</a:t>
            </a:r>
            <a:endParaRPr lang="en-US" dirty="0" smtClean="0"/>
          </a:p>
          <a:p>
            <a:r>
              <a:rPr lang="en-US" dirty="0" err="1"/>
              <a:t>t</a:t>
            </a:r>
            <a:r>
              <a:rPr lang="en-US" dirty="0" err="1" smtClean="0"/>
              <a:t>im.meyer@vanderbilt.edu</a:t>
            </a:r>
            <a:endParaRPr lang="en-US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i="1" dirty="0" smtClean="0"/>
              <a:t>India-Solar Cells</a:t>
            </a:r>
          </a:p>
          <a:p>
            <a:pPr lvl="1"/>
            <a:r>
              <a:rPr lang="en-US" dirty="0" smtClean="0"/>
              <a:t>Local content rules in the Jawaharlal Nehru National Solar Mission found inconsistent with WTO’s nondiscrimination rules</a:t>
            </a:r>
          </a:p>
          <a:p>
            <a:r>
              <a:rPr lang="en-US" i="1" dirty="0" smtClean="0"/>
              <a:t>United States-Renewable Energy</a:t>
            </a:r>
          </a:p>
          <a:p>
            <a:pPr lvl="1"/>
            <a:r>
              <a:rPr lang="en-US" dirty="0"/>
              <a:t>India challenged a series of state and local measures in the United States that provide support to renewable energy industries conditioned on use of local content</a:t>
            </a:r>
            <a:endParaRPr lang="en-US" i="1" dirty="0" smtClean="0"/>
          </a:p>
          <a:p>
            <a:r>
              <a:rPr lang="en-US" dirty="0" smtClean="0"/>
              <a:t>Two of approximately 18 renewable energy trade disputes initiated since 2009</a:t>
            </a:r>
          </a:p>
          <a:p>
            <a:pPr lvl="1"/>
            <a:r>
              <a:rPr lang="en-US" i="1" dirty="0" smtClean="0"/>
              <a:t/>
            </a:r>
            <a:br>
              <a:rPr lang="en-US" i="1" dirty="0" smtClean="0"/>
            </a:br>
            <a:endParaRPr lang="en-US" i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India &amp; U.S. Renewable Energy Disputes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9353"/>
      </p:ext>
    </p:extLst>
  </p:cSld>
  <p:clrMapOvr>
    <a:masterClrMapping/>
  </p:clrMapOvr>
  <p:transition spd="med"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rgbClr val="000000"/>
                </a:solidFill>
                <a:latin typeface="+mj-lt"/>
                <a:ea typeface="Consolas"/>
                <a:cs typeface="Consolas"/>
              </a:rPr>
              <a:t>Recent studies have found around 20 renewable </a:t>
            </a:r>
            <a:r>
              <a:rPr lang="en-US" dirty="0" smtClean="0">
                <a:solidFill>
                  <a:srgbClr val="000000"/>
                </a:solidFill>
                <a:latin typeface="+mj-lt"/>
                <a:ea typeface="Consolas"/>
                <a:cs typeface="Consolas"/>
              </a:rPr>
              <a:t>energy LCRs </a:t>
            </a:r>
            <a:r>
              <a:rPr lang="en-US" dirty="0" smtClean="0">
                <a:solidFill>
                  <a:srgbClr val="000000"/>
                </a:solidFill>
                <a:latin typeface="+mj-lt"/>
                <a:ea typeface="Consolas"/>
                <a:cs typeface="Consolas"/>
              </a:rPr>
              <a:t>at the national level globally (Stephenson 2013; Lewis 2014)</a:t>
            </a:r>
          </a:p>
          <a:p>
            <a:r>
              <a:rPr lang="en-US" sz="2800" dirty="0">
                <a:solidFill>
                  <a:srgbClr val="000000"/>
                </a:solidFill>
                <a:ea typeface="Consolas"/>
                <a:cs typeface="Consolas"/>
              </a:rPr>
              <a:t>43 renewable LCRs in 23 </a:t>
            </a:r>
            <a:r>
              <a:rPr lang="en-US" sz="2800" dirty="0" smtClean="0">
                <a:solidFill>
                  <a:srgbClr val="000000"/>
                </a:solidFill>
                <a:ea typeface="Consolas"/>
                <a:cs typeface="Consolas"/>
              </a:rPr>
              <a:t>U.S. states</a:t>
            </a:r>
            <a:endParaRPr lang="en-US" sz="2800" dirty="0">
              <a:solidFill>
                <a:srgbClr val="000000"/>
              </a:solidFill>
              <a:ea typeface="Consolas"/>
              <a:cs typeface="Consolas"/>
            </a:endParaRPr>
          </a:p>
          <a:p>
            <a:r>
              <a:rPr lang="en-US" sz="2800" dirty="0">
                <a:solidFill>
                  <a:srgbClr val="000000"/>
                </a:solidFill>
                <a:ea typeface="Consolas"/>
                <a:cs typeface="Consolas"/>
              </a:rPr>
              <a:t>Does not include truly local programs, e.g., city programs in Austin, TX, or Los Angeles</a:t>
            </a:r>
          </a:p>
          <a:p>
            <a:r>
              <a:rPr lang="en-US" sz="3200" dirty="0">
                <a:solidFill>
                  <a:srgbClr val="000000"/>
                </a:solidFill>
                <a:ea typeface="Consolas"/>
                <a:cs typeface="Consolas"/>
              </a:rPr>
              <a:t>A subsample of 10 programs provide roughly $277 million/year</a:t>
            </a:r>
          </a:p>
          <a:p>
            <a:r>
              <a:rPr lang="en-US" sz="3200" dirty="0">
                <a:solidFill>
                  <a:srgbClr val="000000"/>
                </a:solidFill>
                <a:ea typeface="Consolas"/>
                <a:cs typeface="Consolas"/>
              </a:rPr>
              <a:t>Extrapolating </a:t>
            </a:r>
            <a:r>
              <a:rPr lang="en-US" sz="3200" dirty="0">
                <a:solidFill>
                  <a:srgbClr val="000000"/>
                </a:solidFill>
                <a:latin typeface="Wingdings"/>
                <a:ea typeface="Wingdings"/>
                <a:cs typeface="Wingdings"/>
                <a:sym typeface="Wingdings"/>
              </a:rPr>
              <a:t></a:t>
            </a:r>
            <a:r>
              <a:rPr lang="en-US" sz="3200" dirty="0">
                <a:solidFill>
                  <a:srgbClr val="000000"/>
                </a:solidFill>
                <a:ea typeface="Consolas"/>
                <a:cs typeface="Consolas"/>
                <a:sym typeface="Wingdings"/>
              </a:rPr>
              <a:t> $1 billion annually</a:t>
            </a:r>
            <a:endParaRPr lang="en-US" sz="3200" dirty="0">
              <a:solidFill>
                <a:srgbClr val="000000"/>
              </a:solidFill>
              <a:ea typeface="Consolas"/>
              <a:cs typeface="Consolas"/>
            </a:endParaRPr>
          </a:p>
          <a:p>
            <a:r>
              <a:rPr lang="en-US" sz="2800" dirty="0">
                <a:solidFill>
                  <a:srgbClr val="000000"/>
                </a:solidFill>
                <a:ea typeface="Consolas"/>
                <a:cs typeface="Consolas"/>
              </a:rPr>
              <a:t>Programs in states from California and Minnesota to Mississippi and Louisiana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Where </a:t>
            </a:r>
            <a:r>
              <a:rPr lang="en-US" dirty="0" smtClean="0"/>
              <a:t>does Green Discrimination occur?</a:t>
            </a:r>
            <a:endParaRPr lang="en-US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Non-Discrimination Rules—National Treatment and Most-Favored Nation—cause nations to internalize the costs of economic discrimination</a:t>
            </a:r>
          </a:p>
          <a:p>
            <a:r>
              <a:rPr lang="en-US" dirty="0" smtClean="0"/>
              <a:t>Discrimination </a:t>
            </a:r>
            <a:r>
              <a:rPr lang="en-US" dirty="0" smtClean="0"/>
              <a:t>should only occur when the gains to discriminating country exceed losses to foreign </a:t>
            </a:r>
            <a:r>
              <a:rPr lang="en-US" dirty="0" smtClean="0"/>
              <a:t>producers</a:t>
            </a:r>
          </a:p>
          <a:p>
            <a:r>
              <a:rPr lang="en-US" dirty="0"/>
              <a:t>Logic breaks down where, as a matter of political economy, discrimination promotes the provision of global public goods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WTO’s Nondiscrimination Rules</a:t>
            </a:r>
            <a:endParaRPr lang="en-US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Economic Logic: Discriminating among products based on national origin arbitrarily denies foreign producers and domestic consumers the ability to capture gains from trade</a:t>
            </a:r>
          </a:p>
          <a:p>
            <a:r>
              <a:rPr lang="en-US" dirty="0" smtClean="0"/>
              <a:t>Political Logic: Domestic producers represent the interests of foreign producers in the political process</a:t>
            </a:r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Nondiscrimination’s Logic</a:t>
            </a:r>
            <a:endParaRPr lang="en-US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solidFill>
                  <a:srgbClr val="000000"/>
                </a:solidFill>
                <a:latin typeface="+mj-lt"/>
                <a:ea typeface="Consolas"/>
                <a:cs typeface="Consolas"/>
              </a:rPr>
              <a:t>Selective Enforcement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ea typeface="Consolas"/>
                <a:cs typeface="Consolas"/>
              </a:rPr>
              <a:t>Political economy dynamics mean rules are enforced against some products but not others (renewables but not fossil fuels)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ea typeface="Consolas"/>
                <a:cs typeface="Consolas"/>
              </a:rPr>
              <a:t>Disputes are brought by countries, usually acting at the behest of domestic </a:t>
            </a:r>
            <a:r>
              <a:rPr lang="en-US" sz="2000" dirty="0" smtClean="0">
                <a:solidFill>
                  <a:srgbClr val="000000"/>
                </a:solidFill>
                <a:ea typeface="Consolas"/>
                <a:cs typeface="Consolas"/>
              </a:rPr>
              <a:t>industry</a:t>
            </a:r>
            <a:endParaRPr lang="en-US" sz="2400" dirty="0" smtClean="0">
              <a:solidFill>
                <a:srgbClr val="000000"/>
              </a:solidFill>
              <a:latin typeface="+mj-lt"/>
              <a:ea typeface="Consolas"/>
              <a:cs typeface="Consolas"/>
            </a:endParaRPr>
          </a:p>
          <a:p>
            <a:r>
              <a:rPr lang="en-US" sz="2400" dirty="0" smtClean="0">
                <a:solidFill>
                  <a:srgbClr val="000000"/>
                </a:solidFill>
                <a:latin typeface="+mj-lt"/>
                <a:ea typeface="Consolas"/>
                <a:cs typeface="Consolas"/>
              </a:rPr>
              <a:t>Nondiscrimination rules do not require full internalization of the costs and benefits of discrimination</a:t>
            </a:r>
          </a:p>
          <a:p>
            <a:pPr lvl="1"/>
            <a:r>
              <a:rPr lang="en-US" sz="2000" dirty="0" smtClean="0">
                <a:solidFill>
                  <a:srgbClr val="000000"/>
                </a:solidFill>
                <a:latin typeface="+mj-lt"/>
                <a:ea typeface="Consolas"/>
                <a:cs typeface="Consolas"/>
              </a:rPr>
              <a:t>Most obvious in the public goods context, when the development of, e.g., environmental products through discrimination creates additional benefits</a:t>
            </a:r>
            <a:endParaRPr lang="en-US" sz="2000" dirty="0" smtClean="0">
              <a:solidFill>
                <a:srgbClr val="000000"/>
              </a:solidFill>
              <a:latin typeface="+mj-lt"/>
              <a:ea typeface="Consolas"/>
              <a:cs typeface="Consola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Problems Created by Renewable Energy Disputes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</a:t>
            </a:r>
            <a:r>
              <a:rPr lang="en-US" dirty="0" smtClean="0"/>
              <a:t>iscriminatory provisions provide a cheap way to build legislative coalitions</a:t>
            </a:r>
          </a:p>
          <a:p>
            <a:r>
              <a:rPr lang="en-US" dirty="0" smtClean="0"/>
              <a:t>They confer benefits on local constituencies while shifting costs to unrepresented foreigners</a:t>
            </a:r>
          </a:p>
          <a:p>
            <a:r>
              <a:rPr lang="en-US" dirty="0" smtClean="0"/>
              <a:t>Discrimination reduces the political costs of lawmaking; ND rules raise the cost of lawmaking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Discrimination and Logrolling</a:t>
            </a:r>
            <a:endParaRPr lang="en-US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Jurisdictions with Smaller Budgets</a:t>
            </a:r>
          </a:p>
          <a:p>
            <a:r>
              <a:rPr lang="en-US" dirty="0" smtClean="0">
                <a:sym typeface="Wingdings"/>
              </a:rPr>
              <a:t>Smaller budgets = reduced bargaining space legislators</a:t>
            </a:r>
          </a:p>
          <a:p>
            <a:r>
              <a:rPr lang="en-US" dirty="0" smtClean="0">
                <a:sym typeface="Wingdings"/>
              </a:rPr>
              <a:t>Discrimination through LCRs increases the </a:t>
            </a:r>
            <a:r>
              <a:rPr lang="en-US" dirty="0">
                <a:sym typeface="Wingdings"/>
              </a:rPr>
              <a:t>bargaining space by allowing legislators to spend </a:t>
            </a:r>
            <a:r>
              <a:rPr lang="en-US" dirty="0" smtClean="0">
                <a:sym typeface="Wingdings"/>
              </a:rPr>
              <a:t>money twice </a:t>
            </a:r>
            <a:r>
              <a:rPr lang="en-US" dirty="0">
                <a:sym typeface="Wingdings"/>
              </a:rPr>
              <a:t>to help multiple </a:t>
            </a:r>
            <a:r>
              <a:rPr lang="en-US" dirty="0" smtClean="0">
                <a:sym typeface="Wingdings"/>
              </a:rPr>
              <a:t>constituencies</a:t>
            </a:r>
            <a:endParaRPr lang="en-US" dirty="0" smtClean="0">
              <a:sym typeface="Wingdings"/>
            </a:endParaRPr>
          </a:p>
          <a:p>
            <a:r>
              <a:rPr lang="en-US" dirty="0" smtClean="0">
                <a:sym typeface="Wingdings"/>
              </a:rPr>
              <a:t>Suggests discrimination likely to be more beneficial at local levels and in emerging markets</a:t>
            </a:r>
            <a:endParaRPr lang="en-US" dirty="0" smtClean="0">
              <a:sym typeface="Wingdings"/>
            </a:endParaRPr>
          </a:p>
          <a:p>
            <a:pPr lvl="1"/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When is Discrimination likely to be beneficial?</a:t>
            </a:r>
            <a:endParaRPr lang="en-US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When should trade law permit discrimination?</a:t>
            </a:r>
          </a:p>
          <a:p>
            <a:r>
              <a:rPr lang="en-US" dirty="0" smtClean="0"/>
              <a:t>Current doctrine generally hostile to political economy arguments about the necessity of discrimination</a:t>
            </a:r>
          </a:p>
          <a:p>
            <a:r>
              <a:rPr lang="en-US" dirty="0" smtClean="0"/>
              <a:t>Market-based arguments more likely to succeed in theory</a:t>
            </a:r>
          </a:p>
          <a:p>
            <a:pPr lvl="1"/>
            <a:r>
              <a:rPr lang="en-US" dirty="0" smtClean="0"/>
              <a:t>In practice, they haven’t gotten much traction </a:t>
            </a:r>
          </a:p>
          <a:p>
            <a:pPr lvl="1"/>
            <a:r>
              <a:rPr lang="en-US" i="1" dirty="0" smtClean="0"/>
              <a:t>See </a:t>
            </a:r>
            <a:r>
              <a:rPr lang="en-US" dirty="0" smtClean="0"/>
              <a:t>India’s GATT art. XX(j) defense in </a:t>
            </a:r>
            <a:r>
              <a:rPr lang="en-US" i="1" dirty="0" smtClean="0"/>
              <a:t>India-Solar Cells</a:t>
            </a:r>
            <a:endParaRPr lang="en-US" dirty="0" smtClean="0"/>
          </a:p>
          <a:p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Conclusion: Implications fo</a:t>
            </a:r>
            <a:r>
              <a:rPr lang="en-US" dirty="0" smtClean="0"/>
              <a:t>r WTO Doctrine</a:t>
            </a:r>
            <a:endParaRPr lang="en-US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ustom 1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DAD426"/>
      </a:accent1>
      <a:accent2>
        <a:srgbClr val="464646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9395</TotalTime>
  <Words>478</Words>
  <Application>Microsoft Macintosh PowerPoint</Application>
  <PresentationFormat>On-screen Show (4:3)</PresentationFormat>
  <Paragraphs>50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Calibri</vt:lpstr>
      <vt:lpstr>Consolas</vt:lpstr>
      <vt:lpstr>Lucida Sans Unicode</vt:lpstr>
      <vt:lpstr>Verdana</vt:lpstr>
      <vt:lpstr>Wingdings</vt:lpstr>
      <vt:lpstr>Wingdings 2</vt:lpstr>
      <vt:lpstr>Wingdings 3</vt:lpstr>
      <vt:lpstr>Concourse</vt:lpstr>
      <vt:lpstr>Local Discrimination and Global Public Goods</vt:lpstr>
      <vt:lpstr>India &amp; U.S. Renewable Energy Disputes</vt:lpstr>
      <vt:lpstr>Where does Green Discrimination occur?</vt:lpstr>
      <vt:lpstr>WTO’s Nondiscrimination Rules</vt:lpstr>
      <vt:lpstr>Nondiscrimination’s Logic</vt:lpstr>
      <vt:lpstr>Problems Created by Renewable Energy Disputes</vt:lpstr>
      <vt:lpstr>Discrimination and Logrolling</vt:lpstr>
      <vt:lpstr>When is Discrimination likely to be beneficial?</vt:lpstr>
      <vt:lpstr>Conclusion: Implications for WTO Doctrine</vt:lpstr>
    </vt:vector>
  </TitlesOfParts>
  <Company>uga</Company>
  <LinksUpToDate>false</LinksUpToDate>
  <SharedDoc>false</SharedDoc>
  <HyperlinksChanged>false</HyperlinksChanged>
  <AppVersion>15.0027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 Law and Power in International Governance </dc:title>
  <dc:creator>builder</dc:creator>
  <cp:lastModifiedBy>Meyer, Tim</cp:lastModifiedBy>
  <cp:revision>112</cp:revision>
  <dcterms:created xsi:type="dcterms:W3CDTF">2012-07-12T04:08:52Z</dcterms:created>
  <dcterms:modified xsi:type="dcterms:W3CDTF">2016-12-14T09:56:57Z</dcterms:modified>
</cp:coreProperties>
</file>